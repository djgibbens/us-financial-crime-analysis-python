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7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A981F-7064-41D0-92A5-CC29D8516B7F}" v="4" dt="2026-05-03T15:40:48.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392" autoAdjust="0"/>
  </p:normalViewPr>
  <p:slideViewPr>
    <p:cSldViewPr snapToGrid="0" snapToObjects="1">
      <p:cViewPr varScale="1">
        <p:scale>
          <a:sx n="107" d="100"/>
          <a:sy n="107" d="100"/>
        </p:scale>
        <p:origin x="165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64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 — Cover</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"Analyzing SAR Filing Patterns and MSB Distribution Across U.S. States"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Hola y buenos </a:t>
            </a:r>
            <a:r>
              <a:rPr lang="en-US" sz="1200" kern="1200" dirty="0" err="1">
                <a:solidFill>
                  <a:schemeClr val="tx1"/>
                </a:solidFill>
                <a:effectLst/>
                <a:latin typeface="+mn-lt"/>
                <a:ea typeface="+mn-ea"/>
                <a:cs typeface="+mn-cs"/>
              </a:rPr>
              <a:t>dias</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todos</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habla</a:t>
            </a:r>
            <a:r>
              <a:rPr lang="en-US" sz="1200" kern="1200" dirty="0">
                <a:solidFill>
                  <a:schemeClr val="tx1"/>
                </a:solidFill>
                <a:effectLst/>
                <a:latin typeface="+mn-lt"/>
                <a:ea typeface="+mn-ea"/>
                <a:cs typeface="+mn-cs"/>
              </a:rPr>
              <a:t> David Gibbens. I’m a Data Science major at Arizona State University and a Financial Crimes Audit Manager working in the financial services industry. Please feel free to connect with me on LinkedIn.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presentation explores Suspicious Activity Report filing patterns across U.S. states and examines how those patterns relate to the distribution of Money Services Businesses</a:t>
            </a:r>
            <a:r>
              <a:rPr lang="en-US" sz="1200" kern="1200">
                <a:solidFill>
                  <a:schemeClr val="tx1"/>
                </a:solidFill>
                <a:effectLst/>
                <a:latin typeface="+mn-lt"/>
                <a:ea typeface="+mn-ea"/>
                <a:cs typeface="+mn-cs"/>
              </a:rPr>
              <a:t>. using </a:t>
            </a:r>
            <a:r>
              <a:rPr lang="en-US" sz="1200" kern="1200" dirty="0">
                <a:solidFill>
                  <a:schemeClr val="tx1"/>
                </a:solidFill>
                <a:effectLst/>
                <a:latin typeface="+mn-lt"/>
                <a:ea typeface="+mn-ea"/>
                <a:cs typeface="+mn-cs"/>
              </a:rPr>
              <a:t>Python-based data science techniques — including data wrangling, exploratory data analysis, and statistical modeling — to analyze FinCEN regulatory data. The project integrates three datasets: FinCEN SAR Statistics, the MSB Registrant Database, and a synthetic fraud benchmark dataset. Our goal is to determine whether states with more MSBs tend to file more SARs, and to quantify that relationship statistically.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2 — Agenda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presentation follows ten sections. We begin with background on SARs and MSBs to establish the regulatory context, then define our project objective. We review three data sources and walk through the data cleaning process. The exploratory data analysis examines annual SAR trends, state-level filing distributions, industry and product breakdowns, and MSB concentration patterns. We then build a simple linear regression model to quantify the SAR–MSB relationship. Finally, we interpret the results, discuss limitations honestly, outline future research directions, and close with key conclusions.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3 — Background: What Are SARs?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SARs are documents that financial institutions must file with FinCEN when they detect potentially suspicious or illegal activity. Filing is required for transactions involving $5,000 or more when there is reason to suspect the funds come from illegal activity, are designed to evade reporting requirements, or lack a lawful purpose. SARs are mandated under the Bank Secrecy Act and serve as a critical tool in combating money laundering, terrorist financing, fraud, and other financial crimes. SAR filings are strictly confidential — institutions are prohibited from notifying subjects of the report, and filers are protected under safe harbor provisions from civil liability for good-faith disclosures. These reports support investigations by agencies including IRS-Criminal Investigation, FBI, DEA, Homeland Security Investigations, the U.S. Secret Service, state attorneys general, and local law enforcement.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4 — Background: What Are MSBs?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Money Services Businesses are non-bank financial institutions that provide services such as money transmission, check cashing, and currency exchange. They are defined and regulated by FinCEN under the Bank Secrecy Act and range from small single-location operators to large multi-state enterprises. The six MSB categories are: money transmitters, who transfer funds with no dollar threshold; check cashers, subject to a $1,000 daily threshold; currency dealers and exchangers handling foreign exchange; issuers of money orders and traveler's checks; sellers and redeemers of those instruments, including retail agents such as grocery stores; and providers or sellers of prepaid access devices like prepaid cards and digital wallets. MSBs play a significant role in the financial ecosystem and are often associated with elevated anti-money-laundering risk, making them a critical variable in understanding SAR filing patterns.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5 — Project Objective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project has four key objectives. First, we examine SAR filing patterns across all U.S. states to identify geographic trends in suspicious activity reporting. Second, we investigate how SAR filing volume correlates with Money Services Business density at the state level. Third, we integrate three complementary datasets — FinCEN SAR Statistics, the MSB Registrant Database, and a Fraud Benchmark Dataset — to support a multi-dimensional analysis. Fourth, we build a simple linear regression model to quantify the statistical relationship between MSB count and SAR filings. The overarching goal is to determine whether states with more MSBs tend to file more SARs, using Python-based exploratory data analysis and statistical modeling. This provides a foundational analytical framework for understanding financial crime patterns.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6 — Data Sources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use three datasets in this analysis. The FinCEN SAR Statistics dataset contains aggregated SAR filings broken down by year-month, state, industry, regulator, product, instrument, and filing count. This provides the dependent variable for our regression model. The MSB Registrant Database includes business names and addresses, MSB activities, states of operation, number of branches, and registration dates — this is used to compute MSB density by state, serving as our independent variable. The Fraud Dataset Benchmark is a synthetic transaction-level dataset with 50,000 rows including transaction amounts, device and location data, behavioral features, and fraud labels. While not used in the regression model, it supports exploratory analysis of fraud-related patterns and provides additional context for understanding suspicious activity indicators.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7 — Data Cleaning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Data cleaning was performed in Python using pandas. For the SAR dataset, we standardized column names, converted year-month fields to datetime format, removed non-data rows, converted filing counts to numeric type, and extracted the year for temporal aggregation. For the MSB dataset, we standardized column names, cleaned and mapped state codes to standard abbreviations, and removed invalid or missing state entries. For the Fraud dataset, we converted timestamps to datetime, ensured numeric fields were properly typed, and removed missing values. The final step was aggregation and merging — SAR filings were aggregated by state, MSB counts were aggregated by state, and the two datasets were merged into a single combined modeling dataset with 60 state and territory observations. These steps ensured consistent, reliable data for both exploratory analysis and regression modeling.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8 — Annual SAR Filing Trend (EDA)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SAR filings increased steadily from 2020 through 2025, growing from approximately 1.04 million reports in 2020 to nearly 1.25 million in 2025. This sustained growth reflects several underlying dynamics including heightened fraud activity, increased digital transactions, broader adoption of automated transaction monitoring systems, and evolving regulatory expectations. The apparent decline in 2026 is not a true reversal of this trend — it reflects partial-year data from an incomplete reporting period. When interpreting SAR volume trends, it is important to distinguish between genuine shifts in filing behavior and artifacts of data availability. The overall upward trajectory suggests that suspicious activity reporting continues to expand as financial crime patterns evolve and compliance programs mature.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9 — SAR Filings by State (EDA)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States with the highest SAR volumes include California, New York, Florida, and Texas. These states have large populations, diverse financial sectors, and significant economic activity — all factors that contribute to higher reporting levels. They host dense concentrations of banks, money services businesses, fintech platforms, and international financial gateways. The geographic concentration of SAR filings closely mirrors population and economic activity patterns, suggesting that SAR volume is tied to the scale and complexity of a state's financial ecosystem rather than necessarily indicating higher rates of criminal activity. This state-level variation provides the foundation for our subsequent analysis of the SAR–MSB relationship.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10 — MSB Distribution (EDA)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MSBs are heavily concentrated in states with large populations and strong commercial activity. California, Florida, New York, and Texas lead in MSB registrations, mirroring the geographic distribution of SAR filings we saw in the previous slide. These states have large populations, diverse economies, and significant immigrant and remittance-sending communities, all of which increase demand for MSB services such as money transmission, check cashing, and currency exchange. The uneven distribution of MSBs across states creates a natural experiment that allows us to test whether states with higher MSB density also experience higher SAR filing volumes, which is the central question of our regression analysis.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11 — SAR vs MSB Scatterplot (EDA)</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scatterplot visualizes the relationship between MSB count on the x-axis and total SAR filings on the y-axis for each state and territory in the merged dataset. The clear positive linear pattern shows that states with larger MSB footprints tend to file more SARs. California stands out as a notable outlier in the upper right, reflecting both its massive MSB presence and its dominant SAR filing volume. The positive trend is strong enough to justify formal statistical modeling. Although MSBs file only a minority of SARs directly, they generate substantial transaction volume that flows through banks and other regulated institutions, amplifying the overall reporting footprint. The R-squared value of 0.443 indicates that MSB density alone explains about 44 percent of the cross-state variation in SAR filings.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12 — Regression Model (Statistical Modeling)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estimated a simple linear regression model with the specification: SAR Count = β₀ + β₁ × MSB Count. The coefficient on MSB count (β₁) is 47.77, meaning each additional MSB in a state is associated with approximately 48 additional SAR filings. The p-value is far below 0.001, confirming this relationship is highly statistically significant and unlikely due to random variation. The R-squared is 0.444, indicating the model explains about 44 percent of cross-state SAR variation — meaningful for a single-variable model. The intercept of 95,610 represents the baseline SAR filing level for a hypothetical state with zero MSBs. The F-statistic of 47.80 confirms the overall model significance, and the 95 percent confidence interval for the MSB coefficient ranges from 33.95 to 61.59. The model uses 62 state and territory observations.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13 — Interpretation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regression results support several key interpretations. The positive and statistically significant coefficient confirms that states with more MSBs tend to file more SARs. Each additional MSB is associated with roughly 48 additional SAR filings, holding other factors constant. The R-squared of 0.44 indicates MSB density alone explains about 44 percent of the variation — notable for a single-predictor model. However, it is critical to emphasize that this model identifies an association, not a causal relationship. The results align with intuition — more MSBs leads to more financial activity, which leads to more opportunities for suspicious activity detection. But more than half of the variation in SAR filings is driven by other factors not included in this model, such as population size, economic activity, banking sector density, law enforcement resources, and state-level regulatory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14 — Limitations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want to be transparent about the limitations of this analysis. First, the model includes only a single predictor — MSB count — while SAR activity is influenced by many additional variables including population, economic conditions, financial sector size, law enforcement resources, and regulatory environments. Excluding these introduces omitted-variable bias. Second, the analysis uses a single cross-sectional snapshot of state-level data Fourth, state-level aggregation masks important local variation and industry-specific dynamics. Finally, with an R-squared of 0.44, more than half of SAR variation remains unexplained. The model should be interpreted as identifying an association rather than establishing a causal relationship.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15 — Future Work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Several directions could extend this analysis in future work. First, adding predictors such as state population, GDP, banking density, or crime rates into a multivariate regression would capture more variation and reduce omitted-variable bias. Second, more granular data — examining SAR categories and MSB types separately — could reveal whether certain types of MSBs or specific financial crime patterns are more strongly associated with reporting activity.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 16 — Conclusions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summarize, this project provides a comprehensive Python-based analysis of SAR filing patterns and MSB distribution across U.S. states. SAR filings have increased steadily over time and vary significantly across states, industries, and product categories, with California, New York, Texas, and Florida consistently leading in volume. MSBs are concentrated in states with high SAR volumes, and our regression model demonstrates a strong, statistically significant positive association between MSB density and SAR filings — each additional MSB is associated with approximately 46 more SARs, and the model explains about 44 percent of cross-state variation. While the model is intentionally simple, it offers a meaningful initial assessment of financial crime patterns and highlights the importance of MSB activity in understanding suspicious transaction reporting. The project establishes a solid foundation for more advanced financial crime analytics and demonstrates effective use of Python for data wrangling, visualization, and statistical modeling. Thank you for your attention — I welcome any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 Id="rId9" Type="http://schemas.openxmlformats.org/officeDocument/2006/relationships/image" Target="../media/image42.svg"/></Relationships>
</file>

<file path=ppt/slides/_rels/slide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1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0.svg"/><Relationship Id="rId4" Type="http://schemas.openxmlformats.org/officeDocument/2006/relationships/image" Target="../media/image49.svg"/></Relationships>
</file>

<file path=ppt/slides/_rels/slide1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57.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s>
</file>

<file path=ppt/slides/_rels/slide14.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15.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_rels/slide16.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9.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31801"/>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76200" y="76200"/>
            <a:ext cx="9067800" cy="21580"/>
          </a:xfrm>
          <a:prstGeom prst="rect">
            <a:avLst/>
          </a:prstGeom>
          <a:gradFill rotWithShape="1">
            <a:gsLst>
              <a:gs pos="8000">
                <a:srgbClr val="000000">
                  <a:alpha val="0"/>
                </a:srgbClr>
              </a:gs>
              <a:gs pos="30000">
                <a:srgbClr val="C5A55A"/>
              </a:gs>
              <a:gs pos="70000">
                <a:srgbClr val="C5A55A"/>
              </a:gs>
              <a:gs pos="92000">
                <a:srgbClr val="000000">
                  <a:alpha val="0"/>
                </a:srgbClr>
              </a:gs>
            </a:gsLst>
            <a:lin ang="0" scaled="1"/>
          </a:gradFill>
          <a:ln/>
        </p:spPr>
        <p:txBody>
          <a:bodyPr wrap="non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05920" y="1497211"/>
            <a:ext cx="278011" cy="278011"/>
          </a:xfrm>
          <a:prstGeom prst="rect">
            <a:avLst/>
          </a:prstGeom>
        </p:spPr>
      </p:pic>
      <p:sp>
        <p:nvSpPr>
          <p:cNvPr id="5" name="Text 2"/>
          <p:cNvSpPr/>
          <p:nvPr/>
        </p:nvSpPr>
        <p:spPr>
          <a:xfrm>
            <a:off x="1303338" y="1975991"/>
            <a:ext cx="6689425" cy="786661"/>
          </a:xfrm>
          <a:prstGeom prst="rect">
            <a:avLst/>
          </a:prstGeom>
          <a:noFill/>
          <a:ln/>
        </p:spPr>
        <p:txBody>
          <a:bodyPr wrap="square" lIns="0" tIns="0" rIns="0" bIns="0" rtlCol="0" anchor="t"/>
          <a:lstStyle/>
          <a:p>
            <a:pPr marL="0" indent="0" algn="ctr">
              <a:lnSpc>
                <a:spcPts val="2950"/>
              </a:lnSpc>
              <a:buNone/>
            </a:pPr>
            <a:r>
              <a:rPr lang="en-US" sz="2360" dirty="0">
                <a:solidFill>
                  <a:srgbClr val="1B2A4A"/>
                </a:solidFill>
                <a:latin typeface="Calibri Light" pitchFamily="34" charset="0"/>
                <a:ea typeface="Calibri Light" pitchFamily="34" charset="-122"/>
                <a:cs typeface="Calibri Light" pitchFamily="34" charset="-120"/>
              </a:rPr>
              <a:t>Analyzing SAR Filing Patterns and MSB Distribution Across U.S. States</a:t>
            </a:r>
            <a:endParaRPr lang="en-US" sz="1200" dirty="0"/>
          </a:p>
        </p:txBody>
      </p:sp>
      <p:sp>
        <p:nvSpPr>
          <p:cNvPr id="6" name="Text 3"/>
          <p:cNvSpPr/>
          <p:nvPr/>
        </p:nvSpPr>
        <p:spPr>
          <a:xfrm>
            <a:off x="3648670" y="2854821"/>
            <a:ext cx="2000250" cy="13841"/>
          </a:xfrm>
          <a:prstGeom prst="roundRect">
            <a:avLst>
              <a:gd name="adj" fmla="val 55054"/>
            </a:avLst>
          </a:prstGeom>
          <a:solidFill>
            <a:srgbClr val="C5A55A"/>
          </a:solidFill>
          <a:ln/>
        </p:spPr>
        <p:txBody>
          <a:bodyPr wrap="none" rtlCol="0" anchor="t"/>
          <a:lstStyle/>
          <a:p>
            <a:pPr marL="0" indent="0">
              <a:buNone/>
            </a:pPr>
            <a:endParaRPr lang="en-US" dirty="0"/>
          </a:p>
        </p:txBody>
      </p:sp>
      <p:sp>
        <p:nvSpPr>
          <p:cNvPr id="7" name="Text 4"/>
          <p:cNvSpPr/>
          <p:nvPr/>
        </p:nvSpPr>
        <p:spPr>
          <a:xfrm>
            <a:off x="2480340" y="3298031"/>
            <a:ext cx="4329172" cy="215205"/>
          </a:xfrm>
          <a:prstGeom prst="rect">
            <a:avLst/>
          </a:prstGeom>
          <a:noFill/>
          <a:ln/>
        </p:spPr>
        <p:txBody>
          <a:bodyPr wrap="none" lIns="0" tIns="0" rIns="0" bIns="0" rtlCol="0" anchor="t"/>
          <a:lstStyle/>
          <a:p>
            <a:pPr marL="0" indent="0" algn="ctr">
              <a:lnSpc>
                <a:spcPts val="1695"/>
              </a:lnSpc>
              <a:spcBef>
                <a:spcPts val="1690"/>
              </a:spcBef>
              <a:buNone/>
            </a:pPr>
            <a:r>
              <a:rPr lang="en-US" sz="1130" dirty="0">
                <a:solidFill>
                  <a:srgbClr val="4A6FA5"/>
                </a:solidFill>
                <a:latin typeface="Calibri" pitchFamily="34" charset="0"/>
                <a:ea typeface="Calibri" pitchFamily="34" charset="-122"/>
                <a:cs typeface="Calibri" pitchFamily="34" charset="-120"/>
              </a:rPr>
              <a:t>A Data Science Exploration of FinCEN Regulatory Data</a:t>
            </a:r>
            <a:endParaRPr lang="en-US" sz="1200" dirty="0"/>
          </a:p>
        </p:txBody>
      </p:sp>
      <p:sp>
        <p:nvSpPr>
          <p:cNvPr id="8" name="Text 5"/>
          <p:cNvSpPr/>
          <p:nvPr/>
        </p:nvSpPr>
        <p:spPr>
          <a:xfrm>
            <a:off x="3258820" y="3871525"/>
            <a:ext cx="2702559" cy="334907"/>
          </a:xfrm>
          <a:prstGeom prst="rect">
            <a:avLst/>
          </a:prstGeom>
          <a:noFill/>
          <a:ln/>
        </p:spPr>
        <p:txBody>
          <a:bodyPr wrap="square" lIns="0" tIns="0" rIns="0" bIns="0" rtlCol="0" anchor="t"/>
          <a:lstStyle/>
          <a:p>
            <a:pPr marL="0" indent="0" algn="ctr">
              <a:lnSpc>
                <a:spcPts val="1440"/>
              </a:lnSpc>
              <a:spcBef>
                <a:spcPts val="790"/>
              </a:spcBef>
              <a:buNone/>
            </a:pPr>
            <a:r>
              <a:rPr lang="en-US" sz="960" dirty="0">
                <a:solidFill>
                  <a:srgbClr val="1B2A4A"/>
                </a:solidFill>
                <a:latin typeface="Calibri" pitchFamily="34" charset="0"/>
                <a:ea typeface="Calibri" pitchFamily="34" charset="-122"/>
                <a:cs typeface="Calibri" pitchFamily="34" charset="-120"/>
              </a:rPr>
              <a:t>David J. Gibbens – www.linkedin.com/in/djogibbens</a:t>
            </a:r>
            <a:endParaRPr lang="en-US" sz="1200" dirty="0"/>
          </a:p>
        </p:txBody>
      </p:sp>
      <p:sp>
        <p:nvSpPr>
          <p:cNvPr id="9" name="Text 6"/>
          <p:cNvSpPr/>
          <p:nvPr/>
        </p:nvSpPr>
        <p:spPr>
          <a:xfrm>
            <a:off x="933450" y="3641080"/>
            <a:ext cx="7429500" cy="7590"/>
          </a:xfrm>
          <a:prstGeom prst="rect">
            <a:avLst/>
          </a:prstGeom>
          <a:solidFill>
            <a:srgbClr val="C5A55A"/>
          </a:solidFill>
          <a:ln/>
        </p:spPr>
        <p:txBody>
          <a:bodyPr wrap="none" rtlCol="0" anchor="t"/>
          <a:lstStyle/>
          <a:p>
            <a:pPr marL="0" indent="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3063" y="76200"/>
            <a:ext cx="9117893" cy="602901"/>
          </a:xfrm>
          <a:prstGeom prst="rect">
            <a:avLst/>
          </a:prstGeom>
          <a:gradFill rotWithShape="1">
            <a:gsLst>
              <a:gs pos="0">
                <a:srgbClr val="C5A55A"/>
              </a:gs>
              <a:gs pos="50000">
                <a:srgbClr val="D4B76A"/>
              </a:gs>
              <a:gs pos="100000">
                <a:srgbClr val="C5A55A"/>
              </a:gs>
            </a:gsLst>
            <a:lin ang="2700000" scaled="1"/>
          </a:gradFill>
          <a:ln/>
          <a:effectLst>
            <a:outerShdw blurRad="86360" dist="50800" dir="16200000" algn="bl" rotWithShape="0">
              <a:srgbClr val="000000">
                <a:alpha val="25000"/>
              </a:srgbClr>
            </a:outerShdw>
          </a:effectLst>
        </p:spPr>
        <p:txBody>
          <a:bodyPr wrap="square" lIns="457200" tIns="0" rIns="457200" bIns="0" rtlCol="0" anchor="ctr"/>
          <a:lstStyle/>
          <a:p>
            <a:pPr marL="0" indent="0" algn="l">
              <a:buNone/>
            </a:pPr>
            <a:r>
              <a:rPr lang="en-US" sz="2140" b="1" dirty="0">
                <a:solidFill>
                  <a:srgbClr val="FFFFFF"/>
                </a:solidFill>
                <a:latin typeface="Calibri Light" pitchFamily="34" charset="0"/>
                <a:ea typeface="Calibri Light" pitchFamily="34" charset="-122"/>
                <a:cs typeface="Calibri Light" pitchFamily="34" charset="-120"/>
              </a:rPr>
              <a:t>AGENDA</a:t>
            </a:r>
            <a:endParaRPr lang="en-US" sz="1200" dirty="0"/>
          </a:p>
        </p:txBody>
      </p:sp>
      <p:sp>
        <p:nvSpPr>
          <p:cNvPr id="4" name="Text 2"/>
          <p:cNvSpPr/>
          <p:nvPr/>
        </p:nvSpPr>
        <p:spPr>
          <a:xfrm>
            <a:off x="533400" y="647700"/>
            <a:ext cx="8229600" cy="7590"/>
          </a:xfrm>
          <a:prstGeom prst="rect">
            <a:avLst/>
          </a:prstGeom>
          <a:solidFill>
            <a:srgbClr val="C5A55A">
              <a:alpha val="35000"/>
            </a:srgbClr>
          </a:solidFill>
          <a:ln/>
        </p:spPr>
        <p:txBody>
          <a:bodyPr wrap="none" rtlCol="0" anchor="t"/>
          <a:lstStyle/>
          <a:p>
            <a:pPr marL="0" indent="0">
              <a:buNone/>
            </a:pPr>
            <a:endParaRPr lang="en-US" dirty="0"/>
          </a:p>
        </p:txBody>
      </p:sp>
      <p:sp>
        <p:nvSpPr>
          <p:cNvPr id="5" name="Text 3"/>
          <p:cNvSpPr/>
          <p:nvPr/>
        </p:nvSpPr>
        <p:spPr>
          <a:xfrm>
            <a:off x="533400" y="883890"/>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6" name="Text 4"/>
          <p:cNvSpPr/>
          <p:nvPr/>
        </p:nvSpPr>
        <p:spPr>
          <a:xfrm>
            <a:off x="533400" y="883890"/>
            <a:ext cx="29170" cy="457200"/>
          </a:xfrm>
          <a:prstGeom prst="rect">
            <a:avLst/>
          </a:prstGeom>
          <a:solidFill>
            <a:srgbClr val="C5A55A"/>
          </a:solidFill>
          <a:ln/>
        </p:spPr>
        <p:txBody>
          <a:bodyPr wrap="square" rtlCol="0" anchor="t"/>
          <a:lstStyle/>
          <a:p>
            <a:pPr marL="0" indent="0">
              <a:buNone/>
            </a:pPr>
            <a:endParaRPr lang="en-US" dirty="0"/>
          </a:p>
        </p:txBody>
      </p:sp>
      <p:sp>
        <p:nvSpPr>
          <p:cNvPr id="7" name="Text 5"/>
          <p:cNvSpPr/>
          <p:nvPr/>
        </p:nvSpPr>
        <p:spPr>
          <a:xfrm>
            <a:off x="704850" y="98286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1</a:t>
            </a:r>
            <a:endParaRPr lang="en-US" sz="12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2490" y="1047750"/>
            <a:ext cx="135880" cy="135880"/>
          </a:xfrm>
          <a:prstGeom prst="rect">
            <a:avLst/>
          </a:prstGeom>
        </p:spPr>
      </p:pic>
      <p:sp>
        <p:nvSpPr>
          <p:cNvPr id="9" name="Text 6"/>
          <p:cNvSpPr/>
          <p:nvPr/>
        </p:nvSpPr>
        <p:spPr>
          <a:xfrm>
            <a:off x="1390650" y="1024533"/>
            <a:ext cx="903848"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Background</a:t>
            </a:r>
            <a:endParaRPr lang="en-US" sz="1200" dirty="0"/>
          </a:p>
        </p:txBody>
      </p:sp>
      <p:sp>
        <p:nvSpPr>
          <p:cNvPr id="10" name="Text 7"/>
          <p:cNvSpPr/>
          <p:nvPr/>
        </p:nvSpPr>
        <p:spPr>
          <a:xfrm>
            <a:off x="533400" y="144006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11" name="Text 8"/>
          <p:cNvSpPr/>
          <p:nvPr/>
        </p:nvSpPr>
        <p:spPr>
          <a:xfrm>
            <a:off x="533400" y="1440061"/>
            <a:ext cx="29170" cy="457200"/>
          </a:xfrm>
          <a:prstGeom prst="rect">
            <a:avLst/>
          </a:prstGeom>
          <a:solidFill>
            <a:srgbClr val="C5A55A"/>
          </a:solidFill>
          <a:ln/>
        </p:spPr>
        <p:txBody>
          <a:bodyPr wrap="square" rtlCol="0" anchor="t"/>
          <a:lstStyle/>
          <a:p>
            <a:pPr marL="0" indent="0">
              <a:buNone/>
            </a:pPr>
            <a:endParaRPr lang="en-US" dirty="0"/>
          </a:p>
        </p:txBody>
      </p:sp>
      <p:sp>
        <p:nvSpPr>
          <p:cNvPr id="12" name="Text 9"/>
          <p:cNvSpPr/>
          <p:nvPr/>
        </p:nvSpPr>
        <p:spPr>
          <a:xfrm>
            <a:off x="704850" y="154037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2</a:t>
            </a:r>
            <a:endParaRPr lang="en-US" sz="1200"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490" y="1605260"/>
            <a:ext cx="135880" cy="135880"/>
          </a:xfrm>
          <a:prstGeom prst="rect">
            <a:avLst/>
          </a:prstGeom>
        </p:spPr>
      </p:pic>
      <p:sp>
        <p:nvSpPr>
          <p:cNvPr id="14" name="Text 10"/>
          <p:cNvSpPr/>
          <p:nvPr/>
        </p:nvSpPr>
        <p:spPr>
          <a:xfrm>
            <a:off x="1390650" y="1589782"/>
            <a:ext cx="1265649"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Project Objective</a:t>
            </a:r>
            <a:endParaRPr lang="en-US" sz="1200" dirty="0"/>
          </a:p>
        </p:txBody>
      </p:sp>
      <p:sp>
        <p:nvSpPr>
          <p:cNvPr id="15" name="Text 11"/>
          <p:cNvSpPr/>
          <p:nvPr/>
        </p:nvSpPr>
        <p:spPr>
          <a:xfrm>
            <a:off x="533400" y="199757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16" name="Text 12"/>
          <p:cNvSpPr/>
          <p:nvPr/>
        </p:nvSpPr>
        <p:spPr>
          <a:xfrm>
            <a:off x="533400" y="1997571"/>
            <a:ext cx="29170" cy="457200"/>
          </a:xfrm>
          <a:prstGeom prst="rect">
            <a:avLst/>
          </a:prstGeom>
          <a:solidFill>
            <a:srgbClr val="C5A55A"/>
          </a:solidFill>
          <a:ln/>
        </p:spPr>
        <p:txBody>
          <a:bodyPr wrap="square" rtlCol="0" anchor="t"/>
          <a:lstStyle/>
          <a:p>
            <a:pPr marL="0" indent="0">
              <a:buNone/>
            </a:pPr>
            <a:endParaRPr lang="en-US" dirty="0"/>
          </a:p>
        </p:txBody>
      </p:sp>
      <p:sp>
        <p:nvSpPr>
          <p:cNvPr id="17" name="Text 13"/>
          <p:cNvSpPr/>
          <p:nvPr/>
        </p:nvSpPr>
        <p:spPr>
          <a:xfrm>
            <a:off x="704850" y="2105620"/>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3</a:t>
            </a:r>
            <a:endParaRPr lang="en-US" sz="120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490" y="2162770"/>
            <a:ext cx="135880" cy="135880"/>
          </a:xfrm>
          <a:prstGeom prst="rect">
            <a:avLst/>
          </a:prstGeom>
        </p:spPr>
      </p:pic>
      <p:sp>
        <p:nvSpPr>
          <p:cNvPr id="19" name="Text 14"/>
          <p:cNvSpPr/>
          <p:nvPr/>
        </p:nvSpPr>
        <p:spPr>
          <a:xfrm>
            <a:off x="1390650" y="2145953"/>
            <a:ext cx="990451"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Data Sources</a:t>
            </a:r>
            <a:endParaRPr lang="en-US" sz="1200" dirty="0"/>
          </a:p>
        </p:txBody>
      </p:sp>
      <p:sp>
        <p:nvSpPr>
          <p:cNvPr id="20" name="Text 15"/>
          <p:cNvSpPr/>
          <p:nvPr/>
        </p:nvSpPr>
        <p:spPr>
          <a:xfrm>
            <a:off x="533400" y="2562820"/>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21" name="Text 16"/>
          <p:cNvSpPr/>
          <p:nvPr/>
        </p:nvSpPr>
        <p:spPr>
          <a:xfrm>
            <a:off x="533400" y="2562820"/>
            <a:ext cx="29170" cy="457200"/>
          </a:xfrm>
          <a:prstGeom prst="rect">
            <a:avLst/>
          </a:prstGeom>
          <a:solidFill>
            <a:srgbClr val="C5A55A"/>
          </a:solidFill>
          <a:ln/>
        </p:spPr>
        <p:txBody>
          <a:bodyPr wrap="square" rtlCol="0" anchor="t"/>
          <a:lstStyle/>
          <a:p>
            <a:pPr marL="0" indent="0">
              <a:buNone/>
            </a:pPr>
            <a:endParaRPr lang="en-US" dirty="0"/>
          </a:p>
        </p:txBody>
      </p:sp>
      <p:sp>
        <p:nvSpPr>
          <p:cNvPr id="22" name="Text 17"/>
          <p:cNvSpPr/>
          <p:nvPr/>
        </p:nvSpPr>
        <p:spPr>
          <a:xfrm>
            <a:off x="704850" y="266179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4</a:t>
            </a:r>
            <a:endParaRPr lang="en-US" sz="1200"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2490" y="2718941"/>
            <a:ext cx="135880" cy="135880"/>
          </a:xfrm>
          <a:prstGeom prst="rect">
            <a:avLst/>
          </a:prstGeom>
        </p:spPr>
      </p:pic>
      <p:sp>
        <p:nvSpPr>
          <p:cNvPr id="24" name="Text 18"/>
          <p:cNvSpPr/>
          <p:nvPr/>
        </p:nvSpPr>
        <p:spPr>
          <a:xfrm>
            <a:off x="1390650" y="2703612"/>
            <a:ext cx="1037927"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Data Cleaning</a:t>
            </a:r>
            <a:endParaRPr lang="en-US" sz="1200" dirty="0"/>
          </a:p>
        </p:txBody>
      </p:sp>
      <p:sp>
        <p:nvSpPr>
          <p:cNvPr id="25" name="Text 19"/>
          <p:cNvSpPr/>
          <p:nvPr/>
        </p:nvSpPr>
        <p:spPr>
          <a:xfrm>
            <a:off x="533400" y="311899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26" name="Text 20"/>
          <p:cNvSpPr/>
          <p:nvPr/>
        </p:nvSpPr>
        <p:spPr>
          <a:xfrm>
            <a:off x="533400" y="3118991"/>
            <a:ext cx="29170" cy="457200"/>
          </a:xfrm>
          <a:prstGeom prst="rect">
            <a:avLst/>
          </a:prstGeom>
          <a:solidFill>
            <a:srgbClr val="C5A55A"/>
          </a:solidFill>
          <a:ln/>
        </p:spPr>
        <p:txBody>
          <a:bodyPr wrap="square" rtlCol="0" anchor="t"/>
          <a:lstStyle/>
          <a:p>
            <a:pPr marL="0" indent="0">
              <a:buNone/>
            </a:pPr>
            <a:endParaRPr lang="en-US" dirty="0"/>
          </a:p>
        </p:txBody>
      </p:sp>
      <p:sp>
        <p:nvSpPr>
          <p:cNvPr id="27" name="Text 21"/>
          <p:cNvSpPr/>
          <p:nvPr/>
        </p:nvSpPr>
        <p:spPr>
          <a:xfrm>
            <a:off x="704850" y="3219450"/>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5</a:t>
            </a:r>
            <a:endParaRPr lang="en-US" sz="1200"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2490" y="3284190"/>
            <a:ext cx="135880" cy="135880"/>
          </a:xfrm>
          <a:prstGeom prst="rect">
            <a:avLst/>
          </a:prstGeom>
        </p:spPr>
      </p:pic>
      <p:sp>
        <p:nvSpPr>
          <p:cNvPr id="29" name="Text 22"/>
          <p:cNvSpPr/>
          <p:nvPr/>
        </p:nvSpPr>
        <p:spPr>
          <a:xfrm>
            <a:off x="1390650" y="3261122"/>
            <a:ext cx="1918037"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Exploratory Data Analysis</a:t>
            </a:r>
            <a:endParaRPr lang="en-US" sz="1200" dirty="0"/>
          </a:p>
        </p:txBody>
      </p:sp>
      <p:sp>
        <p:nvSpPr>
          <p:cNvPr id="30" name="Text 23"/>
          <p:cNvSpPr/>
          <p:nvPr/>
        </p:nvSpPr>
        <p:spPr>
          <a:xfrm>
            <a:off x="4640461" y="941040"/>
            <a:ext cx="7590" cy="3943350"/>
          </a:xfrm>
          <a:prstGeom prst="rect">
            <a:avLst/>
          </a:prstGeom>
          <a:solidFill>
            <a:srgbClr val="C5A55A">
              <a:alpha val="40000"/>
            </a:srgbClr>
          </a:solidFill>
          <a:ln/>
        </p:spPr>
        <p:txBody>
          <a:bodyPr wrap="square" rtlCol="0" anchor="t"/>
          <a:lstStyle/>
          <a:p>
            <a:pPr marL="0" indent="0">
              <a:buNone/>
            </a:pPr>
            <a:endParaRPr lang="en-US" dirty="0"/>
          </a:p>
        </p:txBody>
      </p:sp>
      <p:sp>
        <p:nvSpPr>
          <p:cNvPr id="31" name="Text 24"/>
          <p:cNvSpPr/>
          <p:nvPr/>
        </p:nvSpPr>
        <p:spPr>
          <a:xfrm>
            <a:off x="4941540" y="883890"/>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32" name="Text 25"/>
          <p:cNvSpPr/>
          <p:nvPr/>
        </p:nvSpPr>
        <p:spPr>
          <a:xfrm>
            <a:off x="4941540" y="883890"/>
            <a:ext cx="29170" cy="457200"/>
          </a:xfrm>
          <a:prstGeom prst="rect">
            <a:avLst/>
          </a:prstGeom>
          <a:solidFill>
            <a:srgbClr val="C5A55A"/>
          </a:solidFill>
          <a:ln/>
        </p:spPr>
        <p:txBody>
          <a:bodyPr wrap="square" rtlCol="0" anchor="t"/>
          <a:lstStyle/>
          <a:p>
            <a:pPr marL="0" indent="0">
              <a:buNone/>
            </a:pPr>
            <a:endParaRPr lang="en-US" dirty="0"/>
          </a:p>
        </p:txBody>
      </p:sp>
      <p:sp>
        <p:nvSpPr>
          <p:cNvPr id="33" name="Text 26"/>
          <p:cNvSpPr/>
          <p:nvPr/>
        </p:nvSpPr>
        <p:spPr>
          <a:xfrm>
            <a:off x="5112990" y="98286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6</a:t>
            </a:r>
            <a:endParaRPr lang="en-US" sz="1200" dirty="0"/>
          </a:p>
        </p:txBody>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13040" y="1047750"/>
            <a:ext cx="135880" cy="135880"/>
          </a:xfrm>
          <a:prstGeom prst="rect">
            <a:avLst/>
          </a:prstGeom>
        </p:spPr>
      </p:pic>
      <p:sp>
        <p:nvSpPr>
          <p:cNvPr id="35" name="Text 27"/>
          <p:cNvSpPr/>
          <p:nvPr/>
        </p:nvSpPr>
        <p:spPr>
          <a:xfrm>
            <a:off x="5798790" y="1024533"/>
            <a:ext cx="1454244"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Statistical Modeling</a:t>
            </a:r>
            <a:endParaRPr lang="en-US" sz="1200" dirty="0"/>
          </a:p>
        </p:txBody>
      </p:sp>
      <p:sp>
        <p:nvSpPr>
          <p:cNvPr id="36" name="Text 28"/>
          <p:cNvSpPr/>
          <p:nvPr/>
        </p:nvSpPr>
        <p:spPr>
          <a:xfrm>
            <a:off x="4941540" y="144006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37" name="Text 29"/>
          <p:cNvSpPr/>
          <p:nvPr/>
        </p:nvSpPr>
        <p:spPr>
          <a:xfrm>
            <a:off x="4941540" y="1440061"/>
            <a:ext cx="29170" cy="457200"/>
          </a:xfrm>
          <a:prstGeom prst="rect">
            <a:avLst/>
          </a:prstGeom>
          <a:solidFill>
            <a:srgbClr val="C5A55A"/>
          </a:solidFill>
          <a:ln/>
        </p:spPr>
        <p:txBody>
          <a:bodyPr wrap="square" rtlCol="0" anchor="t"/>
          <a:lstStyle/>
          <a:p>
            <a:pPr marL="0" indent="0">
              <a:buNone/>
            </a:pPr>
            <a:endParaRPr lang="en-US" dirty="0"/>
          </a:p>
        </p:txBody>
      </p:sp>
      <p:sp>
        <p:nvSpPr>
          <p:cNvPr id="38" name="Text 30"/>
          <p:cNvSpPr/>
          <p:nvPr/>
        </p:nvSpPr>
        <p:spPr>
          <a:xfrm>
            <a:off x="5112990" y="154037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7</a:t>
            </a:r>
            <a:endParaRPr lang="en-US" sz="1200" dirty="0"/>
          </a:p>
        </p:txBody>
      </p:sp>
      <p:pic>
        <p:nvPicPr>
          <p:cNvPr id="3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13040" y="1605260"/>
            <a:ext cx="135880" cy="135880"/>
          </a:xfrm>
          <a:prstGeom prst="rect">
            <a:avLst/>
          </a:prstGeom>
        </p:spPr>
      </p:pic>
      <p:sp>
        <p:nvSpPr>
          <p:cNvPr id="40" name="Text 31"/>
          <p:cNvSpPr/>
          <p:nvPr/>
        </p:nvSpPr>
        <p:spPr>
          <a:xfrm>
            <a:off x="5798790" y="1589782"/>
            <a:ext cx="1083930"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Interpretations</a:t>
            </a:r>
            <a:endParaRPr lang="en-US" sz="1200" dirty="0"/>
          </a:p>
        </p:txBody>
      </p:sp>
      <p:sp>
        <p:nvSpPr>
          <p:cNvPr id="41" name="Text 32"/>
          <p:cNvSpPr/>
          <p:nvPr/>
        </p:nvSpPr>
        <p:spPr>
          <a:xfrm>
            <a:off x="4941540" y="199757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42" name="Text 33"/>
          <p:cNvSpPr/>
          <p:nvPr/>
        </p:nvSpPr>
        <p:spPr>
          <a:xfrm>
            <a:off x="4941540" y="1997571"/>
            <a:ext cx="29170" cy="457200"/>
          </a:xfrm>
          <a:prstGeom prst="rect">
            <a:avLst/>
          </a:prstGeom>
          <a:solidFill>
            <a:srgbClr val="C5A55A"/>
          </a:solidFill>
          <a:ln/>
        </p:spPr>
        <p:txBody>
          <a:bodyPr wrap="square" rtlCol="0" anchor="t"/>
          <a:lstStyle/>
          <a:p>
            <a:pPr marL="0" indent="0">
              <a:buNone/>
            </a:pPr>
            <a:endParaRPr lang="en-US" dirty="0"/>
          </a:p>
        </p:txBody>
      </p:sp>
      <p:sp>
        <p:nvSpPr>
          <p:cNvPr id="43" name="Text 34"/>
          <p:cNvSpPr/>
          <p:nvPr/>
        </p:nvSpPr>
        <p:spPr>
          <a:xfrm>
            <a:off x="5112990" y="2105620"/>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8</a:t>
            </a:r>
            <a:endParaRPr lang="en-US" sz="1200" dirty="0"/>
          </a:p>
        </p:txBody>
      </p:sp>
      <p:pic>
        <p:nvPicPr>
          <p:cNvPr id="4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13040" y="2162770"/>
            <a:ext cx="135880" cy="135880"/>
          </a:xfrm>
          <a:prstGeom prst="rect">
            <a:avLst/>
          </a:prstGeom>
        </p:spPr>
      </p:pic>
      <p:sp>
        <p:nvSpPr>
          <p:cNvPr id="45" name="Text 35"/>
          <p:cNvSpPr/>
          <p:nvPr/>
        </p:nvSpPr>
        <p:spPr>
          <a:xfrm>
            <a:off x="5798790" y="2145953"/>
            <a:ext cx="825594"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Limitations</a:t>
            </a:r>
            <a:endParaRPr lang="en-US" sz="1200" dirty="0"/>
          </a:p>
        </p:txBody>
      </p:sp>
      <p:sp>
        <p:nvSpPr>
          <p:cNvPr id="46" name="Text 36"/>
          <p:cNvSpPr/>
          <p:nvPr/>
        </p:nvSpPr>
        <p:spPr>
          <a:xfrm>
            <a:off x="4941540" y="2562820"/>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47" name="Text 37"/>
          <p:cNvSpPr/>
          <p:nvPr/>
        </p:nvSpPr>
        <p:spPr>
          <a:xfrm>
            <a:off x="4941540" y="2562820"/>
            <a:ext cx="29170" cy="457200"/>
          </a:xfrm>
          <a:prstGeom prst="rect">
            <a:avLst/>
          </a:prstGeom>
          <a:solidFill>
            <a:srgbClr val="C5A55A"/>
          </a:solidFill>
          <a:ln/>
        </p:spPr>
        <p:txBody>
          <a:bodyPr wrap="square" rtlCol="0" anchor="t"/>
          <a:lstStyle/>
          <a:p>
            <a:pPr marL="0" indent="0">
              <a:buNone/>
            </a:pPr>
            <a:endParaRPr lang="en-US" dirty="0"/>
          </a:p>
        </p:txBody>
      </p:sp>
      <p:sp>
        <p:nvSpPr>
          <p:cNvPr id="48" name="Text 38"/>
          <p:cNvSpPr/>
          <p:nvPr/>
        </p:nvSpPr>
        <p:spPr>
          <a:xfrm>
            <a:off x="5112990" y="2661791"/>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9</a:t>
            </a:r>
            <a:endParaRPr lang="en-US" sz="1200" dirty="0"/>
          </a:p>
        </p:txBody>
      </p:sp>
      <p:pic>
        <p:nvPicPr>
          <p:cNvPr id="4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13040" y="2718941"/>
            <a:ext cx="135880" cy="135880"/>
          </a:xfrm>
          <a:prstGeom prst="rect">
            <a:avLst/>
          </a:prstGeom>
        </p:spPr>
      </p:pic>
      <p:sp>
        <p:nvSpPr>
          <p:cNvPr id="50" name="Text 39"/>
          <p:cNvSpPr/>
          <p:nvPr/>
        </p:nvSpPr>
        <p:spPr>
          <a:xfrm>
            <a:off x="5798790" y="2703612"/>
            <a:ext cx="912197"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Future Work</a:t>
            </a:r>
            <a:endParaRPr lang="en-US" sz="1200" dirty="0"/>
          </a:p>
        </p:txBody>
      </p:sp>
      <p:sp>
        <p:nvSpPr>
          <p:cNvPr id="51" name="Text 40"/>
          <p:cNvSpPr/>
          <p:nvPr/>
        </p:nvSpPr>
        <p:spPr>
          <a:xfrm>
            <a:off x="4941540" y="3118991"/>
            <a:ext cx="3821311" cy="457200"/>
          </a:xfrm>
          <a:prstGeom prst="roundRect">
            <a:avLst>
              <a:gd name="adj" fmla="val 15556"/>
            </a:avLst>
          </a:prstGeom>
          <a:solidFill>
            <a:srgbClr val="EBF0F7"/>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52" name="Text 41"/>
          <p:cNvSpPr/>
          <p:nvPr/>
        </p:nvSpPr>
        <p:spPr>
          <a:xfrm>
            <a:off x="4941540" y="3118991"/>
            <a:ext cx="29170" cy="457200"/>
          </a:xfrm>
          <a:prstGeom prst="rect">
            <a:avLst/>
          </a:prstGeom>
          <a:solidFill>
            <a:srgbClr val="C5A55A"/>
          </a:solidFill>
          <a:ln/>
        </p:spPr>
        <p:txBody>
          <a:bodyPr wrap="square" rtlCol="0" anchor="t"/>
          <a:lstStyle/>
          <a:p>
            <a:pPr marL="0" indent="0">
              <a:buNone/>
            </a:pPr>
            <a:endParaRPr lang="en-US" dirty="0"/>
          </a:p>
        </p:txBody>
      </p:sp>
      <p:sp>
        <p:nvSpPr>
          <p:cNvPr id="53" name="Text 42"/>
          <p:cNvSpPr/>
          <p:nvPr/>
        </p:nvSpPr>
        <p:spPr>
          <a:xfrm>
            <a:off x="5112990" y="3219450"/>
            <a:ext cx="257770" cy="314325"/>
          </a:xfrm>
          <a:prstGeom prst="ellipse">
            <a:avLst/>
          </a:prstGeom>
          <a:solidFill>
            <a:srgbClr val="C5A55A"/>
          </a:solidFill>
          <a:ln/>
        </p:spPr>
        <p:txBody>
          <a:bodyPr wrap="none" lIns="0" tIns="0" rIns="0" bIns="0" rtlCol="0" anchor="ctr"/>
          <a:lstStyle/>
          <a:p>
            <a:pPr marL="0" indent="0" algn="ctr">
              <a:buNone/>
            </a:pPr>
            <a:r>
              <a:rPr lang="en-US" sz="900" b="1" dirty="0">
                <a:solidFill>
                  <a:srgbClr val="FFFFFF"/>
                </a:solidFill>
                <a:latin typeface="Calibri Light" pitchFamily="34" charset="0"/>
                <a:ea typeface="Calibri Light" pitchFamily="34" charset="-122"/>
                <a:cs typeface="Calibri Light" pitchFamily="34" charset="-120"/>
              </a:rPr>
              <a:t>10</a:t>
            </a:r>
            <a:endParaRPr lang="en-US" sz="1200" dirty="0"/>
          </a:p>
        </p:txBody>
      </p:sp>
      <p:pic>
        <p:nvPicPr>
          <p:cNvPr id="54"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13040" y="3284190"/>
            <a:ext cx="135880" cy="135880"/>
          </a:xfrm>
          <a:prstGeom prst="rect">
            <a:avLst/>
          </a:prstGeom>
        </p:spPr>
      </p:pic>
      <p:sp>
        <p:nvSpPr>
          <p:cNvPr id="55" name="Text 43"/>
          <p:cNvSpPr/>
          <p:nvPr/>
        </p:nvSpPr>
        <p:spPr>
          <a:xfrm>
            <a:off x="5798790" y="3261122"/>
            <a:ext cx="927586" cy="166688"/>
          </a:xfrm>
          <a:prstGeom prst="rect">
            <a:avLst/>
          </a:prstGeom>
          <a:noFill/>
          <a:ln/>
        </p:spPr>
        <p:txBody>
          <a:bodyPr wrap="none" lIns="0" tIns="0" rIns="0" bIns="0" rtlCol="0" anchor="t"/>
          <a:lstStyle/>
          <a:p>
            <a:pPr marL="0" indent="0" algn="l">
              <a:lnSpc>
                <a:spcPts val="1313"/>
              </a:lnSpc>
              <a:buNone/>
            </a:pPr>
            <a:r>
              <a:rPr lang="en-US" sz="1010" b="1" dirty="0">
                <a:solidFill>
                  <a:srgbClr val="1B2A4A"/>
                </a:solidFill>
                <a:latin typeface="Calibri" pitchFamily="34" charset="0"/>
                <a:ea typeface="Calibri" pitchFamily="34" charset="-122"/>
                <a:cs typeface="Calibri" pitchFamily="34" charset="-120"/>
              </a:rPr>
              <a:t>Conclusions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533400" y="476251"/>
            <a:ext cx="3320627" cy="408384"/>
          </a:xfrm>
          <a:prstGeom prst="rect">
            <a:avLst/>
          </a:prstGeom>
          <a:noFill/>
          <a:ln/>
        </p:spPr>
        <p:txBody>
          <a:bodyPr wrap="square" lIns="0" tIns="0" rIns="0" bIns="0" rtlCol="0" anchor="t"/>
          <a:lstStyle/>
          <a:p>
            <a:pPr marL="0" indent="0" algn="l">
              <a:lnSpc>
                <a:spcPts val="3375"/>
              </a:lnSpc>
              <a:buNone/>
            </a:pPr>
            <a:r>
              <a:rPr lang="en-US" sz="2030" dirty="0">
                <a:solidFill>
                  <a:srgbClr val="1B2A4A"/>
                </a:solidFill>
                <a:latin typeface="Calibri Light" pitchFamily="34" charset="0"/>
                <a:ea typeface="Calibri Light" pitchFamily="34" charset="-122"/>
                <a:cs typeface="Calibri Light" pitchFamily="34" charset="-120"/>
              </a:rPr>
              <a:t>Background: What Are SARs?</a:t>
            </a:r>
            <a:endParaRPr lang="en-US" sz="1200" dirty="0"/>
          </a:p>
        </p:txBody>
      </p:sp>
      <p:sp>
        <p:nvSpPr>
          <p:cNvPr id="4" name="Text 2"/>
          <p:cNvSpPr/>
          <p:nvPr/>
        </p:nvSpPr>
        <p:spPr>
          <a:xfrm>
            <a:off x="533400" y="1147911"/>
            <a:ext cx="9956408" cy="182910"/>
          </a:xfrm>
          <a:prstGeom prst="rect">
            <a:avLst/>
          </a:prstGeom>
          <a:noFill/>
          <a:ln/>
        </p:spPr>
        <p:txBody>
          <a:bodyPr wrap="none" lIns="0" tIns="0" rIns="0" bIns="0" rtlCol="0" anchor="t"/>
          <a:lstStyle/>
          <a:p>
            <a:pPr marL="0" indent="0" algn="l">
              <a:lnSpc>
                <a:spcPts val="1440"/>
              </a:lnSpc>
              <a:spcBef>
                <a:spcPts val="680"/>
              </a:spcBef>
              <a:buNone/>
            </a:pPr>
            <a:r>
              <a:rPr lang="en-US" sz="960" dirty="0">
                <a:solidFill>
                  <a:srgbClr val="5A6B8A"/>
                </a:solidFill>
                <a:latin typeface="Calibri" pitchFamily="34" charset="0"/>
                <a:ea typeface="Calibri" pitchFamily="34" charset="-122"/>
                <a:cs typeface="Calibri" pitchFamily="34" charset="-120"/>
              </a:rPr>
              <a:t>Understanding Suspicious Activity Reports — a cornerstone of regulatory compliance</a:t>
            </a:r>
            <a:endParaRPr lang="en-US" sz="1200" dirty="0"/>
          </a:p>
        </p:txBody>
      </p:sp>
      <p:sp>
        <p:nvSpPr>
          <p:cNvPr id="5" name="Text 3"/>
          <p:cNvSpPr/>
          <p:nvPr/>
        </p:nvSpPr>
        <p:spPr>
          <a:xfrm>
            <a:off x="533400" y="1504950"/>
            <a:ext cx="4029670" cy="1706761"/>
          </a:xfrm>
          <a:prstGeom prst="roundRect">
            <a:avLst>
              <a:gd name="adj" fmla="val 5060"/>
            </a:avLst>
          </a:prstGeom>
          <a:solidFill>
            <a:srgbClr val="F5F7FA"/>
          </a:solidFill>
          <a:ln w="9525">
            <a:solidFill>
              <a:srgbClr val="C5A55A">
                <a:alpha val="8000"/>
              </a:srgbClr>
            </a:solidFill>
          </a:ln>
        </p:spPr>
        <p:txBody>
          <a:bodyPr wrap="square" rtlCol="0" anchor="t"/>
          <a:lstStyle/>
          <a:p>
            <a:pPr marL="0" indent="0">
              <a:buNone/>
            </a:pPr>
            <a:endParaRPr lang="en-US" dirty="0"/>
          </a:p>
        </p:txBody>
      </p:sp>
      <p:sp>
        <p:nvSpPr>
          <p:cNvPr id="6" name="Text 4"/>
          <p:cNvSpPr/>
          <p:nvPr/>
        </p:nvSpPr>
        <p:spPr>
          <a:xfrm>
            <a:off x="740271" y="1741140"/>
            <a:ext cx="342900" cy="342900"/>
          </a:xfrm>
          <a:prstGeom prst="roundRect">
            <a:avLst>
              <a:gd name="adj" fmla="val 20741"/>
            </a:avLst>
          </a:prstGeom>
          <a:solidFill>
            <a:srgbClr val="C5A55A">
              <a:alpha val="10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320" y="1840111"/>
            <a:ext cx="135880" cy="135880"/>
          </a:xfrm>
          <a:prstGeom prst="rect">
            <a:avLst/>
          </a:prstGeom>
        </p:spPr>
      </p:pic>
      <p:sp>
        <p:nvSpPr>
          <p:cNvPr id="8" name="Text 5"/>
          <p:cNvSpPr/>
          <p:nvPr/>
        </p:nvSpPr>
        <p:spPr>
          <a:xfrm>
            <a:off x="740271" y="2183011"/>
            <a:ext cx="4369772" cy="172194"/>
          </a:xfrm>
          <a:prstGeom prst="rect">
            <a:avLst/>
          </a:prstGeom>
          <a:noFill/>
          <a:ln/>
        </p:spPr>
        <p:txBody>
          <a:bodyPr wrap="none" lIns="0" tIns="0" rIns="0" bIns="0" rtlCol="0" anchor="t"/>
          <a:lstStyle/>
          <a:p>
            <a:pPr marL="0" indent="0" algn="l">
              <a:lnSpc>
                <a:spcPts val="1356"/>
              </a:lnSpc>
              <a:buNone/>
            </a:pPr>
            <a:r>
              <a:rPr lang="en-US" sz="1130" b="1" dirty="0">
                <a:solidFill>
                  <a:srgbClr val="1B2A4A"/>
                </a:solidFill>
                <a:latin typeface="Calibri Light" pitchFamily="34" charset="0"/>
                <a:ea typeface="Calibri Light" pitchFamily="34" charset="-122"/>
                <a:cs typeface="Calibri Light" pitchFamily="34" charset="-120"/>
              </a:rPr>
              <a:t>Definition &amp; Purpose</a:t>
            </a:r>
            <a:endParaRPr lang="en-US" sz="1200" dirty="0"/>
          </a:p>
        </p:txBody>
      </p:sp>
      <p:sp>
        <p:nvSpPr>
          <p:cNvPr id="9" name="Text 6"/>
          <p:cNvSpPr/>
          <p:nvPr/>
        </p:nvSpPr>
        <p:spPr>
          <a:xfrm>
            <a:off x="740271" y="2454771"/>
            <a:ext cx="3752764" cy="539599"/>
          </a:xfrm>
          <a:prstGeom prst="rect">
            <a:avLst/>
          </a:prstGeom>
          <a:noFill/>
          <a:ln/>
        </p:spPr>
        <p:txBody>
          <a:bodyPr wrap="square" lIns="0" tIns="0" rIns="0" bIns="0" rtlCol="0" anchor="t"/>
          <a:lstStyle/>
          <a:p>
            <a:pPr marL="0" indent="0" algn="l">
              <a:lnSpc>
                <a:spcPts val="1349"/>
              </a:lnSpc>
              <a:buNone/>
            </a:pPr>
            <a:r>
              <a:rPr lang="en-US" sz="840" dirty="0">
                <a:solidFill>
                  <a:srgbClr val="5A6B8A"/>
                </a:solidFill>
                <a:latin typeface="Calibri" pitchFamily="34" charset="0"/>
                <a:ea typeface="Calibri" pitchFamily="34" charset="-122"/>
                <a:cs typeface="Calibri" pitchFamily="34" charset="-120"/>
              </a:rPr>
              <a:t>A</a:t>
            </a:r>
            <a:r>
              <a:rPr lang="en-US" sz="840" b="1" dirty="0">
                <a:solidFill>
                  <a:srgbClr val="1B2A4A"/>
                </a:solidFill>
                <a:latin typeface="Calibri" pitchFamily="34" charset="0"/>
                <a:ea typeface="Calibri" pitchFamily="34" charset="-122"/>
                <a:cs typeface="Calibri" pitchFamily="34" charset="-120"/>
              </a:rPr>
              <a:t>Suspicious Activity Report (SAR)</a:t>
            </a:r>
            <a:r>
              <a:rPr lang="en-US" sz="840" dirty="0">
                <a:solidFill>
                  <a:srgbClr val="5A6B8A"/>
                </a:solidFill>
                <a:latin typeface="Calibri" pitchFamily="34" charset="0"/>
                <a:ea typeface="Calibri" pitchFamily="34" charset="-122"/>
                <a:cs typeface="Calibri" pitchFamily="34" charset="-120"/>
              </a:rPr>
              <a:t> is a document that financial institutions must file with the</a:t>
            </a:r>
            <a:r>
              <a:rPr lang="en-US" sz="840" b="1" dirty="0">
                <a:solidFill>
                  <a:srgbClr val="1B2A4A"/>
                </a:solidFill>
                <a:latin typeface="Calibri" pitchFamily="34" charset="0"/>
                <a:ea typeface="Calibri" pitchFamily="34" charset="-122"/>
                <a:cs typeface="Calibri" pitchFamily="34" charset="-120"/>
              </a:rPr>
              <a:t>Financial Crimes Enforcement Network (FinCEN)</a:t>
            </a:r>
            <a:r>
              <a:rPr lang="en-US" sz="840" dirty="0">
                <a:solidFill>
                  <a:srgbClr val="5A6B8A"/>
                </a:solidFill>
                <a:latin typeface="Calibri" pitchFamily="34" charset="0"/>
                <a:ea typeface="Calibri" pitchFamily="34" charset="-122"/>
                <a:cs typeface="Calibri" pitchFamily="34" charset="-120"/>
              </a:rPr>
              <a:t> when they detect potentially suspicious or illegal activity.</a:t>
            </a:r>
            <a:endParaRPr lang="en-US" sz="1200" dirty="0"/>
          </a:p>
        </p:txBody>
      </p:sp>
      <p:sp>
        <p:nvSpPr>
          <p:cNvPr id="10" name="Text 7"/>
          <p:cNvSpPr/>
          <p:nvPr/>
        </p:nvSpPr>
        <p:spPr>
          <a:xfrm>
            <a:off x="4734520" y="1504950"/>
            <a:ext cx="4029670" cy="1706761"/>
          </a:xfrm>
          <a:prstGeom prst="roundRect">
            <a:avLst>
              <a:gd name="adj" fmla="val 5060"/>
            </a:avLst>
          </a:prstGeom>
          <a:solidFill>
            <a:srgbClr val="F5F7FA"/>
          </a:solidFill>
          <a:ln w="9525">
            <a:solidFill>
              <a:srgbClr val="C5A55A">
                <a:alpha val="8000"/>
              </a:srgbClr>
            </a:solidFill>
          </a:ln>
        </p:spPr>
        <p:txBody>
          <a:bodyPr wrap="square" rtlCol="0" anchor="t"/>
          <a:lstStyle/>
          <a:p>
            <a:pPr marL="0" indent="0">
              <a:buNone/>
            </a:pPr>
            <a:endParaRPr lang="en-US" dirty="0"/>
          </a:p>
        </p:txBody>
      </p:sp>
      <p:sp>
        <p:nvSpPr>
          <p:cNvPr id="11" name="Text 8"/>
          <p:cNvSpPr/>
          <p:nvPr/>
        </p:nvSpPr>
        <p:spPr>
          <a:xfrm>
            <a:off x="4941540" y="1741140"/>
            <a:ext cx="342900" cy="342900"/>
          </a:xfrm>
          <a:prstGeom prst="roundRect">
            <a:avLst>
              <a:gd name="adj" fmla="val 20741"/>
            </a:avLst>
          </a:prstGeom>
          <a:solidFill>
            <a:srgbClr val="C5A55A">
              <a:alpha val="10000"/>
            </a:srgbClr>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8250" y="1840111"/>
            <a:ext cx="135880" cy="135880"/>
          </a:xfrm>
          <a:prstGeom prst="rect">
            <a:avLst/>
          </a:prstGeom>
        </p:spPr>
      </p:pic>
      <p:sp>
        <p:nvSpPr>
          <p:cNvPr id="13" name="Text 9"/>
          <p:cNvSpPr/>
          <p:nvPr/>
        </p:nvSpPr>
        <p:spPr>
          <a:xfrm>
            <a:off x="4941540" y="2183011"/>
            <a:ext cx="4369772" cy="172194"/>
          </a:xfrm>
          <a:prstGeom prst="rect">
            <a:avLst/>
          </a:prstGeom>
          <a:noFill/>
          <a:ln/>
        </p:spPr>
        <p:txBody>
          <a:bodyPr wrap="none" lIns="0" tIns="0" rIns="0" bIns="0" rtlCol="0" anchor="t"/>
          <a:lstStyle/>
          <a:p>
            <a:pPr marL="0" indent="0" algn="l">
              <a:lnSpc>
                <a:spcPts val="1356"/>
              </a:lnSpc>
              <a:buNone/>
            </a:pPr>
            <a:r>
              <a:rPr lang="en-US" sz="1130" b="1" dirty="0">
                <a:solidFill>
                  <a:srgbClr val="1B2A4A"/>
                </a:solidFill>
                <a:latin typeface="Calibri Light" pitchFamily="34" charset="0"/>
                <a:ea typeface="Calibri Light" pitchFamily="34" charset="-122"/>
                <a:cs typeface="Calibri Light" pitchFamily="34" charset="-120"/>
              </a:rPr>
              <a:t>When to File</a:t>
            </a:r>
            <a:endParaRPr lang="en-US" sz="1200" dirty="0"/>
          </a:p>
        </p:txBody>
      </p:sp>
      <p:sp>
        <p:nvSpPr>
          <p:cNvPr id="14" name="Text 10"/>
          <p:cNvSpPr/>
          <p:nvPr/>
        </p:nvSpPr>
        <p:spPr>
          <a:xfrm>
            <a:off x="4941540" y="2454771"/>
            <a:ext cx="3752764" cy="539599"/>
          </a:xfrm>
          <a:prstGeom prst="rect">
            <a:avLst/>
          </a:prstGeom>
          <a:noFill/>
          <a:ln/>
        </p:spPr>
        <p:txBody>
          <a:bodyPr wrap="square" lIns="0" tIns="0" rIns="0" bIns="0" rtlCol="0" anchor="t"/>
          <a:lstStyle/>
          <a:p>
            <a:pPr marL="0" indent="0" algn="l">
              <a:lnSpc>
                <a:spcPts val="1349"/>
              </a:lnSpc>
              <a:buNone/>
            </a:pPr>
            <a:r>
              <a:rPr lang="en-US" sz="840" dirty="0">
                <a:solidFill>
                  <a:srgbClr val="5A6B8A"/>
                </a:solidFill>
                <a:latin typeface="Calibri" pitchFamily="34" charset="0"/>
                <a:ea typeface="Calibri" pitchFamily="34" charset="-122"/>
                <a:cs typeface="Calibri" pitchFamily="34" charset="-120"/>
              </a:rPr>
              <a:t>SARs must be filed for transactions involving</a:t>
            </a:r>
            <a:r>
              <a:rPr lang="en-US" sz="840" b="1" dirty="0">
                <a:solidFill>
                  <a:srgbClr val="1B2A4A"/>
                </a:solidFill>
                <a:latin typeface="Calibri" pitchFamily="34" charset="0"/>
                <a:ea typeface="Calibri" pitchFamily="34" charset="-122"/>
                <a:cs typeface="Calibri" pitchFamily="34" charset="-120"/>
              </a:rPr>
              <a:t>$5,000 or more</a:t>
            </a:r>
            <a:r>
              <a:rPr lang="en-US" sz="840" dirty="0">
                <a:solidFill>
                  <a:srgbClr val="5A6B8A"/>
                </a:solidFill>
                <a:latin typeface="Calibri" pitchFamily="34" charset="0"/>
                <a:ea typeface="Calibri" pitchFamily="34" charset="-122"/>
                <a:cs typeface="Calibri" pitchFamily="34" charset="-120"/>
              </a:rPr>
              <a:t> when there is reason to suspect the funds come from illegal activity, are designed to evade reporting requirements, or lack a lawful purpose.</a:t>
            </a:r>
            <a:endParaRPr lang="en-US" sz="1200" dirty="0"/>
          </a:p>
        </p:txBody>
      </p:sp>
      <p:sp>
        <p:nvSpPr>
          <p:cNvPr id="15" name="Text 11"/>
          <p:cNvSpPr/>
          <p:nvPr/>
        </p:nvSpPr>
        <p:spPr>
          <a:xfrm>
            <a:off x="533400" y="3376910"/>
            <a:ext cx="4029670" cy="1706761"/>
          </a:xfrm>
          <a:prstGeom prst="roundRect">
            <a:avLst>
              <a:gd name="adj" fmla="val 5060"/>
            </a:avLst>
          </a:prstGeom>
          <a:solidFill>
            <a:srgbClr val="F5F7FA"/>
          </a:solidFill>
          <a:ln w="9525">
            <a:solidFill>
              <a:srgbClr val="C5A55A">
                <a:alpha val="8000"/>
              </a:srgbClr>
            </a:solidFill>
          </a:ln>
        </p:spPr>
        <p:txBody>
          <a:bodyPr wrap="square" rtlCol="0" anchor="t"/>
          <a:lstStyle/>
          <a:p>
            <a:pPr marL="0" indent="0">
              <a:buNone/>
            </a:pPr>
            <a:endParaRPr lang="en-US" dirty="0"/>
          </a:p>
        </p:txBody>
      </p:sp>
      <p:sp>
        <p:nvSpPr>
          <p:cNvPr id="16" name="Text 12"/>
          <p:cNvSpPr/>
          <p:nvPr/>
        </p:nvSpPr>
        <p:spPr>
          <a:xfrm>
            <a:off x="740271" y="3619500"/>
            <a:ext cx="342900" cy="342900"/>
          </a:xfrm>
          <a:prstGeom prst="roundRect">
            <a:avLst>
              <a:gd name="adj" fmla="val 20741"/>
            </a:avLst>
          </a:prstGeom>
          <a:solidFill>
            <a:srgbClr val="C5A55A">
              <a:alpha val="10000"/>
            </a:srgbClr>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320" y="3719810"/>
            <a:ext cx="135880" cy="135880"/>
          </a:xfrm>
          <a:prstGeom prst="rect">
            <a:avLst/>
          </a:prstGeom>
        </p:spPr>
      </p:pic>
      <p:sp>
        <p:nvSpPr>
          <p:cNvPr id="18" name="Text 13"/>
          <p:cNvSpPr/>
          <p:nvPr/>
        </p:nvSpPr>
        <p:spPr>
          <a:xfrm>
            <a:off x="740271" y="4062710"/>
            <a:ext cx="4369772" cy="172194"/>
          </a:xfrm>
          <a:prstGeom prst="rect">
            <a:avLst/>
          </a:prstGeom>
          <a:noFill/>
          <a:ln/>
        </p:spPr>
        <p:txBody>
          <a:bodyPr wrap="none" lIns="0" tIns="0" rIns="0" bIns="0" rtlCol="0" anchor="t"/>
          <a:lstStyle/>
          <a:p>
            <a:pPr marL="0" indent="0" algn="l">
              <a:lnSpc>
                <a:spcPts val="1356"/>
              </a:lnSpc>
              <a:buNone/>
            </a:pPr>
            <a:r>
              <a:rPr lang="en-US" sz="1130" b="1" dirty="0">
                <a:solidFill>
                  <a:srgbClr val="1B2A4A"/>
                </a:solidFill>
                <a:latin typeface="Calibri Light" pitchFamily="34" charset="0"/>
                <a:ea typeface="Calibri Light" pitchFamily="34" charset="-122"/>
                <a:cs typeface="Calibri Light" pitchFamily="34" charset="-120"/>
              </a:rPr>
              <a:t>Regulatory Framework</a:t>
            </a:r>
            <a:endParaRPr lang="en-US" sz="1200" dirty="0"/>
          </a:p>
        </p:txBody>
      </p:sp>
      <p:sp>
        <p:nvSpPr>
          <p:cNvPr id="19" name="Text 14"/>
          <p:cNvSpPr/>
          <p:nvPr/>
        </p:nvSpPr>
        <p:spPr>
          <a:xfrm>
            <a:off x="740271" y="4334470"/>
            <a:ext cx="3752764" cy="539599"/>
          </a:xfrm>
          <a:prstGeom prst="rect">
            <a:avLst/>
          </a:prstGeom>
          <a:noFill/>
          <a:ln/>
        </p:spPr>
        <p:txBody>
          <a:bodyPr wrap="square" lIns="0" tIns="0" rIns="0" bIns="0" rtlCol="0" anchor="t"/>
          <a:lstStyle/>
          <a:p>
            <a:pPr marL="0" indent="0" algn="l">
              <a:lnSpc>
                <a:spcPts val="1349"/>
              </a:lnSpc>
              <a:buNone/>
            </a:pPr>
            <a:r>
              <a:rPr lang="en-US" sz="840" dirty="0">
                <a:solidFill>
                  <a:srgbClr val="5A6B8A"/>
                </a:solidFill>
                <a:latin typeface="Calibri" pitchFamily="34" charset="0"/>
                <a:ea typeface="Calibri" pitchFamily="34" charset="-122"/>
                <a:cs typeface="Calibri" pitchFamily="34" charset="-120"/>
              </a:rPr>
              <a:t>SARs are mandated under the</a:t>
            </a:r>
            <a:r>
              <a:rPr lang="en-US" sz="840" b="1" dirty="0">
                <a:solidFill>
                  <a:srgbClr val="1B2A4A"/>
                </a:solidFill>
                <a:latin typeface="Calibri" pitchFamily="34" charset="0"/>
                <a:ea typeface="Calibri" pitchFamily="34" charset="-122"/>
                <a:cs typeface="Calibri" pitchFamily="34" charset="-120"/>
              </a:rPr>
              <a:t>Bank Secrecy Act (BSA)</a:t>
            </a:r>
            <a:r>
              <a:rPr lang="en-US" sz="840" dirty="0">
                <a:solidFill>
                  <a:srgbClr val="5A6B8A"/>
                </a:solidFill>
                <a:latin typeface="Calibri" pitchFamily="34" charset="0"/>
                <a:ea typeface="Calibri" pitchFamily="34" charset="-122"/>
                <a:cs typeface="Calibri" pitchFamily="34" charset="-120"/>
              </a:rPr>
              <a:t> and are a critical tool in combating</a:t>
            </a:r>
            <a:r>
              <a:rPr lang="en-US" sz="840" b="1" dirty="0">
                <a:solidFill>
                  <a:srgbClr val="1B2A4A"/>
                </a:solidFill>
                <a:latin typeface="Calibri" pitchFamily="34" charset="0"/>
                <a:ea typeface="Calibri" pitchFamily="34" charset="-122"/>
                <a:cs typeface="Calibri" pitchFamily="34" charset="-120"/>
              </a:rPr>
              <a:t>money laundering</a:t>
            </a:r>
            <a:r>
              <a:rPr lang="en-US" sz="840" dirty="0">
                <a:solidFill>
                  <a:srgbClr val="5A6B8A"/>
                </a:solidFill>
                <a:latin typeface="Calibri" pitchFamily="34" charset="0"/>
                <a:ea typeface="Calibri" pitchFamily="34" charset="-122"/>
                <a:cs typeface="Calibri" pitchFamily="34" charset="-120"/>
              </a:rPr>
              <a:t>, terrorist financing, fraud, and other financial crimes.</a:t>
            </a:r>
            <a:endParaRPr lang="en-US" sz="1200" dirty="0"/>
          </a:p>
        </p:txBody>
      </p:sp>
      <p:sp>
        <p:nvSpPr>
          <p:cNvPr id="20" name="Text 15"/>
          <p:cNvSpPr/>
          <p:nvPr/>
        </p:nvSpPr>
        <p:spPr>
          <a:xfrm>
            <a:off x="4734520" y="3376910"/>
            <a:ext cx="4029670" cy="1706761"/>
          </a:xfrm>
          <a:prstGeom prst="roundRect">
            <a:avLst>
              <a:gd name="adj" fmla="val 5060"/>
            </a:avLst>
          </a:prstGeom>
          <a:solidFill>
            <a:srgbClr val="F5F7FA"/>
          </a:solidFill>
          <a:ln w="9525">
            <a:solidFill>
              <a:srgbClr val="C5A55A">
                <a:alpha val="8000"/>
              </a:srgbClr>
            </a:solidFill>
          </a:ln>
        </p:spPr>
        <p:txBody>
          <a:bodyPr wrap="square" rtlCol="0" anchor="t"/>
          <a:lstStyle/>
          <a:p>
            <a:pPr marL="0" indent="0">
              <a:buNone/>
            </a:pPr>
            <a:endParaRPr lang="en-US" dirty="0"/>
          </a:p>
        </p:txBody>
      </p:sp>
      <p:sp>
        <p:nvSpPr>
          <p:cNvPr id="21" name="Text 16"/>
          <p:cNvSpPr/>
          <p:nvPr/>
        </p:nvSpPr>
        <p:spPr>
          <a:xfrm>
            <a:off x="4941540" y="3619500"/>
            <a:ext cx="342900" cy="342900"/>
          </a:xfrm>
          <a:prstGeom prst="roundRect">
            <a:avLst>
              <a:gd name="adj" fmla="val 20741"/>
            </a:avLst>
          </a:prstGeom>
          <a:solidFill>
            <a:srgbClr val="C5A55A">
              <a:alpha val="10000"/>
            </a:srgbClr>
          </a:solidFill>
          <a:ln/>
        </p:spPr>
        <p:txBody>
          <a:bodyPr wrap="squar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8250" y="3719810"/>
            <a:ext cx="135880" cy="135880"/>
          </a:xfrm>
          <a:prstGeom prst="rect">
            <a:avLst/>
          </a:prstGeom>
        </p:spPr>
      </p:pic>
      <p:sp>
        <p:nvSpPr>
          <p:cNvPr id="23" name="Text 17"/>
          <p:cNvSpPr/>
          <p:nvPr/>
        </p:nvSpPr>
        <p:spPr>
          <a:xfrm>
            <a:off x="4941540" y="4062710"/>
            <a:ext cx="4369772" cy="172194"/>
          </a:xfrm>
          <a:prstGeom prst="rect">
            <a:avLst/>
          </a:prstGeom>
          <a:noFill/>
          <a:ln/>
        </p:spPr>
        <p:txBody>
          <a:bodyPr wrap="none" lIns="0" tIns="0" rIns="0" bIns="0" rtlCol="0" anchor="t"/>
          <a:lstStyle/>
          <a:p>
            <a:pPr marL="0" indent="0" algn="l">
              <a:lnSpc>
                <a:spcPts val="1356"/>
              </a:lnSpc>
              <a:buNone/>
            </a:pPr>
            <a:r>
              <a:rPr lang="en-US" sz="1130" b="1" dirty="0">
                <a:solidFill>
                  <a:srgbClr val="1B2A4A"/>
                </a:solidFill>
                <a:latin typeface="Calibri Light" pitchFamily="34" charset="0"/>
                <a:ea typeface="Calibri Light" pitchFamily="34" charset="-122"/>
                <a:cs typeface="Calibri Light" pitchFamily="34" charset="-120"/>
              </a:rPr>
              <a:t>Confidentiality &amp; Safe Harbor</a:t>
            </a:r>
            <a:endParaRPr lang="en-US" sz="1200" dirty="0"/>
          </a:p>
        </p:txBody>
      </p:sp>
      <p:sp>
        <p:nvSpPr>
          <p:cNvPr id="24" name="Text 18"/>
          <p:cNvSpPr/>
          <p:nvPr/>
        </p:nvSpPr>
        <p:spPr>
          <a:xfrm>
            <a:off x="4941540" y="4334470"/>
            <a:ext cx="3752764" cy="539599"/>
          </a:xfrm>
          <a:prstGeom prst="rect">
            <a:avLst/>
          </a:prstGeom>
          <a:noFill/>
          <a:ln/>
        </p:spPr>
        <p:txBody>
          <a:bodyPr wrap="square" lIns="0" tIns="0" rIns="0" bIns="0" rtlCol="0" anchor="t"/>
          <a:lstStyle/>
          <a:p>
            <a:pPr marL="0" indent="0" algn="l">
              <a:lnSpc>
                <a:spcPts val="1349"/>
              </a:lnSpc>
              <a:buNone/>
            </a:pPr>
            <a:r>
              <a:rPr lang="en-US" sz="840" dirty="0">
                <a:solidFill>
                  <a:srgbClr val="5A6B8A"/>
                </a:solidFill>
                <a:latin typeface="Calibri" pitchFamily="34" charset="0"/>
                <a:ea typeface="Calibri" pitchFamily="34" charset="-122"/>
                <a:cs typeface="Calibri" pitchFamily="34" charset="-120"/>
              </a:rPr>
              <a:t>SAR filings are strictly</a:t>
            </a:r>
            <a:r>
              <a:rPr lang="en-US" sz="840" b="1" dirty="0">
                <a:solidFill>
                  <a:srgbClr val="1B2A4A"/>
                </a:solidFill>
                <a:latin typeface="Calibri" pitchFamily="34" charset="0"/>
                <a:ea typeface="Calibri" pitchFamily="34" charset="-122"/>
                <a:cs typeface="Calibri" pitchFamily="34" charset="-120"/>
              </a:rPr>
              <a:t>confidential</a:t>
            </a:r>
            <a:r>
              <a:rPr lang="en-US" sz="840" dirty="0">
                <a:solidFill>
                  <a:srgbClr val="5A6B8A"/>
                </a:solidFill>
                <a:latin typeface="Calibri" pitchFamily="34" charset="0"/>
                <a:ea typeface="Calibri" pitchFamily="34" charset="-122"/>
                <a:cs typeface="Calibri" pitchFamily="34" charset="-120"/>
              </a:rPr>
              <a:t>. Institutions are prohibited from notifying subjects of the report. Filers are protected under</a:t>
            </a:r>
            <a:r>
              <a:rPr lang="en-US" sz="840" b="1" dirty="0">
                <a:solidFill>
                  <a:srgbClr val="1B2A4A"/>
                </a:solidFill>
                <a:latin typeface="Calibri" pitchFamily="34" charset="0"/>
                <a:ea typeface="Calibri" pitchFamily="34" charset="-122"/>
                <a:cs typeface="Calibri" pitchFamily="34" charset="-120"/>
              </a:rPr>
              <a:t>safe harbor</a:t>
            </a:r>
            <a:r>
              <a:rPr lang="en-US" sz="840" dirty="0">
                <a:solidFill>
                  <a:srgbClr val="5A6B8A"/>
                </a:solidFill>
                <a:latin typeface="Calibri" pitchFamily="34" charset="0"/>
                <a:ea typeface="Calibri" pitchFamily="34" charset="-122"/>
                <a:cs typeface="Calibri" pitchFamily="34" charset="-120"/>
              </a:rPr>
              <a:t> provisions from civil liability for good-faith disclosures.</a:t>
            </a:r>
            <a:endParaRPr lang="en-US" sz="1200" dirty="0"/>
          </a:p>
        </p:txBody>
      </p:sp>
      <p:sp>
        <p:nvSpPr>
          <p:cNvPr id="25" name="Text 19"/>
          <p:cNvSpPr/>
          <p:nvPr/>
        </p:nvSpPr>
        <p:spPr>
          <a:xfrm>
            <a:off x="533400" y="948779"/>
            <a:ext cx="2179290" cy="13841"/>
          </a:xfrm>
          <a:prstGeom prst="rect">
            <a:avLst/>
          </a:prstGeom>
          <a:solidFill>
            <a:srgbClr val="C5A55A"/>
          </a:solidFill>
          <a:ln/>
        </p:spPr>
        <p:txBody>
          <a:bodyPr wrap="none" rtlCol="0" anchor="t"/>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533400" y="419100"/>
            <a:ext cx="9689559" cy="386655"/>
          </a:xfrm>
          <a:prstGeom prst="rect">
            <a:avLst/>
          </a:prstGeom>
          <a:noFill/>
          <a:ln/>
        </p:spPr>
        <p:txBody>
          <a:bodyPr wrap="none" lIns="0" tIns="0" rIns="0" bIns="0" rtlCol="0" anchor="t"/>
          <a:lstStyle/>
          <a:p>
            <a:pPr marL="0" indent="0" algn="l">
              <a:lnSpc>
                <a:spcPts val="3045"/>
              </a:lnSpc>
              <a:buNone/>
            </a:pPr>
            <a:r>
              <a:rPr lang="en-US" sz="2030" dirty="0">
                <a:solidFill>
                  <a:srgbClr val="1B2A4A"/>
                </a:solidFill>
                <a:latin typeface="Calibri Light" pitchFamily="34" charset="0"/>
                <a:ea typeface="Calibri Light" pitchFamily="34" charset="-122"/>
                <a:cs typeface="Calibri Light" pitchFamily="34" charset="-120"/>
              </a:rPr>
              <a:t>Background: What Are MSBs?</a:t>
            </a:r>
            <a:endParaRPr lang="en-US" sz="1200" dirty="0"/>
          </a:p>
        </p:txBody>
      </p:sp>
      <p:sp>
        <p:nvSpPr>
          <p:cNvPr id="4" name="Text 2"/>
          <p:cNvSpPr/>
          <p:nvPr/>
        </p:nvSpPr>
        <p:spPr>
          <a:xfrm>
            <a:off x="533400" y="876300"/>
            <a:ext cx="457200" cy="13841"/>
          </a:xfrm>
          <a:prstGeom prst="rect">
            <a:avLst/>
          </a:prstGeom>
          <a:solidFill>
            <a:srgbClr val="C5A55A"/>
          </a:solidFill>
          <a:ln/>
        </p:spPr>
        <p:txBody>
          <a:bodyPr wrap="none" rtlCol="0" anchor="t"/>
          <a:lstStyle/>
          <a:p>
            <a:pPr marL="0" indent="0">
              <a:buNone/>
            </a:pPr>
            <a:endParaRPr lang="en-US" dirty="0"/>
          </a:p>
        </p:txBody>
      </p:sp>
      <p:sp>
        <p:nvSpPr>
          <p:cNvPr id="5" name="Text 3"/>
          <p:cNvSpPr/>
          <p:nvPr/>
        </p:nvSpPr>
        <p:spPr>
          <a:xfrm>
            <a:off x="533400" y="1061591"/>
            <a:ext cx="8516541" cy="750676"/>
          </a:xfrm>
          <a:prstGeom prst="rect">
            <a:avLst/>
          </a:prstGeom>
          <a:solidFill>
            <a:srgbClr val="F5F7FA"/>
          </a:solidFill>
          <a:ln/>
        </p:spPr>
        <p:txBody>
          <a:bodyPr wrap="square" lIns="143510" tIns="100330" rIns="143510" bIns="100330" rtlCol="0" anchor="t"/>
          <a:lstStyle/>
          <a:p>
            <a:pPr marL="0" indent="0" algn="l">
              <a:buNone/>
            </a:pPr>
            <a:r>
              <a:rPr lang="en-US" sz="840" dirty="0">
                <a:solidFill>
                  <a:srgbClr val="5A6A85"/>
                </a:solidFill>
                <a:latin typeface="Calibri" pitchFamily="34" charset="0"/>
                <a:ea typeface="Calibri" pitchFamily="34" charset="-122"/>
                <a:cs typeface="Calibri" pitchFamily="34" charset="-120"/>
              </a:rPr>
              <a:t>Money Services Businesses (MSBs) are</a:t>
            </a:r>
            <a:r>
              <a:rPr lang="en-US" sz="840" b="1" dirty="0">
                <a:solidFill>
                  <a:srgbClr val="C5A55A"/>
                </a:solidFill>
                <a:latin typeface="Calibri" pitchFamily="34" charset="0"/>
                <a:ea typeface="Calibri" pitchFamily="34" charset="-122"/>
                <a:cs typeface="Calibri" pitchFamily="34" charset="-120"/>
              </a:rPr>
              <a:t>non-bank financial institutions</a:t>
            </a:r>
            <a:r>
              <a:rPr lang="en-US" sz="840" dirty="0">
                <a:solidFill>
                  <a:srgbClr val="5A6A85"/>
                </a:solidFill>
                <a:latin typeface="Calibri" pitchFamily="34" charset="0"/>
                <a:ea typeface="Calibri" pitchFamily="34" charset="-122"/>
                <a:cs typeface="Calibri" pitchFamily="34" charset="-120"/>
              </a:rPr>
              <a:t> that provide financial services such as money transmission, check cashing, and currency exchange. Defined and regulated by</a:t>
            </a:r>
            <a:r>
              <a:rPr lang="en-US" sz="840" b="1" dirty="0">
                <a:solidFill>
                  <a:srgbClr val="C5A55A"/>
                </a:solidFill>
                <a:latin typeface="Calibri" pitchFamily="34" charset="0"/>
                <a:ea typeface="Calibri" pitchFamily="34" charset="-122"/>
                <a:cs typeface="Calibri" pitchFamily="34" charset="-120"/>
              </a:rPr>
              <a:t>FinCEN</a:t>
            </a:r>
            <a:r>
              <a:rPr lang="en-US" sz="840" dirty="0">
                <a:solidFill>
                  <a:srgbClr val="5A6A85"/>
                </a:solidFill>
                <a:latin typeface="Calibri" pitchFamily="34" charset="0"/>
                <a:ea typeface="Calibri" pitchFamily="34" charset="-122"/>
                <a:cs typeface="Calibri" pitchFamily="34" charset="-120"/>
              </a:rPr>
              <a:t> under the Bank Secrecy Act (BSA), MSBs range from small single-location operators to large, multi-state enterprises.</a:t>
            </a:r>
            <a:endParaRPr lang="en-US" sz="1200" dirty="0"/>
          </a:p>
        </p:txBody>
      </p:sp>
      <p:sp>
        <p:nvSpPr>
          <p:cNvPr id="6" name="Text 4"/>
          <p:cNvSpPr/>
          <p:nvPr/>
        </p:nvSpPr>
        <p:spPr>
          <a:xfrm>
            <a:off x="533400" y="1061591"/>
            <a:ext cx="21580" cy="514350"/>
          </a:xfrm>
          <a:prstGeom prst="rect">
            <a:avLst/>
          </a:prstGeom>
          <a:solidFill>
            <a:srgbClr val="C5A55A"/>
          </a:solidFill>
          <a:ln/>
        </p:spPr>
        <p:txBody>
          <a:bodyPr wrap="square" rtlCol="0" anchor="t"/>
          <a:lstStyle/>
          <a:p>
            <a:pPr marL="0" indent="0">
              <a:buNone/>
            </a:pPr>
            <a:endParaRPr lang="en-US" dirty="0"/>
          </a:p>
        </p:txBody>
      </p:sp>
      <p:sp>
        <p:nvSpPr>
          <p:cNvPr id="7" name="Text 5"/>
          <p:cNvSpPr/>
          <p:nvPr/>
        </p:nvSpPr>
        <p:spPr>
          <a:xfrm>
            <a:off x="533400" y="1733550"/>
            <a:ext cx="2664321" cy="1921371"/>
          </a:xfrm>
          <a:prstGeom prst="roundRect">
            <a:avLst>
              <a:gd name="adj" fmla="val 2974"/>
            </a:avLst>
          </a:prstGeom>
          <a:solidFill>
            <a:srgbClr val="F5F7FA"/>
          </a:solidFill>
          <a:ln w="9525">
            <a:solidFill>
              <a:srgbClr val="E8ECF1"/>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9590" y="1997571"/>
            <a:ext cx="171450" cy="171450"/>
          </a:xfrm>
          <a:prstGeom prst="rect">
            <a:avLst/>
          </a:prstGeom>
        </p:spPr>
      </p:pic>
      <p:sp>
        <p:nvSpPr>
          <p:cNvPr id="9" name="Text 6"/>
          <p:cNvSpPr/>
          <p:nvPr/>
        </p:nvSpPr>
        <p:spPr>
          <a:xfrm>
            <a:off x="712440" y="2312640"/>
            <a:ext cx="2789798"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Money Transmitters</a:t>
            </a:r>
            <a:endParaRPr lang="en-US" sz="1200" dirty="0"/>
          </a:p>
        </p:txBody>
      </p:sp>
      <p:sp>
        <p:nvSpPr>
          <p:cNvPr id="10" name="Text 7"/>
          <p:cNvSpPr/>
          <p:nvPr/>
        </p:nvSpPr>
        <p:spPr>
          <a:xfrm>
            <a:off x="712440" y="2545407"/>
            <a:ext cx="2397755" cy="440680"/>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Transfer funds on behalf of the public by any means, including wire, ACH, or virtual currency.</a:t>
            </a:r>
            <a:r>
              <a:rPr lang="en-US" sz="790" b="1" dirty="0">
                <a:solidFill>
                  <a:srgbClr val="C5A55A"/>
                </a:solidFill>
                <a:latin typeface="Calibri" pitchFamily="34" charset="0"/>
                <a:ea typeface="Calibri" pitchFamily="34" charset="-122"/>
                <a:cs typeface="Calibri" pitchFamily="34" charset="-120"/>
              </a:rPr>
              <a:t>No dollar threshold</a:t>
            </a:r>
            <a:r>
              <a:rPr lang="en-US" sz="790" dirty="0">
                <a:solidFill>
                  <a:srgbClr val="5A6A85"/>
                </a:solidFill>
                <a:latin typeface="Calibri" pitchFamily="34" charset="0"/>
                <a:ea typeface="Calibri" pitchFamily="34" charset="-122"/>
                <a:cs typeface="Calibri" pitchFamily="34" charset="-120"/>
              </a:rPr>
              <a:t> — any amount triggers MSB status.</a:t>
            </a:r>
            <a:endParaRPr lang="en-US" sz="1200" dirty="0"/>
          </a:p>
        </p:txBody>
      </p:sp>
      <p:sp>
        <p:nvSpPr>
          <p:cNvPr id="11" name="Text 8"/>
          <p:cNvSpPr/>
          <p:nvPr/>
        </p:nvSpPr>
        <p:spPr>
          <a:xfrm>
            <a:off x="811411" y="3033117"/>
            <a:ext cx="1775445"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FinCEN REGISTRATION REQUIRED</a:t>
            </a:r>
            <a:endParaRPr lang="en-US" sz="12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121" y="3034010"/>
            <a:ext cx="135880" cy="135880"/>
          </a:xfrm>
          <a:prstGeom prst="rect">
            <a:avLst/>
          </a:prstGeom>
        </p:spPr>
      </p:pic>
      <p:sp>
        <p:nvSpPr>
          <p:cNvPr id="13" name="Text 9"/>
          <p:cNvSpPr/>
          <p:nvPr/>
        </p:nvSpPr>
        <p:spPr>
          <a:xfrm>
            <a:off x="3312021" y="1733550"/>
            <a:ext cx="2664321" cy="1921371"/>
          </a:xfrm>
          <a:prstGeom prst="roundRect">
            <a:avLst>
              <a:gd name="adj" fmla="val 2974"/>
            </a:avLst>
          </a:prstGeom>
          <a:solidFill>
            <a:srgbClr val="F5F7FA"/>
          </a:solidFill>
          <a:ln w="9525">
            <a:solidFill>
              <a:srgbClr val="E8ECF1"/>
            </a:solidFill>
          </a:ln>
        </p:spPr>
        <p:txBody>
          <a:bodyPr wrap="square" rtlCol="0" anchor="t"/>
          <a:lstStyle/>
          <a:p>
            <a:pPr marL="0" indent="0">
              <a:buNone/>
            </a:pPr>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54611" y="1997571"/>
            <a:ext cx="171450" cy="171450"/>
          </a:xfrm>
          <a:prstGeom prst="rect">
            <a:avLst/>
          </a:prstGeom>
        </p:spPr>
      </p:pic>
      <p:sp>
        <p:nvSpPr>
          <p:cNvPr id="15" name="Text 10"/>
          <p:cNvSpPr/>
          <p:nvPr/>
        </p:nvSpPr>
        <p:spPr>
          <a:xfrm>
            <a:off x="3497461" y="2312640"/>
            <a:ext cx="2789798"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Check Cashers</a:t>
            </a:r>
            <a:endParaRPr lang="en-US" sz="1200" dirty="0"/>
          </a:p>
        </p:txBody>
      </p:sp>
      <p:sp>
        <p:nvSpPr>
          <p:cNvPr id="16" name="Text 11"/>
          <p:cNvSpPr/>
          <p:nvPr/>
        </p:nvSpPr>
        <p:spPr>
          <a:xfrm>
            <a:off x="3497461" y="2545407"/>
            <a:ext cx="2397755" cy="440680"/>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Cash checks, drafts, or money orders for persons not already customers of the institution. Subject to the</a:t>
            </a:r>
            <a:r>
              <a:rPr lang="en-US" sz="790" b="1" dirty="0">
                <a:solidFill>
                  <a:srgbClr val="C5A55A"/>
                </a:solidFill>
                <a:latin typeface="Calibri" pitchFamily="34" charset="0"/>
                <a:ea typeface="Calibri" pitchFamily="34" charset="-122"/>
                <a:cs typeface="Calibri" pitchFamily="34" charset="-120"/>
              </a:rPr>
              <a:t>&gt;$1,000/person/day</a:t>
            </a:r>
            <a:r>
              <a:rPr lang="en-US" sz="790" dirty="0">
                <a:solidFill>
                  <a:srgbClr val="5A6A85"/>
                </a:solidFill>
                <a:latin typeface="Calibri" pitchFamily="34" charset="0"/>
                <a:ea typeface="Calibri" pitchFamily="34" charset="-122"/>
                <a:cs typeface="Calibri" pitchFamily="34" charset="-120"/>
              </a:rPr>
              <a:t> threshold.</a:t>
            </a:r>
            <a:endParaRPr lang="en-US" sz="1200" dirty="0"/>
          </a:p>
        </p:txBody>
      </p:sp>
      <p:sp>
        <p:nvSpPr>
          <p:cNvPr id="17" name="Text 12"/>
          <p:cNvSpPr/>
          <p:nvPr/>
        </p:nvSpPr>
        <p:spPr>
          <a:xfrm>
            <a:off x="3597771" y="3033117"/>
            <a:ext cx="1335390"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$1,000 DAILY THRESHOLD</a:t>
            </a:r>
            <a:endParaRPr lang="en-US" sz="120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61891" y="3034010"/>
            <a:ext cx="135880" cy="135880"/>
          </a:xfrm>
          <a:prstGeom prst="rect">
            <a:avLst/>
          </a:prstGeom>
        </p:spPr>
      </p:pic>
      <p:sp>
        <p:nvSpPr>
          <p:cNvPr id="19" name="Text 13"/>
          <p:cNvSpPr/>
          <p:nvPr/>
        </p:nvSpPr>
        <p:spPr>
          <a:xfrm>
            <a:off x="6098530" y="1733550"/>
            <a:ext cx="2664321" cy="1921371"/>
          </a:xfrm>
          <a:prstGeom prst="roundRect">
            <a:avLst>
              <a:gd name="adj" fmla="val 2974"/>
            </a:avLst>
          </a:prstGeom>
          <a:solidFill>
            <a:srgbClr val="F5F7FA"/>
          </a:solidFill>
          <a:ln w="9525">
            <a:solidFill>
              <a:srgbClr val="E8ECF1"/>
            </a:solidFill>
          </a:ln>
        </p:spPr>
        <p:txBody>
          <a:bodyPr wrap="square" rtlCol="0" anchor="t"/>
          <a:lstStyle/>
          <a:p>
            <a:pPr marL="0" indent="0">
              <a:buNone/>
            </a:pPr>
            <a:endParaRPr lang="en-US"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34720" y="1997571"/>
            <a:ext cx="171450" cy="171450"/>
          </a:xfrm>
          <a:prstGeom prst="rect">
            <a:avLst/>
          </a:prstGeom>
        </p:spPr>
      </p:pic>
      <p:sp>
        <p:nvSpPr>
          <p:cNvPr id="21" name="Text 14"/>
          <p:cNvSpPr/>
          <p:nvPr/>
        </p:nvSpPr>
        <p:spPr>
          <a:xfrm>
            <a:off x="6277570" y="2312640"/>
            <a:ext cx="2789798"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Currency Dealers / Exchangers</a:t>
            </a:r>
            <a:endParaRPr lang="en-US" sz="1200" dirty="0"/>
          </a:p>
        </p:txBody>
      </p:sp>
      <p:sp>
        <p:nvSpPr>
          <p:cNvPr id="22" name="Text 15"/>
          <p:cNvSpPr/>
          <p:nvPr/>
        </p:nvSpPr>
        <p:spPr>
          <a:xfrm>
            <a:off x="6277570" y="2546449"/>
            <a:ext cx="2397755" cy="587573"/>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Exchange currency of one country for currency of another. Includes foreign exchange kiosks and banks' FX desks acting as dealers.</a:t>
            </a:r>
            <a:r>
              <a:rPr lang="en-US" sz="790" b="1" dirty="0">
                <a:solidFill>
                  <a:srgbClr val="C5A55A"/>
                </a:solidFill>
                <a:latin typeface="Calibri" pitchFamily="34" charset="0"/>
                <a:ea typeface="Calibri" pitchFamily="34" charset="-122"/>
                <a:cs typeface="Calibri" pitchFamily="34" charset="-120"/>
              </a:rPr>
              <a:t>&gt;$1,000/person/day</a:t>
            </a:r>
            <a:r>
              <a:rPr lang="en-US" sz="790" dirty="0">
                <a:solidFill>
                  <a:srgbClr val="5A6A85"/>
                </a:solidFill>
                <a:latin typeface="Calibri" pitchFamily="34" charset="0"/>
                <a:ea typeface="Calibri" pitchFamily="34" charset="-122"/>
                <a:cs typeface="Calibri" pitchFamily="34" charset="-120"/>
              </a:rPr>
              <a:t> threshold applies.</a:t>
            </a:r>
            <a:endParaRPr lang="en-US" sz="1200" dirty="0"/>
          </a:p>
        </p:txBody>
      </p:sp>
      <p:sp>
        <p:nvSpPr>
          <p:cNvPr id="23" name="Text 16"/>
          <p:cNvSpPr/>
          <p:nvPr/>
        </p:nvSpPr>
        <p:spPr>
          <a:xfrm>
            <a:off x="6376541" y="3175248"/>
            <a:ext cx="1092443"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FOREIGN EXCHANGE</a:t>
            </a:r>
            <a:endParaRPr lang="en-US" sz="120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0661" y="3169890"/>
            <a:ext cx="135880" cy="135880"/>
          </a:xfrm>
          <a:prstGeom prst="rect">
            <a:avLst/>
          </a:prstGeom>
        </p:spPr>
      </p:pic>
      <p:sp>
        <p:nvSpPr>
          <p:cNvPr id="25" name="Text 17"/>
          <p:cNvSpPr/>
          <p:nvPr/>
        </p:nvSpPr>
        <p:spPr>
          <a:xfrm>
            <a:off x="533400" y="3769221"/>
            <a:ext cx="2664321" cy="1374279"/>
          </a:xfrm>
          <a:prstGeom prst="roundRect">
            <a:avLst>
              <a:gd name="adj" fmla="val 4159"/>
            </a:avLst>
          </a:prstGeom>
          <a:solidFill>
            <a:srgbClr val="F5F7FA"/>
          </a:solidFill>
          <a:ln w="9525">
            <a:solidFill>
              <a:srgbClr val="E8ECF1"/>
            </a:solidFill>
          </a:ln>
        </p:spPr>
        <p:txBody>
          <a:bodyPr wrap="square" rtlCol="0" anchor="t"/>
          <a:lstStyle/>
          <a:p>
            <a:pPr marL="0" indent="0">
              <a:buNone/>
            </a:pPr>
            <a:endParaRPr lang="en-US" dirty="0"/>
          </a:p>
        </p:txBody>
      </p:sp>
      <p:pic>
        <p:nvPicPr>
          <p:cNvPr id="2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9590" y="4033391"/>
            <a:ext cx="171450" cy="171450"/>
          </a:xfrm>
          <a:prstGeom prst="rect">
            <a:avLst/>
          </a:prstGeom>
        </p:spPr>
      </p:pic>
      <p:sp>
        <p:nvSpPr>
          <p:cNvPr id="27" name="Text 18"/>
          <p:cNvSpPr/>
          <p:nvPr/>
        </p:nvSpPr>
        <p:spPr>
          <a:xfrm>
            <a:off x="712440" y="4348460"/>
            <a:ext cx="2397755" cy="307226"/>
          </a:xfrm>
          <a:prstGeom prst="rect">
            <a:avLst/>
          </a:prstGeom>
          <a:noFill/>
          <a:ln/>
        </p:spPr>
        <p:txBody>
          <a:bodyPr wrap="squar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Issuers of Money Orders &amp; Traveler's Checks</a:t>
            </a:r>
            <a:endParaRPr lang="en-US" sz="1200" dirty="0"/>
          </a:p>
        </p:txBody>
      </p:sp>
      <p:sp>
        <p:nvSpPr>
          <p:cNvPr id="28" name="Text 19"/>
          <p:cNvSpPr/>
          <p:nvPr/>
        </p:nvSpPr>
        <p:spPr>
          <a:xfrm>
            <a:off x="712440" y="4654748"/>
            <a:ext cx="2397755" cy="587573"/>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Entities that issue money orders or traveler's checks as instruments of payment. Subject to the</a:t>
            </a:r>
            <a:r>
              <a:rPr lang="en-US" sz="790" b="1" dirty="0">
                <a:solidFill>
                  <a:srgbClr val="C5A55A"/>
                </a:solidFill>
                <a:latin typeface="Calibri" pitchFamily="34" charset="0"/>
                <a:ea typeface="Calibri" pitchFamily="34" charset="-122"/>
                <a:cs typeface="Calibri" pitchFamily="34" charset="-120"/>
              </a:rPr>
              <a:t>&gt;$1,000/person/day</a:t>
            </a:r>
            <a:r>
              <a:rPr lang="en-US" sz="790" dirty="0">
                <a:solidFill>
                  <a:srgbClr val="5A6A85"/>
                </a:solidFill>
                <a:latin typeface="Calibri" pitchFamily="34" charset="0"/>
                <a:ea typeface="Calibri" pitchFamily="34" charset="-122"/>
                <a:cs typeface="Calibri" pitchFamily="34" charset="-120"/>
              </a:rPr>
              <a:t> threshold for MSB classification.</a:t>
            </a:r>
            <a:endParaRPr lang="en-US" sz="1200" dirty="0"/>
          </a:p>
        </p:txBody>
      </p:sp>
      <p:sp>
        <p:nvSpPr>
          <p:cNvPr id="29" name="Text 20"/>
          <p:cNvSpPr/>
          <p:nvPr/>
        </p:nvSpPr>
        <p:spPr>
          <a:xfrm>
            <a:off x="811411" y="5218807"/>
            <a:ext cx="1139919"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ISSUER OBLIGATIONS</a:t>
            </a:r>
            <a:endParaRPr lang="en-US" sz="1200" dirty="0"/>
          </a:p>
        </p:txBody>
      </p:sp>
      <p:sp>
        <p:nvSpPr>
          <p:cNvPr id="30" name="Text 21"/>
          <p:cNvSpPr/>
          <p:nvPr/>
        </p:nvSpPr>
        <p:spPr>
          <a:xfrm>
            <a:off x="3312021" y="3769221"/>
            <a:ext cx="2664321" cy="1374279"/>
          </a:xfrm>
          <a:prstGeom prst="roundRect">
            <a:avLst>
              <a:gd name="adj" fmla="val 4159"/>
            </a:avLst>
          </a:prstGeom>
          <a:solidFill>
            <a:srgbClr val="F5F7FA"/>
          </a:solidFill>
          <a:ln w="9525">
            <a:solidFill>
              <a:srgbClr val="E8ECF1"/>
            </a:solidFill>
          </a:ln>
        </p:spPr>
        <p:txBody>
          <a:bodyPr wrap="square" rtlCol="0" anchor="t"/>
          <a:lstStyle/>
          <a:p>
            <a:pPr marL="0" indent="0">
              <a:buNone/>
            </a:pPr>
            <a:endParaRPr lang="en-US" dirty="0"/>
          </a:p>
        </p:txBody>
      </p:sp>
      <p:pic>
        <p:nvPicPr>
          <p:cNvPr id="3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554611" y="4033391"/>
            <a:ext cx="171450" cy="171450"/>
          </a:xfrm>
          <a:prstGeom prst="rect">
            <a:avLst/>
          </a:prstGeom>
        </p:spPr>
      </p:pic>
      <p:sp>
        <p:nvSpPr>
          <p:cNvPr id="32" name="Text 22"/>
          <p:cNvSpPr/>
          <p:nvPr/>
        </p:nvSpPr>
        <p:spPr>
          <a:xfrm>
            <a:off x="3497461" y="4348460"/>
            <a:ext cx="2397755" cy="307226"/>
          </a:xfrm>
          <a:prstGeom prst="rect">
            <a:avLst/>
          </a:prstGeom>
          <a:noFill/>
          <a:ln/>
        </p:spPr>
        <p:txBody>
          <a:bodyPr wrap="squar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Sellers / Redeemers of Money Orders &amp; Traveler's Checks</a:t>
            </a:r>
            <a:endParaRPr lang="en-US" sz="1200" dirty="0"/>
          </a:p>
        </p:txBody>
      </p:sp>
      <p:sp>
        <p:nvSpPr>
          <p:cNvPr id="33" name="Text 23"/>
          <p:cNvSpPr/>
          <p:nvPr/>
        </p:nvSpPr>
        <p:spPr>
          <a:xfrm>
            <a:off x="3497461" y="4725739"/>
            <a:ext cx="2397755" cy="587573"/>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Sell or redeem money orders, traveler's checks, or stored value on behalf of issuers. Includes retail agents such as</a:t>
            </a:r>
            <a:r>
              <a:rPr lang="en-US" sz="790" b="1" dirty="0">
                <a:solidFill>
                  <a:srgbClr val="C5A55A"/>
                </a:solidFill>
                <a:latin typeface="Calibri" pitchFamily="34" charset="0"/>
                <a:ea typeface="Calibri" pitchFamily="34" charset="-122"/>
                <a:cs typeface="Calibri" pitchFamily="34" charset="-120"/>
              </a:rPr>
              <a:t>grocery stores and convenience chains</a:t>
            </a:r>
            <a:r>
              <a:rPr lang="en-US" sz="790" dirty="0">
                <a:solidFill>
                  <a:srgbClr val="5A6A85"/>
                </a:solidFill>
                <a:latin typeface="Calibri" pitchFamily="34" charset="0"/>
                <a:ea typeface="Calibri" pitchFamily="34" charset="-122"/>
                <a:cs typeface="Calibri" pitchFamily="34" charset="-120"/>
              </a:rPr>
              <a:t>.</a:t>
            </a:r>
            <a:endParaRPr lang="en-US" sz="1200" dirty="0"/>
          </a:p>
        </p:txBody>
      </p:sp>
      <p:sp>
        <p:nvSpPr>
          <p:cNvPr id="34" name="Text 24"/>
          <p:cNvSpPr/>
          <p:nvPr/>
        </p:nvSpPr>
        <p:spPr>
          <a:xfrm>
            <a:off x="3597771" y="5354687"/>
            <a:ext cx="1116181"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AGENT OBLIGATIONS</a:t>
            </a:r>
            <a:endParaRPr lang="en-US" sz="1200" dirty="0"/>
          </a:p>
        </p:txBody>
      </p:sp>
      <p:sp>
        <p:nvSpPr>
          <p:cNvPr id="35" name="Text 25"/>
          <p:cNvSpPr/>
          <p:nvPr/>
        </p:nvSpPr>
        <p:spPr>
          <a:xfrm>
            <a:off x="6098530" y="3769221"/>
            <a:ext cx="2664321" cy="1374279"/>
          </a:xfrm>
          <a:prstGeom prst="roundRect">
            <a:avLst>
              <a:gd name="adj" fmla="val 4159"/>
            </a:avLst>
          </a:prstGeom>
          <a:solidFill>
            <a:srgbClr val="F5F7FA"/>
          </a:solidFill>
          <a:ln w="9525">
            <a:solidFill>
              <a:srgbClr val="E8ECF1"/>
            </a:solidFill>
          </a:ln>
        </p:spPr>
        <p:txBody>
          <a:bodyPr wrap="square" rtlCol="0" anchor="t"/>
          <a:lstStyle/>
          <a:p>
            <a:pPr marL="0" indent="0">
              <a:buNone/>
            </a:pPr>
            <a:endParaRPr lang="en-US" dirty="0"/>
          </a:p>
        </p:txBody>
      </p:sp>
      <p:pic>
        <p:nvPicPr>
          <p:cNvPr id="3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34720" y="4033391"/>
            <a:ext cx="171450" cy="171450"/>
          </a:xfrm>
          <a:prstGeom prst="rect">
            <a:avLst/>
          </a:prstGeom>
        </p:spPr>
      </p:pic>
      <p:sp>
        <p:nvSpPr>
          <p:cNvPr id="37" name="Text 26"/>
          <p:cNvSpPr/>
          <p:nvPr/>
        </p:nvSpPr>
        <p:spPr>
          <a:xfrm>
            <a:off x="6277570" y="4348460"/>
            <a:ext cx="2789798"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Providers / Sellers of Prepaid Access</a:t>
            </a:r>
            <a:endParaRPr lang="en-US" sz="1200" dirty="0"/>
          </a:p>
        </p:txBody>
      </p:sp>
      <p:sp>
        <p:nvSpPr>
          <p:cNvPr id="38" name="Text 27"/>
          <p:cNvSpPr/>
          <p:nvPr/>
        </p:nvSpPr>
        <p:spPr>
          <a:xfrm>
            <a:off x="6277570" y="4582120"/>
            <a:ext cx="2397755" cy="587573"/>
          </a:xfrm>
          <a:prstGeom prst="rect">
            <a:avLst/>
          </a:prstGeom>
          <a:noFill/>
          <a:ln/>
        </p:spPr>
        <p:txBody>
          <a:bodyPr wrap="square" lIns="0" tIns="0" rIns="0" bIns="0" rtlCol="0" anchor="t"/>
          <a:lstStyle/>
          <a:p>
            <a:pPr marL="0" indent="0" algn="l">
              <a:lnSpc>
                <a:spcPts val="1102"/>
              </a:lnSpc>
              <a:buNone/>
            </a:pPr>
            <a:r>
              <a:rPr lang="en-US" sz="790" dirty="0">
                <a:solidFill>
                  <a:srgbClr val="5A6A85"/>
                </a:solidFill>
                <a:latin typeface="Calibri" pitchFamily="34" charset="0"/>
                <a:ea typeface="Calibri" pitchFamily="34" charset="-122"/>
                <a:cs typeface="Calibri" pitchFamily="34" charset="-120"/>
              </a:rPr>
              <a:t>Provide or sell prepaid access devices (e.g., prepaid cards, digital wallets). Providers must register; sellers exceeding</a:t>
            </a:r>
            <a:r>
              <a:rPr lang="en-US" sz="790" b="1" dirty="0">
                <a:solidFill>
                  <a:srgbClr val="C5A55A"/>
                </a:solidFill>
                <a:latin typeface="Calibri" pitchFamily="34" charset="0"/>
                <a:ea typeface="Calibri" pitchFamily="34" charset="-122"/>
                <a:cs typeface="Calibri" pitchFamily="34" charset="-120"/>
              </a:rPr>
              <a:t>&gt;$10,000 on any day</a:t>
            </a:r>
            <a:r>
              <a:rPr lang="en-US" sz="790" dirty="0">
                <a:solidFill>
                  <a:srgbClr val="5A6A85"/>
                </a:solidFill>
                <a:latin typeface="Calibri" pitchFamily="34" charset="0"/>
                <a:ea typeface="Calibri" pitchFamily="34" charset="-122"/>
                <a:cs typeface="Calibri" pitchFamily="34" charset="-120"/>
              </a:rPr>
              <a:t> also qualify as MSBs.</a:t>
            </a:r>
            <a:endParaRPr lang="en-US" sz="1200" dirty="0"/>
          </a:p>
        </p:txBody>
      </p:sp>
      <p:sp>
        <p:nvSpPr>
          <p:cNvPr id="39" name="Text 28"/>
          <p:cNvSpPr/>
          <p:nvPr/>
        </p:nvSpPr>
        <p:spPr>
          <a:xfrm>
            <a:off x="6376541" y="5211068"/>
            <a:ext cx="1304776" cy="123825"/>
          </a:xfrm>
          <a:prstGeom prst="rect">
            <a:avLst/>
          </a:prstGeom>
          <a:noFill/>
          <a:ln/>
        </p:spPr>
        <p:txBody>
          <a:bodyPr wrap="none" lIns="0" tIns="0" rIns="0" bIns="0" rtlCol="0" anchor="t"/>
          <a:lstStyle/>
          <a:p>
            <a:pPr marL="0" indent="0" algn="l">
              <a:lnSpc>
                <a:spcPts val="975"/>
              </a:lnSpc>
              <a:buNone/>
            </a:pPr>
            <a:r>
              <a:rPr lang="en-US" sz="680" b="1" dirty="0">
                <a:solidFill>
                  <a:srgbClr val="C5A55A"/>
                </a:solidFill>
                <a:latin typeface="Calibri" pitchFamily="34" charset="0"/>
                <a:ea typeface="Calibri" pitchFamily="34" charset="-122"/>
                <a:cs typeface="Calibri" pitchFamily="34" charset="-120"/>
              </a:rPr>
              <a:t>PREPAID ACCESS RULES</a:t>
            </a:r>
            <a:endParaRPr lang="en-US" sz="1200" dirty="0"/>
          </a:p>
        </p:txBody>
      </p:sp>
      <p:sp>
        <p:nvSpPr>
          <p:cNvPr id="40" name="Text 29"/>
          <p:cNvSpPr/>
          <p:nvPr/>
        </p:nvSpPr>
        <p:spPr>
          <a:xfrm>
            <a:off x="669280" y="5792391"/>
            <a:ext cx="7975342" cy="133350"/>
          </a:xfrm>
          <a:prstGeom prst="rect">
            <a:avLst/>
          </a:prstGeom>
          <a:noFill/>
          <a:ln/>
        </p:spPr>
        <p:txBody>
          <a:bodyPr wrap="none" lIns="0" tIns="0" rIns="0" bIns="0" rtlCol="0" anchor="t"/>
          <a:lstStyle/>
          <a:p>
            <a:pPr marL="0" indent="0" algn="l">
              <a:lnSpc>
                <a:spcPts val="1050"/>
              </a:lnSpc>
              <a:buNone/>
            </a:pPr>
            <a:r>
              <a:rPr lang="en-US" sz="680" dirty="0">
                <a:solidFill>
                  <a:srgbClr val="5A6A85"/>
                </a:solidFill>
                <a:latin typeface="Calibri" pitchFamily="34" charset="0"/>
                <a:ea typeface="Calibri" pitchFamily="34" charset="-122"/>
                <a:cs typeface="Calibri" pitchFamily="34" charset="-120"/>
              </a:rPr>
              <a:t>All MSBs must register with FinCEN, implement AML programs, file CTRs (&gt;$10,000), and submit SARs (≥$2,000 suspicious activity) · 31 CFR § 1010 &amp; § 1022</a:t>
            </a:r>
            <a:endParaRPr lang="en-US" sz="1200" dirty="0"/>
          </a:p>
        </p:txBody>
      </p:sp>
      <p:sp>
        <p:nvSpPr>
          <p:cNvPr id="41" name="Text 30"/>
          <p:cNvSpPr/>
          <p:nvPr/>
        </p:nvSpPr>
        <p:spPr>
          <a:xfrm>
            <a:off x="540990" y="1741140"/>
            <a:ext cx="2650480" cy="21580"/>
          </a:xfrm>
          <a:prstGeom prst="rect">
            <a:avLst/>
          </a:prstGeom>
          <a:solidFill>
            <a:srgbClr val="C5A55A">
              <a:alpha val="60000"/>
            </a:srgbClr>
          </a:solidFill>
          <a:ln/>
        </p:spPr>
        <p:txBody>
          <a:bodyPr wrap="none" rtlCol="0" anchor="t"/>
          <a:lstStyle/>
          <a:p>
            <a:pPr marL="0" indent="0">
              <a:buNone/>
            </a:pPr>
            <a:endParaRPr lang="en-US" dirty="0"/>
          </a:p>
        </p:txBody>
      </p:sp>
      <p:sp>
        <p:nvSpPr>
          <p:cNvPr id="42" name="Text 31"/>
          <p:cNvSpPr/>
          <p:nvPr/>
        </p:nvSpPr>
        <p:spPr>
          <a:xfrm>
            <a:off x="3326011" y="1741140"/>
            <a:ext cx="2650480" cy="21580"/>
          </a:xfrm>
          <a:prstGeom prst="rect">
            <a:avLst/>
          </a:prstGeom>
          <a:solidFill>
            <a:srgbClr val="C5A55A">
              <a:alpha val="60000"/>
            </a:srgbClr>
          </a:solidFill>
          <a:ln/>
        </p:spPr>
        <p:txBody>
          <a:bodyPr wrap="none" rtlCol="0" anchor="t"/>
          <a:lstStyle/>
          <a:p>
            <a:pPr marL="0" indent="0">
              <a:buNone/>
            </a:pPr>
            <a:endParaRPr lang="en-US" dirty="0"/>
          </a:p>
        </p:txBody>
      </p:sp>
      <p:sp>
        <p:nvSpPr>
          <p:cNvPr id="43" name="Text 32"/>
          <p:cNvSpPr/>
          <p:nvPr/>
        </p:nvSpPr>
        <p:spPr>
          <a:xfrm>
            <a:off x="6106120" y="1741140"/>
            <a:ext cx="2650480" cy="21580"/>
          </a:xfrm>
          <a:prstGeom prst="rect">
            <a:avLst/>
          </a:prstGeom>
          <a:solidFill>
            <a:srgbClr val="C5A55A">
              <a:alpha val="60000"/>
            </a:srgbClr>
          </a:solidFill>
          <a:ln/>
        </p:spPr>
        <p:txBody>
          <a:bodyPr wrap="none" rtlCol="0" anchor="t"/>
          <a:lstStyle/>
          <a:p>
            <a:pPr marL="0" indent="0">
              <a:buNone/>
            </a:pPr>
            <a:endParaRPr lang="en-US" dirty="0"/>
          </a:p>
        </p:txBody>
      </p:sp>
      <p:sp>
        <p:nvSpPr>
          <p:cNvPr id="44" name="Text 33"/>
          <p:cNvSpPr/>
          <p:nvPr/>
        </p:nvSpPr>
        <p:spPr>
          <a:xfrm>
            <a:off x="540990" y="3776960"/>
            <a:ext cx="2650480" cy="21580"/>
          </a:xfrm>
          <a:prstGeom prst="rect">
            <a:avLst/>
          </a:prstGeom>
          <a:solidFill>
            <a:srgbClr val="C5A55A">
              <a:alpha val="60000"/>
            </a:srgbClr>
          </a:solidFill>
          <a:ln/>
        </p:spPr>
        <p:txBody>
          <a:bodyPr wrap="none" rtlCol="0" anchor="t"/>
          <a:lstStyle/>
          <a:p>
            <a:pPr marL="0" indent="0">
              <a:buNone/>
            </a:pPr>
            <a:endParaRPr lang="en-US" dirty="0"/>
          </a:p>
        </p:txBody>
      </p:sp>
      <p:sp>
        <p:nvSpPr>
          <p:cNvPr id="45" name="Text 34"/>
          <p:cNvSpPr/>
          <p:nvPr/>
        </p:nvSpPr>
        <p:spPr>
          <a:xfrm>
            <a:off x="3326011" y="3776960"/>
            <a:ext cx="2650480" cy="21580"/>
          </a:xfrm>
          <a:prstGeom prst="rect">
            <a:avLst/>
          </a:prstGeom>
          <a:solidFill>
            <a:srgbClr val="C5A55A">
              <a:alpha val="60000"/>
            </a:srgbClr>
          </a:solidFill>
          <a:ln/>
        </p:spPr>
        <p:txBody>
          <a:bodyPr wrap="none" rtlCol="0" anchor="t"/>
          <a:lstStyle/>
          <a:p>
            <a:pPr marL="0" indent="0">
              <a:buNone/>
            </a:pPr>
            <a:endParaRPr lang="en-US" dirty="0"/>
          </a:p>
        </p:txBody>
      </p:sp>
      <p:sp>
        <p:nvSpPr>
          <p:cNvPr id="46" name="Text 35"/>
          <p:cNvSpPr/>
          <p:nvPr/>
        </p:nvSpPr>
        <p:spPr>
          <a:xfrm>
            <a:off x="6106120" y="3776960"/>
            <a:ext cx="2650480" cy="21580"/>
          </a:xfrm>
          <a:prstGeom prst="rect">
            <a:avLst/>
          </a:prstGeom>
          <a:solidFill>
            <a:srgbClr val="C5A55A">
              <a:alpha val="60000"/>
            </a:srgbClr>
          </a:solidFill>
          <a:ln/>
        </p:spPr>
        <p:txBody>
          <a:bodyPr wrap="none" rtlCol="0" anchor="t"/>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76200" y="76200"/>
            <a:ext cx="10058400" cy="588645"/>
          </a:xfrm>
          <a:prstGeom prst="rect">
            <a:avLst/>
          </a:prstGeom>
          <a:gradFill rotWithShape="1">
            <a:gsLst>
              <a:gs pos="0">
                <a:srgbClr val="C5A55A"/>
              </a:gs>
              <a:gs pos="50000">
                <a:srgbClr val="D4B96A"/>
              </a:gs>
              <a:gs pos="100000">
                <a:srgbClr val="C5A55A"/>
              </a:gs>
            </a:gsLst>
            <a:lin ang="2700000" scaled="1"/>
          </a:gradFill>
          <a:ln/>
          <a:effectLst>
            <a:outerShdw blurRad="86360" dist="50800" dir="16200000" algn="bl" rotWithShape="0">
              <a:srgbClr val="000000">
                <a:alpha val="25000"/>
              </a:srgbClr>
            </a:outerShdw>
          </a:effectLst>
        </p:spPr>
        <p:txBody>
          <a:bodyPr wrap="square" lIns="457200" tIns="0" rIns="457200" bIns="0" rtlCol="0" anchor="ctr"/>
          <a:lstStyle/>
          <a:p>
            <a:pPr marL="0" indent="0" algn="l">
              <a:buNone/>
            </a:pPr>
            <a:r>
              <a:rPr lang="en-US" sz="2030" b="1" dirty="0">
                <a:solidFill>
                  <a:srgbClr val="FFFFFF"/>
                </a:solidFill>
                <a:latin typeface="Calibri Light" pitchFamily="34" charset="0"/>
                <a:ea typeface="Calibri Light" pitchFamily="34" charset="-122"/>
                <a:cs typeface="Calibri Light" pitchFamily="34" charset="-120"/>
              </a:rPr>
              <a:t>Project Objective</a:t>
            </a:r>
            <a:endParaRPr lang="en-US" sz="1200" dirty="0"/>
          </a:p>
        </p:txBody>
      </p:sp>
      <p:sp>
        <p:nvSpPr>
          <p:cNvPr id="4" name="Text 2"/>
          <p:cNvSpPr/>
          <p:nvPr/>
        </p:nvSpPr>
        <p:spPr>
          <a:xfrm>
            <a:off x="533400" y="832991"/>
            <a:ext cx="4049911" cy="1757660"/>
          </a:xfrm>
          <a:prstGeom prst="roundRect">
            <a:avLst>
              <a:gd name="adj" fmla="val 3251"/>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5" name="Text 3"/>
          <p:cNvSpPr/>
          <p:nvPr/>
        </p:nvSpPr>
        <p:spPr>
          <a:xfrm>
            <a:off x="533400" y="832991"/>
            <a:ext cx="29170" cy="1757660"/>
          </a:xfrm>
          <a:prstGeom prst="rect">
            <a:avLst/>
          </a:prstGeom>
          <a:solidFill>
            <a:srgbClr val="C5A55A"/>
          </a:solidFill>
          <a:ln/>
        </p:spPr>
        <p:txBody>
          <a:bodyPr wrap="square" rtlCol="0" anchor="t"/>
          <a:lstStyle/>
          <a:p>
            <a:pPr marL="0" indent="0">
              <a:buNone/>
            </a:pPr>
            <a:endParaRPr lang="en-US" dirty="0"/>
          </a:p>
        </p:txBody>
      </p:sp>
      <p:sp>
        <p:nvSpPr>
          <p:cNvPr id="6" name="Text 4"/>
          <p:cNvSpPr/>
          <p:nvPr/>
        </p:nvSpPr>
        <p:spPr>
          <a:xfrm>
            <a:off x="718691" y="976610"/>
            <a:ext cx="236071" cy="228600"/>
          </a:xfrm>
          <a:prstGeom prst="rect">
            <a:avLst/>
          </a:prstGeom>
          <a:noFill/>
          <a:ln/>
        </p:spPr>
        <p:txBody>
          <a:bodyPr wrap="none" lIns="0" tIns="0" rIns="0" bIns="0" rtlCol="0" anchor="t"/>
          <a:lstStyle/>
          <a:p>
            <a:pPr marL="0" indent="0" algn="l">
              <a:lnSpc>
                <a:spcPts val="1800"/>
              </a:lnSpc>
              <a:buNone/>
            </a:pPr>
            <a:r>
              <a:rPr lang="en-US" sz="1800" b="1" dirty="0">
                <a:solidFill>
                  <a:srgbClr val="1B2A4A"/>
                </a:solidFill>
                <a:latin typeface="Calibri Light" pitchFamily="34" charset="0"/>
                <a:ea typeface="Calibri Light" pitchFamily="34" charset="-122"/>
                <a:cs typeface="Calibri Light" pitchFamily="34" charset="-120"/>
              </a:rPr>
              <a:t>1</a:t>
            </a:r>
            <a:endParaRPr lang="en-US" sz="1200" dirty="0"/>
          </a:p>
        </p:txBody>
      </p:sp>
      <p:sp>
        <p:nvSpPr>
          <p:cNvPr id="7" name="Text 5"/>
          <p:cNvSpPr/>
          <p:nvPr/>
        </p:nvSpPr>
        <p:spPr>
          <a:xfrm>
            <a:off x="1004441" y="976610"/>
            <a:ext cx="228600" cy="228600"/>
          </a:xfrm>
          <a:prstGeom prst="roundRect">
            <a:avLst>
              <a:gd name="adj" fmla="val 18889"/>
            </a:avLst>
          </a:prstGeom>
          <a:solidFill>
            <a:srgbClr val="C5A55A">
              <a:alpha val="12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5340" y="1026021"/>
            <a:ext cx="135880" cy="135880"/>
          </a:xfrm>
          <a:prstGeom prst="rect">
            <a:avLst/>
          </a:prstGeom>
        </p:spPr>
      </p:pic>
      <p:sp>
        <p:nvSpPr>
          <p:cNvPr id="9" name="Text 6"/>
          <p:cNvSpPr/>
          <p:nvPr/>
        </p:nvSpPr>
        <p:spPr>
          <a:xfrm>
            <a:off x="1319510" y="1018431"/>
            <a:ext cx="2026905"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Examine SAR Filing Patterns</a:t>
            </a:r>
            <a:endParaRPr lang="en-US" sz="1200" dirty="0"/>
          </a:p>
        </p:txBody>
      </p:sp>
      <p:sp>
        <p:nvSpPr>
          <p:cNvPr id="10" name="Text 7"/>
          <p:cNvSpPr/>
          <p:nvPr/>
        </p:nvSpPr>
        <p:spPr>
          <a:xfrm>
            <a:off x="718691" y="1276350"/>
            <a:ext cx="3855080" cy="328166"/>
          </a:xfrm>
          <a:prstGeom prst="rect">
            <a:avLst/>
          </a:prstGeom>
          <a:noFill/>
          <a:ln/>
        </p:spPr>
        <p:txBody>
          <a:bodyPr wrap="square" lIns="0" tIns="0" rIns="0" bIns="0" rtlCol="0" anchor="t"/>
          <a:lstStyle/>
          <a:p>
            <a:pPr marL="0" indent="0" algn="l">
              <a:lnSpc>
                <a:spcPts val="1230"/>
              </a:lnSpc>
              <a:buNone/>
            </a:pPr>
            <a:r>
              <a:rPr lang="en-US" sz="840" dirty="0">
                <a:solidFill>
                  <a:srgbClr val="5A6A8A"/>
                </a:solidFill>
                <a:latin typeface="Calibri" pitchFamily="34" charset="0"/>
                <a:ea typeface="Calibri" pitchFamily="34" charset="-122"/>
                <a:cs typeface="Calibri" pitchFamily="34" charset="-120"/>
              </a:rPr>
              <a:t>Analyze Suspicious Activity Report filing trends across all U.S. states to identify geographic patterns.</a:t>
            </a:r>
            <a:endParaRPr lang="en-US" sz="1200" dirty="0"/>
          </a:p>
        </p:txBody>
      </p:sp>
      <p:sp>
        <p:nvSpPr>
          <p:cNvPr id="11" name="Text 8"/>
          <p:cNvSpPr/>
          <p:nvPr/>
        </p:nvSpPr>
        <p:spPr>
          <a:xfrm>
            <a:off x="4712940" y="832991"/>
            <a:ext cx="4049911" cy="1757660"/>
          </a:xfrm>
          <a:prstGeom prst="roundRect">
            <a:avLst>
              <a:gd name="adj" fmla="val 3251"/>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12" name="Text 9"/>
          <p:cNvSpPr/>
          <p:nvPr/>
        </p:nvSpPr>
        <p:spPr>
          <a:xfrm>
            <a:off x="4712940" y="832991"/>
            <a:ext cx="29170" cy="1757660"/>
          </a:xfrm>
          <a:prstGeom prst="rect">
            <a:avLst/>
          </a:prstGeom>
          <a:solidFill>
            <a:srgbClr val="C5A55A"/>
          </a:solidFill>
          <a:ln/>
        </p:spPr>
        <p:txBody>
          <a:bodyPr wrap="square" rtlCol="0" anchor="t"/>
          <a:lstStyle/>
          <a:p>
            <a:pPr marL="0" indent="0">
              <a:buNone/>
            </a:pPr>
            <a:endParaRPr lang="en-US" dirty="0"/>
          </a:p>
        </p:txBody>
      </p:sp>
      <p:sp>
        <p:nvSpPr>
          <p:cNvPr id="13" name="Text 10"/>
          <p:cNvSpPr/>
          <p:nvPr/>
        </p:nvSpPr>
        <p:spPr>
          <a:xfrm>
            <a:off x="4898380" y="976610"/>
            <a:ext cx="236071" cy="228600"/>
          </a:xfrm>
          <a:prstGeom prst="rect">
            <a:avLst/>
          </a:prstGeom>
          <a:noFill/>
          <a:ln/>
        </p:spPr>
        <p:txBody>
          <a:bodyPr wrap="none" lIns="0" tIns="0" rIns="0" bIns="0" rtlCol="0" anchor="t"/>
          <a:lstStyle/>
          <a:p>
            <a:pPr marL="0" indent="0" algn="l">
              <a:lnSpc>
                <a:spcPts val="1800"/>
              </a:lnSpc>
              <a:buNone/>
            </a:pPr>
            <a:r>
              <a:rPr lang="en-US" sz="1800" b="1" dirty="0">
                <a:solidFill>
                  <a:srgbClr val="1B2A4A"/>
                </a:solidFill>
                <a:latin typeface="Calibri Light" pitchFamily="34" charset="0"/>
                <a:ea typeface="Calibri Light" pitchFamily="34" charset="-122"/>
                <a:cs typeface="Calibri Light" pitchFamily="34" charset="-120"/>
              </a:rPr>
              <a:t>2</a:t>
            </a:r>
            <a:endParaRPr lang="en-US" sz="1200" dirty="0"/>
          </a:p>
        </p:txBody>
      </p:sp>
      <p:sp>
        <p:nvSpPr>
          <p:cNvPr id="14" name="Text 11"/>
          <p:cNvSpPr/>
          <p:nvPr/>
        </p:nvSpPr>
        <p:spPr>
          <a:xfrm>
            <a:off x="5184130" y="976610"/>
            <a:ext cx="228600" cy="228600"/>
          </a:xfrm>
          <a:prstGeom prst="roundRect">
            <a:avLst>
              <a:gd name="adj" fmla="val 18889"/>
            </a:avLst>
          </a:prstGeom>
          <a:solidFill>
            <a:srgbClr val="C5A55A">
              <a:alpha val="12000"/>
            </a:srgbClr>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541" y="1026021"/>
            <a:ext cx="135880" cy="135880"/>
          </a:xfrm>
          <a:prstGeom prst="rect">
            <a:avLst/>
          </a:prstGeom>
        </p:spPr>
      </p:pic>
      <p:sp>
        <p:nvSpPr>
          <p:cNvPr id="16" name="Text 12"/>
          <p:cNvSpPr/>
          <p:nvPr/>
        </p:nvSpPr>
        <p:spPr>
          <a:xfrm>
            <a:off x="5497711" y="1018431"/>
            <a:ext cx="2247751"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Analyze SAR–MSB Relationship</a:t>
            </a:r>
            <a:endParaRPr lang="en-US" sz="1200" dirty="0"/>
          </a:p>
        </p:txBody>
      </p:sp>
      <p:sp>
        <p:nvSpPr>
          <p:cNvPr id="17" name="Text 13"/>
          <p:cNvSpPr/>
          <p:nvPr/>
        </p:nvSpPr>
        <p:spPr>
          <a:xfrm>
            <a:off x="4898380" y="1276350"/>
            <a:ext cx="3855080" cy="328166"/>
          </a:xfrm>
          <a:prstGeom prst="rect">
            <a:avLst/>
          </a:prstGeom>
          <a:noFill/>
          <a:ln/>
        </p:spPr>
        <p:txBody>
          <a:bodyPr wrap="square" lIns="0" tIns="0" rIns="0" bIns="0" rtlCol="0" anchor="t"/>
          <a:lstStyle/>
          <a:p>
            <a:pPr marL="0" indent="0" algn="l">
              <a:lnSpc>
                <a:spcPts val="1230"/>
              </a:lnSpc>
              <a:buNone/>
            </a:pPr>
            <a:r>
              <a:rPr lang="en-US" sz="840" dirty="0">
                <a:solidFill>
                  <a:srgbClr val="5A6A8A"/>
                </a:solidFill>
                <a:latin typeface="Calibri" pitchFamily="34" charset="0"/>
                <a:ea typeface="Calibri" pitchFamily="34" charset="-122"/>
                <a:cs typeface="Calibri" pitchFamily="34" charset="-120"/>
              </a:rPr>
              <a:t>Investigate how SAR filing volume correlates with Money Services Business density at the state level.</a:t>
            </a:r>
            <a:endParaRPr lang="en-US" sz="1200" dirty="0"/>
          </a:p>
        </p:txBody>
      </p:sp>
      <p:sp>
        <p:nvSpPr>
          <p:cNvPr id="18" name="Text 14"/>
          <p:cNvSpPr/>
          <p:nvPr/>
        </p:nvSpPr>
        <p:spPr>
          <a:xfrm>
            <a:off x="533400" y="2726680"/>
            <a:ext cx="4049911" cy="1757660"/>
          </a:xfrm>
          <a:prstGeom prst="roundRect">
            <a:avLst>
              <a:gd name="adj" fmla="val 3251"/>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19" name="Text 15"/>
          <p:cNvSpPr/>
          <p:nvPr/>
        </p:nvSpPr>
        <p:spPr>
          <a:xfrm>
            <a:off x="533400" y="2726680"/>
            <a:ext cx="29170" cy="1757660"/>
          </a:xfrm>
          <a:prstGeom prst="rect">
            <a:avLst/>
          </a:prstGeom>
          <a:solidFill>
            <a:srgbClr val="C5A55A"/>
          </a:solidFill>
          <a:ln/>
        </p:spPr>
        <p:txBody>
          <a:bodyPr wrap="square" rtlCol="0" anchor="t"/>
          <a:lstStyle/>
          <a:p>
            <a:pPr marL="0" indent="0">
              <a:buNone/>
            </a:pPr>
            <a:endParaRPr lang="en-US" dirty="0"/>
          </a:p>
        </p:txBody>
      </p:sp>
      <p:sp>
        <p:nvSpPr>
          <p:cNvPr id="20" name="Text 16"/>
          <p:cNvSpPr/>
          <p:nvPr/>
        </p:nvSpPr>
        <p:spPr>
          <a:xfrm>
            <a:off x="718691" y="2868811"/>
            <a:ext cx="236071" cy="228600"/>
          </a:xfrm>
          <a:prstGeom prst="rect">
            <a:avLst/>
          </a:prstGeom>
          <a:noFill/>
          <a:ln/>
        </p:spPr>
        <p:txBody>
          <a:bodyPr wrap="none" lIns="0" tIns="0" rIns="0" bIns="0" rtlCol="0" anchor="t"/>
          <a:lstStyle/>
          <a:p>
            <a:pPr marL="0" indent="0" algn="l">
              <a:lnSpc>
                <a:spcPts val="1800"/>
              </a:lnSpc>
              <a:buNone/>
            </a:pPr>
            <a:r>
              <a:rPr lang="en-US" sz="1800" b="1" dirty="0">
                <a:solidFill>
                  <a:srgbClr val="1B2A4A"/>
                </a:solidFill>
                <a:latin typeface="Calibri Light" pitchFamily="34" charset="0"/>
                <a:ea typeface="Calibri Light" pitchFamily="34" charset="-122"/>
                <a:cs typeface="Calibri Light" pitchFamily="34" charset="-120"/>
              </a:rPr>
              <a:t>3</a:t>
            </a:r>
            <a:endParaRPr lang="en-US" sz="1200" dirty="0"/>
          </a:p>
        </p:txBody>
      </p:sp>
      <p:sp>
        <p:nvSpPr>
          <p:cNvPr id="21" name="Text 17"/>
          <p:cNvSpPr/>
          <p:nvPr/>
        </p:nvSpPr>
        <p:spPr>
          <a:xfrm>
            <a:off x="1004441" y="2868811"/>
            <a:ext cx="228600" cy="228600"/>
          </a:xfrm>
          <a:prstGeom prst="roundRect">
            <a:avLst>
              <a:gd name="adj" fmla="val 18889"/>
            </a:avLst>
          </a:prstGeom>
          <a:solidFill>
            <a:srgbClr val="C5A55A">
              <a:alpha val="12000"/>
            </a:srgbClr>
          </a:solidFill>
          <a:ln/>
        </p:spPr>
        <p:txBody>
          <a:bodyPr wrap="non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5340" y="2911971"/>
            <a:ext cx="135880" cy="135880"/>
          </a:xfrm>
          <a:prstGeom prst="rect">
            <a:avLst/>
          </a:prstGeom>
        </p:spPr>
      </p:pic>
      <p:sp>
        <p:nvSpPr>
          <p:cNvPr id="23" name="Text 18"/>
          <p:cNvSpPr/>
          <p:nvPr/>
        </p:nvSpPr>
        <p:spPr>
          <a:xfrm>
            <a:off x="1319510" y="2904381"/>
            <a:ext cx="1721093"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Integrate Three Datasets</a:t>
            </a:r>
            <a:endParaRPr lang="en-US" sz="1200" dirty="0"/>
          </a:p>
        </p:txBody>
      </p:sp>
      <p:sp>
        <p:nvSpPr>
          <p:cNvPr id="24" name="Text 19"/>
          <p:cNvSpPr/>
          <p:nvPr/>
        </p:nvSpPr>
        <p:spPr>
          <a:xfrm>
            <a:off x="783431" y="3357235"/>
            <a:ext cx="4487153" cy="198120"/>
          </a:xfrm>
          <a:prstGeom prst="rect">
            <a:avLst/>
          </a:prstGeom>
          <a:noFill/>
          <a:ln/>
        </p:spPr>
        <p:txBody>
          <a:bodyPr wrap="none" lIns="0" tIns="0" rIns="0" bIns="0" rtlCol="0" anchor="t"/>
          <a:lstStyle/>
          <a:p>
            <a:pPr marL="0" indent="0" algn="l">
              <a:lnSpc>
                <a:spcPts val="1185"/>
              </a:lnSpc>
              <a:spcAft>
                <a:spcPts val="110"/>
              </a:spcAft>
              <a:buNone/>
            </a:pPr>
            <a:r>
              <a:rPr lang="en-US" sz="790" dirty="0">
                <a:solidFill>
                  <a:srgbClr val="1B2A4A"/>
                </a:solidFill>
                <a:latin typeface="Calibri" pitchFamily="34" charset="0"/>
                <a:ea typeface="Calibri" pitchFamily="34" charset="-122"/>
                <a:cs typeface="Calibri" pitchFamily="34" charset="-120"/>
              </a:rPr>
              <a:t>FinCEN SAR Statistics</a:t>
            </a:r>
            <a:endParaRPr lang="en-US" sz="1200" dirty="0"/>
          </a:p>
        </p:txBody>
      </p:sp>
      <p:sp>
        <p:nvSpPr>
          <p:cNvPr id="25" name="Text 20"/>
          <p:cNvSpPr/>
          <p:nvPr/>
        </p:nvSpPr>
        <p:spPr>
          <a:xfrm>
            <a:off x="783431" y="3521541"/>
            <a:ext cx="4487153" cy="198120"/>
          </a:xfrm>
          <a:prstGeom prst="rect">
            <a:avLst/>
          </a:prstGeom>
          <a:noFill/>
          <a:ln/>
        </p:spPr>
        <p:txBody>
          <a:bodyPr wrap="none" lIns="0" tIns="0" rIns="0" bIns="0" rtlCol="0" anchor="t"/>
          <a:lstStyle/>
          <a:p>
            <a:pPr marL="0" indent="0" algn="l">
              <a:lnSpc>
                <a:spcPts val="1185"/>
              </a:lnSpc>
              <a:spcAft>
                <a:spcPts val="110"/>
              </a:spcAft>
              <a:buNone/>
            </a:pPr>
            <a:r>
              <a:rPr lang="en-US" sz="790" dirty="0">
                <a:solidFill>
                  <a:srgbClr val="1B2A4A"/>
                </a:solidFill>
                <a:latin typeface="Calibri" pitchFamily="34" charset="0"/>
                <a:ea typeface="Calibri" pitchFamily="34" charset="-122"/>
                <a:cs typeface="Calibri" pitchFamily="34" charset="-120"/>
              </a:rPr>
              <a:t>MSB Registrant Database</a:t>
            </a:r>
            <a:endParaRPr lang="en-US" sz="1200" dirty="0"/>
          </a:p>
        </p:txBody>
      </p:sp>
      <p:sp>
        <p:nvSpPr>
          <p:cNvPr id="26" name="Text 21"/>
          <p:cNvSpPr/>
          <p:nvPr/>
        </p:nvSpPr>
        <p:spPr>
          <a:xfrm>
            <a:off x="783431" y="3685848"/>
            <a:ext cx="4487153" cy="198120"/>
          </a:xfrm>
          <a:prstGeom prst="rect">
            <a:avLst/>
          </a:prstGeom>
          <a:noFill/>
          <a:ln/>
        </p:spPr>
        <p:txBody>
          <a:bodyPr wrap="none" lIns="0" tIns="0" rIns="0" bIns="0" rtlCol="0" anchor="t"/>
          <a:lstStyle/>
          <a:p>
            <a:pPr marL="0" indent="0" algn="l">
              <a:lnSpc>
                <a:spcPts val="1185"/>
              </a:lnSpc>
              <a:spcAft>
                <a:spcPts val="110"/>
              </a:spcAft>
              <a:buNone/>
            </a:pPr>
            <a:r>
              <a:rPr lang="en-US" sz="790" dirty="0">
                <a:solidFill>
                  <a:srgbClr val="1B2A4A"/>
                </a:solidFill>
                <a:latin typeface="Calibri" pitchFamily="34" charset="0"/>
                <a:ea typeface="Calibri" pitchFamily="34" charset="-122"/>
                <a:cs typeface="Calibri" pitchFamily="34" charset="-120"/>
              </a:rPr>
              <a:t>Fraud Benchmark Dataset</a:t>
            </a:r>
            <a:endParaRPr lang="en-US" sz="1200" dirty="0"/>
          </a:p>
        </p:txBody>
      </p:sp>
      <p:sp>
        <p:nvSpPr>
          <p:cNvPr id="27" name="Text 22"/>
          <p:cNvSpPr/>
          <p:nvPr/>
        </p:nvSpPr>
        <p:spPr>
          <a:xfrm>
            <a:off x="4712940" y="2726680"/>
            <a:ext cx="4049911" cy="1757660"/>
          </a:xfrm>
          <a:prstGeom prst="roundRect">
            <a:avLst>
              <a:gd name="adj" fmla="val 3251"/>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28" name="Text 23"/>
          <p:cNvSpPr/>
          <p:nvPr/>
        </p:nvSpPr>
        <p:spPr>
          <a:xfrm>
            <a:off x="4712940" y="2726680"/>
            <a:ext cx="29170" cy="1757660"/>
          </a:xfrm>
          <a:prstGeom prst="rect">
            <a:avLst/>
          </a:prstGeom>
          <a:solidFill>
            <a:srgbClr val="C5A55A"/>
          </a:solidFill>
          <a:ln/>
        </p:spPr>
        <p:txBody>
          <a:bodyPr wrap="square" rtlCol="0" anchor="t"/>
          <a:lstStyle/>
          <a:p>
            <a:pPr marL="0" indent="0">
              <a:buNone/>
            </a:pPr>
            <a:endParaRPr lang="en-US" dirty="0"/>
          </a:p>
        </p:txBody>
      </p:sp>
      <p:sp>
        <p:nvSpPr>
          <p:cNvPr id="29" name="Text 24"/>
          <p:cNvSpPr/>
          <p:nvPr/>
        </p:nvSpPr>
        <p:spPr>
          <a:xfrm>
            <a:off x="4898380" y="2868811"/>
            <a:ext cx="236071" cy="228600"/>
          </a:xfrm>
          <a:prstGeom prst="rect">
            <a:avLst/>
          </a:prstGeom>
          <a:noFill/>
          <a:ln/>
        </p:spPr>
        <p:txBody>
          <a:bodyPr wrap="none" lIns="0" tIns="0" rIns="0" bIns="0" rtlCol="0" anchor="t"/>
          <a:lstStyle/>
          <a:p>
            <a:pPr marL="0" indent="0" algn="l">
              <a:lnSpc>
                <a:spcPts val="1800"/>
              </a:lnSpc>
              <a:buNone/>
            </a:pPr>
            <a:r>
              <a:rPr lang="en-US" sz="1800" b="1" dirty="0">
                <a:solidFill>
                  <a:srgbClr val="1B2A4A"/>
                </a:solidFill>
                <a:latin typeface="Calibri Light" pitchFamily="34" charset="0"/>
                <a:ea typeface="Calibri Light" pitchFamily="34" charset="-122"/>
                <a:cs typeface="Calibri Light" pitchFamily="34" charset="-120"/>
              </a:rPr>
              <a:t>4</a:t>
            </a:r>
            <a:endParaRPr lang="en-US" sz="1200" dirty="0"/>
          </a:p>
        </p:txBody>
      </p:sp>
      <p:sp>
        <p:nvSpPr>
          <p:cNvPr id="30" name="Text 25"/>
          <p:cNvSpPr/>
          <p:nvPr/>
        </p:nvSpPr>
        <p:spPr>
          <a:xfrm>
            <a:off x="5184130" y="2868811"/>
            <a:ext cx="228600" cy="228600"/>
          </a:xfrm>
          <a:prstGeom prst="roundRect">
            <a:avLst>
              <a:gd name="adj" fmla="val 18889"/>
            </a:avLst>
          </a:prstGeom>
          <a:solidFill>
            <a:srgbClr val="C5A55A">
              <a:alpha val="12000"/>
            </a:srgbClr>
          </a:solidFill>
          <a:ln/>
        </p:spPr>
        <p:txBody>
          <a:bodyPr wrap="none" rtlCol="0" anchor="t"/>
          <a:lstStyle/>
          <a:p>
            <a:pPr marL="0" indent="0">
              <a:buNone/>
            </a:pPr>
            <a:endParaRPr lang="en-US"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541" y="2911971"/>
            <a:ext cx="135880" cy="135880"/>
          </a:xfrm>
          <a:prstGeom prst="rect">
            <a:avLst/>
          </a:prstGeom>
        </p:spPr>
      </p:pic>
      <p:sp>
        <p:nvSpPr>
          <p:cNvPr id="32" name="Text 26"/>
          <p:cNvSpPr/>
          <p:nvPr/>
        </p:nvSpPr>
        <p:spPr>
          <a:xfrm>
            <a:off x="5497711" y="2904381"/>
            <a:ext cx="2161148" cy="146298"/>
          </a:xfrm>
          <a:prstGeom prst="rect">
            <a:avLst/>
          </a:prstGeom>
          <a:noFill/>
          <a:ln/>
        </p:spPr>
        <p:txBody>
          <a:bodyPr wrap="none" lIns="0" tIns="0" rIns="0" bIns="0" rtlCol="0" anchor="t"/>
          <a:lstStyle/>
          <a:p>
            <a:pPr marL="0" indent="0" algn="l">
              <a:lnSpc>
                <a:spcPts val="1152"/>
              </a:lnSpc>
              <a:buNone/>
            </a:pPr>
            <a:r>
              <a:rPr lang="en-US" sz="960" b="1" dirty="0">
                <a:solidFill>
                  <a:srgbClr val="1B2A4A"/>
                </a:solidFill>
                <a:latin typeface="Calibri Light" pitchFamily="34" charset="0"/>
                <a:ea typeface="Calibri Light" pitchFamily="34" charset="-122"/>
                <a:cs typeface="Calibri Light" pitchFamily="34" charset="-120"/>
              </a:rPr>
              <a:t>Build Linear Regression Model</a:t>
            </a:r>
            <a:endParaRPr lang="en-US" sz="1200" dirty="0"/>
          </a:p>
        </p:txBody>
      </p:sp>
      <p:sp>
        <p:nvSpPr>
          <p:cNvPr id="33" name="Text 27"/>
          <p:cNvSpPr/>
          <p:nvPr/>
        </p:nvSpPr>
        <p:spPr>
          <a:xfrm>
            <a:off x="4898380" y="3169890"/>
            <a:ext cx="3855080" cy="328166"/>
          </a:xfrm>
          <a:prstGeom prst="rect">
            <a:avLst/>
          </a:prstGeom>
          <a:noFill/>
          <a:ln/>
        </p:spPr>
        <p:txBody>
          <a:bodyPr wrap="square" lIns="0" tIns="0" rIns="0" bIns="0" rtlCol="0" anchor="t"/>
          <a:lstStyle/>
          <a:p>
            <a:pPr marL="0" indent="0" algn="l">
              <a:lnSpc>
                <a:spcPts val="1230"/>
              </a:lnSpc>
              <a:buNone/>
            </a:pPr>
            <a:r>
              <a:rPr lang="en-US" sz="840" dirty="0">
                <a:solidFill>
                  <a:srgbClr val="5A6A8A"/>
                </a:solidFill>
                <a:latin typeface="Calibri" pitchFamily="34" charset="0"/>
                <a:ea typeface="Calibri" pitchFamily="34" charset="-122"/>
                <a:cs typeface="Calibri" pitchFamily="34" charset="-120"/>
              </a:rPr>
              <a:t>Construct a simple linear regression to quantify the relationship between MSB count and SAR filings.</a:t>
            </a:r>
            <a:endParaRPr lang="en-US" sz="1200" dirty="0"/>
          </a:p>
        </p:txBody>
      </p:sp>
      <p:sp>
        <p:nvSpPr>
          <p:cNvPr id="34" name="Text 28"/>
          <p:cNvSpPr/>
          <p:nvPr/>
        </p:nvSpPr>
        <p:spPr>
          <a:xfrm>
            <a:off x="4893098" y="3576191"/>
            <a:ext cx="538755" cy="179040"/>
          </a:xfrm>
          <a:prstGeom prst="roundRect">
            <a:avLst>
              <a:gd name="adj" fmla="val 16315"/>
            </a:avLst>
          </a:prstGeom>
          <a:solidFill>
            <a:srgbClr val="C5A55A"/>
          </a:solidFill>
          <a:ln/>
        </p:spPr>
        <p:txBody>
          <a:bodyPr wrap="none" lIns="0" tIns="0" rIns="0" bIns="0" rtlCol="0" anchor="ctr"/>
          <a:lstStyle/>
          <a:p>
            <a:pPr marL="0" indent="0" algn="ctr">
              <a:buNone/>
            </a:pPr>
            <a:r>
              <a:rPr lang="en-US" sz="620" b="1" dirty="0">
                <a:solidFill>
                  <a:srgbClr val="FFFFFF"/>
                </a:solidFill>
                <a:latin typeface="Calibri" pitchFamily="34" charset="0"/>
                <a:ea typeface="Calibri" pitchFamily="34" charset="-122"/>
                <a:cs typeface="Calibri" pitchFamily="34" charset="-120"/>
              </a:rPr>
              <a:t>OUTPUT</a:t>
            </a:r>
            <a:endParaRPr lang="en-US" sz="1200" dirty="0"/>
          </a:p>
        </p:txBody>
      </p:sp>
      <p:sp>
        <p:nvSpPr>
          <p:cNvPr id="35" name="Text 29"/>
          <p:cNvSpPr/>
          <p:nvPr/>
        </p:nvSpPr>
        <p:spPr>
          <a:xfrm>
            <a:off x="533400" y="4626471"/>
            <a:ext cx="8229600" cy="449461"/>
          </a:xfrm>
          <a:prstGeom prst="roundRect">
            <a:avLst>
              <a:gd name="adj" fmla="val 12715"/>
            </a:avLst>
          </a:prstGeom>
          <a:gradFill rotWithShape="1">
            <a:gsLst>
              <a:gs pos="0">
                <a:srgbClr val="C5A55A">
                  <a:alpha val="10000"/>
                </a:srgbClr>
              </a:gs>
              <a:gs pos="100000">
                <a:srgbClr val="C5A55A">
                  <a:alpha val="6000"/>
                </a:srgbClr>
              </a:gs>
            </a:gsLst>
            <a:lin ang="0" scaled="1"/>
          </a:gradFill>
          <a:ln w="9525">
            <a:solidFill>
              <a:srgbClr val="C5A55A"/>
            </a:solidFill>
          </a:ln>
        </p:spPr>
        <p:txBody>
          <a:bodyPr wrap="square" rtlCol="0" anchor="t"/>
          <a:lstStyle/>
          <a:p>
            <a:pPr marL="0" indent="0">
              <a:buNone/>
            </a:pPr>
            <a:endParaRPr lang="en-US" dirty="0"/>
          </a:p>
        </p:txBody>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0271" y="4784080"/>
            <a:ext cx="135880" cy="135880"/>
          </a:xfrm>
          <a:prstGeom prst="rect">
            <a:avLst/>
          </a:prstGeom>
        </p:spPr>
      </p:pic>
      <p:sp>
        <p:nvSpPr>
          <p:cNvPr id="37" name="Text 30"/>
          <p:cNvSpPr/>
          <p:nvPr/>
        </p:nvSpPr>
        <p:spPr>
          <a:xfrm>
            <a:off x="982861" y="4770090"/>
            <a:ext cx="463793" cy="171450"/>
          </a:xfrm>
          <a:prstGeom prst="rect">
            <a:avLst/>
          </a:prstGeom>
          <a:noFill/>
          <a:ln/>
        </p:spPr>
        <p:txBody>
          <a:bodyPr wrap="none" lIns="0" tIns="0" rIns="0" bIns="0" rtlCol="0" anchor="t"/>
          <a:lstStyle/>
          <a:p>
            <a:pPr marL="0" indent="0" algn="l">
              <a:lnSpc>
                <a:spcPts val="1350"/>
              </a:lnSpc>
              <a:buNone/>
            </a:pPr>
            <a:r>
              <a:rPr lang="en-US" sz="900" b="1" dirty="0">
                <a:solidFill>
                  <a:srgbClr val="C5A55A"/>
                </a:solidFill>
                <a:latin typeface="Calibri Light" pitchFamily="34" charset="0"/>
                <a:ea typeface="Calibri Light" pitchFamily="34" charset="-122"/>
                <a:cs typeface="Calibri Light" pitchFamily="34" charset="-120"/>
              </a:rPr>
              <a:t>GOAL</a:t>
            </a:r>
            <a:endParaRPr lang="en-US" sz="1200" dirty="0"/>
          </a:p>
        </p:txBody>
      </p:sp>
      <p:sp>
        <p:nvSpPr>
          <p:cNvPr id="38" name="Text 31"/>
          <p:cNvSpPr/>
          <p:nvPr/>
        </p:nvSpPr>
        <p:spPr>
          <a:xfrm>
            <a:off x="1483221" y="4740771"/>
            <a:ext cx="13841" cy="228600"/>
          </a:xfrm>
          <a:prstGeom prst="roundRect">
            <a:avLst>
              <a:gd name="adj" fmla="val 55054"/>
            </a:avLst>
          </a:prstGeom>
          <a:solidFill>
            <a:srgbClr val="C5A55A"/>
          </a:solidFill>
          <a:ln/>
        </p:spPr>
        <p:txBody>
          <a:bodyPr wrap="none" rtlCol="0" anchor="t"/>
          <a:lstStyle/>
          <a:p>
            <a:pPr marL="0" indent="0">
              <a:buNone/>
            </a:pPr>
            <a:endParaRPr lang="en-US" dirty="0"/>
          </a:p>
        </p:txBody>
      </p:sp>
      <p:sp>
        <p:nvSpPr>
          <p:cNvPr id="39" name="Text 32"/>
          <p:cNvSpPr/>
          <p:nvPr/>
        </p:nvSpPr>
        <p:spPr>
          <a:xfrm>
            <a:off x="1611511" y="4777680"/>
            <a:ext cx="5972175" cy="154632"/>
          </a:xfrm>
          <a:prstGeom prst="rect">
            <a:avLst/>
          </a:prstGeom>
          <a:noFill/>
          <a:ln/>
        </p:spPr>
        <p:txBody>
          <a:bodyPr wrap="none" lIns="0" tIns="0" rIns="0" bIns="0" rtlCol="0" anchor="t"/>
          <a:lstStyle/>
          <a:p>
            <a:pPr marL="0" indent="0" algn="l">
              <a:lnSpc>
                <a:spcPts val="1218"/>
              </a:lnSpc>
              <a:buNone/>
            </a:pPr>
            <a:r>
              <a:rPr lang="en-US" sz="840" dirty="0">
                <a:solidFill>
                  <a:srgbClr val="1B2A4A"/>
                </a:solidFill>
                <a:latin typeface="Calibri" pitchFamily="34" charset="0"/>
                <a:ea typeface="Calibri" pitchFamily="34" charset="-122"/>
                <a:cs typeface="Calibri" pitchFamily="34" charset="-120"/>
              </a:rPr>
              <a:t>Quantify whether states with more MSBs tend to file more SARs using Python-based EDA and modeling.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0" y="76200"/>
            <a:ext cx="9113371" cy="574235"/>
          </a:xfrm>
          <a:prstGeom prst="rect">
            <a:avLst/>
          </a:prstGeom>
          <a:gradFill rotWithShape="1">
            <a:gsLst>
              <a:gs pos="0">
                <a:srgbClr val="C5A55A"/>
              </a:gs>
              <a:gs pos="50000">
                <a:srgbClr val="D4B96A"/>
              </a:gs>
              <a:gs pos="100000">
                <a:srgbClr val="B8963E"/>
              </a:gs>
            </a:gsLst>
            <a:lin ang="2700000" scaled="1"/>
          </a:gradFill>
          <a:ln/>
          <a:effectLst>
            <a:outerShdw blurRad="86360" dist="50800" dir="16200000" algn="bl" rotWithShape="0">
              <a:srgbClr val="000000">
                <a:alpha val="25000"/>
              </a:srgbClr>
            </a:outerShdw>
          </a:effectLst>
        </p:spPr>
        <p:txBody>
          <a:bodyPr wrap="square" lIns="457200" tIns="0" rIns="457200" bIns="0" rtlCol="0" anchor="ctr"/>
          <a:lstStyle/>
          <a:p>
            <a:pPr marL="0" indent="0" algn="l">
              <a:buNone/>
            </a:pPr>
            <a:r>
              <a:rPr lang="en-US" sz="1910" b="1" dirty="0">
                <a:solidFill>
                  <a:srgbClr val="FFFFFF"/>
                </a:solidFill>
                <a:latin typeface="Calibri Light" pitchFamily="34" charset="0"/>
                <a:ea typeface="Calibri Light" pitchFamily="34" charset="-122"/>
                <a:cs typeface="Calibri Light" pitchFamily="34" charset="-120"/>
              </a:rPr>
              <a:t>DATA SOURCES</a:t>
            </a:r>
            <a:endParaRPr lang="en-US" sz="1200" dirty="0"/>
          </a:p>
        </p:txBody>
      </p:sp>
      <p:sp>
        <p:nvSpPr>
          <p:cNvPr id="4" name="Text 2"/>
          <p:cNvSpPr/>
          <p:nvPr/>
        </p:nvSpPr>
        <p:spPr>
          <a:xfrm>
            <a:off x="533400" y="791170"/>
            <a:ext cx="8229600" cy="886420"/>
          </a:xfrm>
          <a:prstGeom prst="roundRect">
            <a:avLst>
              <a:gd name="adj" fmla="val 6447"/>
            </a:avLst>
          </a:prstGeom>
          <a:solidFill>
            <a:srgbClr val="FFFFFF"/>
          </a:solidFill>
          <a:ln/>
          <a:effectLst>
            <a:outerShdw blurRad="71120" dist="50800" dir="16200000" algn="bl" rotWithShape="0">
              <a:srgbClr val="000000">
                <a:alpha val="6000"/>
              </a:srgbClr>
            </a:outerShdw>
          </a:effectLst>
        </p:spPr>
        <p:txBody>
          <a:bodyPr wrap="square" rtlCol="0" anchor="t"/>
          <a:lstStyle/>
          <a:p>
            <a:pPr marL="0" indent="0">
              <a:buNone/>
            </a:pPr>
            <a:endParaRPr lang="en-US" dirty="0"/>
          </a:p>
        </p:txBody>
      </p:sp>
      <p:sp>
        <p:nvSpPr>
          <p:cNvPr id="5" name="Text 3"/>
          <p:cNvSpPr/>
          <p:nvPr/>
        </p:nvSpPr>
        <p:spPr>
          <a:xfrm>
            <a:off x="533400" y="791170"/>
            <a:ext cx="8229600" cy="21580"/>
          </a:xfrm>
          <a:prstGeom prst="rect">
            <a:avLst/>
          </a:prstGeom>
          <a:solidFill>
            <a:srgbClr val="C5A55A"/>
          </a:solidFill>
          <a:ln/>
        </p:spPr>
        <p:txBody>
          <a:bodyPr wrap="none" rtlCol="0" anchor="t"/>
          <a:lstStyle/>
          <a:p>
            <a:pPr marL="0" indent="0">
              <a:buNone/>
            </a:pPr>
            <a:endParaRPr lang="en-US" dirty="0"/>
          </a:p>
        </p:txBody>
      </p:sp>
      <p:sp>
        <p:nvSpPr>
          <p:cNvPr id="6" name="Text 4"/>
          <p:cNvSpPr/>
          <p:nvPr/>
        </p:nvSpPr>
        <p:spPr>
          <a:xfrm>
            <a:off x="690860" y="955030"/>
            <a:ext cx="314920" cy="314920"/>
          </a:xfrm>
          <a:prstGeom prst="roundRect">
            <a:avLst>
              <a:gd name="adj" fmla="val 22584"/>
            </a:avLst>
          </a:prstGeom>
          <a:solidFill>
            <a:srgbClr val="C5A55A">
              <a:alpha val="12000"/>
            </a:srgbClr>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5841" y="1040011"/>
            <a:ext cx="135880" cy="135880"/>
          </a:xfrm>
          <a:prstGeom prst="rect">
            <a:avLst/>
          </a:prstGeom>
        </p:spPr>
      </p:pic>
      <p:sp>
        <p:nvSpPr>
          <p:cNvPr id="8" name="Text 5"/>
          <p:cNvSpPr/>
          <p:nvPr/>
        </p:nvSpPr>
        <p:spPr>
          <a:xfrm>
            <a:off x="1134070" y="938957"/>
            <a:ext cx="1579974" cy="146298"/>
          </a:xfrm>
          <a:prstGeom prst="rect">
            <a:avLst/>
          </a:prstGeom>
          <a:noFill/>
          <a:ln/>
        </p:spPr>
        <p:txBody>
          <a:bodyPr wrap="none" lIns="0" tIns="0" rIns="0" bIns="0" rtlCol="0" anchor="t"/>
          <a:lstStyle/>
          <a:p>
            <a:pPr marL="0" indent="0" algn="l">
              <a:lnSpc>
                <a:spcPts val="1152"/>
              </a:lnSpc>
              <a:spcAft>
                <a:spcPts val="110"/>
              </a:spcAft>
              <a:buNone/>
            </a:pPr>
            <a:r>
              <a:rPr lang="en-US" sz="960" b="1" dirty="0">
                <a:solidFill>
                  <a:srgbClr val="1B2A4A"/>
                </a:solidFill>
                <a:latin typeface="Calibri Light" pitchFamily="34" charset="0"/>
                <a:ea typeface="Calibri Light" pitchFamily="34" charset="-122"/>
                <a:cs typeface="Calibri Light" pitchFamily="34" charset="-120"/>
              </a:rPr>
              <a:t>FinCEN SAR Statistics</a:t>
            </a:r>
            <a:endParaRPr lang="en-US" sz="1200" dirty="0"/>
          </a:p>
        </p:txBody>
      </p:sp>
      <p:sp>
        <p:nvSpPr>
          <p:cNvPr id="9" name="Text 6"/>
          <p:cNvSpPr/>
          <p:nvPr/>
        </p:nvSpPr>
        <p:spPr>
          <a:xfrm>
            <a:off x="2510342" y="955030"/>
            <a:ext cx="1588029" cy="171450"/>
          </a:xfrm>
          <a:prstGeom prst="roundRect">
            <a:avLst>
              <a:gd name="adj" fmla="val 17037"/>
            </a:avLst>
          </a:prstGeom>
          <a:solidFill>
            <a:srgbClr val="C5A55A">
              <a:alpha val="13000"/>
            </a:srgbClr>
          </a:solidFill>
          <a:ln w="9525">
            <a:solidFill>
              <a:srgbClr val="C5A55A">
                <a:alpha val="35000"/>
              </a:srgbClr>
            </a:solidFill>
          </a:ln>
        </p:spPr>
        <p:txBody>
          <a:bodyPr wrap="none" lIns="0" tIns="0" rIns="0" bIns="0" rtlCol="0" anchor="ctr"/>
          <a:lstStyle/>
          <a:p>
            <a:pPr marL="0" indent="0" algn="ctr">
              <a:buNone/>
            </a:pPr>
            <a:r>
              <a:rPr lang="en-US" sz="680" dirty="0">
                <a:solidFill>
                  <a:srgbClr val="8B7230"/>
                </a:solidFill>
                <a:latin typeface="Consolas" pitchFamily="34" charset="0"/>
                <a:ea typeface="Consolas" pitchFamily="34" charset="-122"/>
                <a:cs typeface="Consolas" pitchFamily="34" charset="-120"/>
              </a:rPr>
              <a:t>fincen.gov/reports/sar-stats</a:t>
            </a:r>
            <a:endParaRPr lang="en-US" sz="1200" dirty="0"/>
          </a:p>
        </p:txBody>
      </p:sp>
      <p:sp>
        <p:nvSpPr>
          <p:cNvPr id="10" name="Text 7"/>
          <p:cNvSpPr/>
          <p:nvPr/>
        </p:nvSpPr>
        <p:spPr>
          <a:xfrm>
            <a:off x="1134070" y="1112490"/>
            <a:ext cx="9037171" cy="120551"/>
          </a:xfrm>
          <a:prstGeom prst="rect">
            <a:avLst/>
          </a:prstGeom>
          <a:noFill/>
          <a:ln/>
        </p:spPr>
        <p:txBody>
          <a:bodyPr wrap="none" lIns="0" tIns="0" rIns="0" bIns="0" rtlCol="0" anchor="t"/>
          <a:lstStyle/>
          <a:p>
            <a:pPr marL="0" indent="0" algn="l">
              <a:lnSpc>
                <a:spcPts val="949"/>
              </a:lnSpc>
              <a:spcAft>
                <a:spcPts val="280"/>
              </a:spcAft>
              <a:buNone/>
            </a:pPr>
            <a:r>
              <a:rPr lang="en-US" sz="730" dirty="0">
                <a:solidFill>
                  <a:srgbClr val="5A6A8A"/>
                </a:solidFill>
                <a:latin typeface="Calibri" pitchFamily="34" charset="0"/>
                <a:ea typeface="Calibri" pitchFamily="34" charset="-122"/>
                <a:cs typeface="Calibri" pitchFamily="34" charset="-120"/>
              </a:rPr>
              <a:t>Source: FinCEN (Financial Crimes Enforcement Network)</a:t>
            </a:r>
            <a:endParaRPr lang="en-US" sz="1200" dirty="0"/>
          </a:p>
        </p:txBody>
      </p:sp>
      <p:sp>
        <p:nvSpPr>
          <p:cNvPr id="11" name="Text 8"/>
          <p:cNvSpPr/>
          <p:nvPr/>
        </p:nvSpPr>
        <p:spPr>
          <a:xfrm>
            <a:off x="1134070" y="1268611"/>
            <a:ext cx="9037171" cy="139898"/>
          </a:xfrm>
          <a:prstGeom prst="rect">
            <a:avLst/>
          </a:prstGeom>
          <a:noFill/>
          <a:ln/>
        </p:spPr>
        <p:txBody>
          <a:bodyPr wrap="none" lIns="0" tIns="0" rIns="0" bIns="0" rtlCol="0" anchor="t"/>
          <a:lstStyle/>
          <a:p>
            <a:pPr marL="0" indent="0" algn="l">
              <a:lnSpc>
                <a:spcPts val="1102"/>
              </a:lnSpc>
              <a:spcAft>
                <a:spcPts val="340"/>
              </a:spcAft>
              <a:buNone/>
            </a:pPr>
            <a:r>
              <a:rPr lang="en-US" sz="790" dirty="0">
                <a:solidFill>
                  <a:srgbClr val="1B2A4A"/>
                </a:solidFill>
                <a:latin typeface="Calibri" pitchFamily="34" charset="0"/>
                <a:ea typeface="Calibri" pitchFamily="34" charset="-122"/>
                <a:cs typeface="Calibri" pitchFamily="34" charset="-120"/>
              </a:rPr>
              <a:t>Aggregated Suspicious Activity Report filings by state, industry, product, and time period.</a:t>
            </a:r>
            <a:endParaRPr lang="en-US" sz="1200" dirty="0"/>
          </a:p>
        </p:txBody>
      </p:sp>
      <p:sp>
        <p:nvSpPr>
          <p:cNvPr id="12" name="Text 9"/>
          <p:cNvSpPr/>
          <p:nvPr/>
        </p:nvSpPr>
        <p:spPr>
          <a:xfrm>
            <a:off x="1134070" y="1447800"/>
            <a:ext cx="9037171" cy="115639"/>
          </a:xfrm>
          <a:prstGeom prst="rect">
            <a:avLst/>
          </a:prstGeom>
          <a:noFill/>
          <a:ln/>
        </p:spPr>
        <p:txBody>
          <a:bodyPr wrap="none" lIns="0" tIns="0" rIns="0" bIns="0" rtlCol="0" anchor="t"/>
          <a:lstStyle/>
          <a:p>
            <a:pPr marL="0" indent="0" algn="l">
              <a:lnSpc>
                <a:spcPts val="910"/>
              </a:lnSpc>
              <a:buNone/>
            </a:pPr>
            <a:r>
              <a:rPr lang="en-US" sz="680" i="1" dirty="0">
                <a:solidFill>
                  <a:srgbClr val="5A6A8A"/>
                </a:solidFill>
                <a:latin typeface="Calibri" pitchFamily="34" charset="0"/>
                <a:ea typeface="Calibri" pitchFamily="34" charset="-122"/>
                <a:cs typeface="Calibri" pitchFamily="34" charset="-120"/>
              </a:rPr>
              <a:t>169,140 rows · 7 columns (Year Month, State, Industry, Regulator, Product, Instrument, Count)</a:t>
            </a:r>
            <a:endParaRPr lang="en-US" sz="1200" dirty="0"/>
          </a:p>
        </p:txBody>
      </p:sp>
      <p:sp>
        <p:nvSpPr>
          <p:cNvPr id="13" name="Text 10"/>
          <p:cNvSpPr/>
          <p:nvPr/>
        </p:nvSpPr>
        <p:spPr>
          <a:xfrm>
            <a:off x="533400" y="1776710"/>
            <a:ext cx="8229600" cy="886420"/>
          </a:xfrm>
          <a:prstGeom prst="roundRect">
            <a:avLst>
              <a:gd name="adj" fmla="val 6447"/>
            </a:avLst>
          </a:prstGeom>
          <a:solidFill>
            <a:srgbClr val="FFFFFF"/>
          </a:solidFill>
          <a:ln/>
          <a:effectLst>
            <a:outerShdw blurRad="71120" dist="50800" dir="16200000" algn="bl" rotWithShape="0">
              <a:srgbClr val="000000">
                <a:alpha val="6000"/>
              </a:srgbClr>
            </a:outerShdw>
          </a:effectLst>
        </p:spPr>
        <p:txBody>
          <a:bodyPr wrap="square" rtlCol="0" anchor="t"/>
          <a:lstStyle/>
          <a:p>
            <a:pPr marL="0" indent="0">
              <a:buNone/>
            </a:pPr>
            <a:endParaRPr lang="en-US" dirty="0"/>
          </a:p>
        </p:txBody>
      </p:sp>
      <p:sp>
        <p:nvSpPr>
          <p:cNvPr id="14" name="Text 11"/>
          <p:cNvSpPr/>
          <p:nvPr/>
        </p:nvSpPr>
        <p:spPr>
          <a:xfrm>
            <a:off x="533400" y="1776710"/>
            <a:ext cx="8229600" cy="21580"/>
          </a:xfrm>
          <a:prstGeom prst="rect">
            <a:avLst/>
          </a:prstGeom>
          <a:solidFill>
            <a:srgbClr val="C5A55A"/>
          </a:solidFill>
          <a:ln/>
        </p:spPr>
        <p:txBody>
          <a:bodyPr wrap="none" rtlCol="0" anchor="t"/>
          <a:lstStyle/>
          <a:p>
            <a:pPr marL="0" indent="0">
              <a:buNone/>
            </a:pPr>
            <a:endParaRPr lang="en-US" dirty="0"/>
          </a:p>
        </p:txBody>
      </p:sp>
      <p:sp>
        <p:nvSpPr>
          <p:cNvPr id="15" name="Text 12"/>
          <p:cNvSpPr/>
          <p:nvPr/>
        </p:nvSpPr>
        <p:spPr>
          <a:xfrm>
            <a:off x="690860" y="1940421"/>
            <a:ext cx="314920" cy="314920"/>
          </a:xfrm>
          <a:prstGeom prst="roundRect">
            <a:avLst>
              <a:gd name="adj" fmla="val 22584"/>
            </a:avLst>
          </a:prstGeom>
          <a:solidFill>
            <a:srgbClr val="C5A55A">
              <a:alpha val="12000"/>
            </a:srgbClr>
          </a:solidFill>
          <a:ln/>
        </p:spPr>
        <p:txBody>
          <a:bodyPr wrap="squar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5841" y="2026890"/>
            <a:ext cx="135880" cy="135880"/>
          </a:xfrm>
          <a:prstGeom prst="rect">
            <a:avLst/>
          </a:prstGeom>
        </p:spPr>
      </p:pic>
      <p:sp>
        <p:nvSpPr>
          <p:cNvPr id="17" name="Text 13"/>
          <p:cNvSpPr/>
          <p:nvPr/>
        </p:nvSpPr>
        <p:spPr>
          <a:xfrm>
            <a:off x="1134070" y="1925836"/>
            <a:ext cx="1792307" cy="146298"/>
          </a:xfrm>
          <a:prstGeom prst="rect">
            <a:avLst/>
          </a:prstGeom>
          <a:noFill/>
          <a:ln/>
        </p:spPr>
        <p:txBody>
          <a:bodyPr wrap="none" lIns="0" tIns="0" rIns="0" bIns="0" rtlCol="0" anchor="t"/>
          <a:lstStyle/>
          <a:p>
            <a:pPr marL="0" indent="0" algn="l">
              <a:lnSpc>
                <a:spcPts val="1152"/>
              </a:lnSpc>
              <a:spcAft>
                <a:spcPts val="110"/>
              </a:spcAft>
              <a:buNone/>
            </a:pPr>
            <a:r>
              <a:rPr lang="en-US" sz="960" b="1" dirty="0">
                <a:solidFill>
                  <a:srgbClr val="1B2A4A"/>
                </a:solidFill>
                <a:latin typeface="Calibri Light" pitchFamily="34" charset="0"/>
                <a:ea typeface="Calibri Light" pitchFamily="34" charset="-122"/>
                <a:cs typeface="Calibri Light" pitchFamily="34" charset="-120"/>
              </a:rPr>
              <a:t>MSB Registrant Database</a:t>
            </a:r>
            <a:endParaRPr lang="en-US" sz="1200" dirty="0"/>
          </a:p>
        </p:txBody>
      </p:sp>
      <p:sp>
        <p:nvSpPr>
          <p:cNvPr id="18" name="Text 14"/>
          <p:cNvSpPr/>
          <p:nvPr/>
        </p:nvSpPr>
        <p:spPr>
          <a:xfrm>
            <a:off x="2687461" y="1940421"/>
            <a:ext cx="1799189" cy="171450"/>
          </a:xfrm>
          <a:prstGeom prst="roundRect">
            <a:avLst>
              <a:gd name="adj" fmla="val 17037"/>
            </a:avLst>
          </a:prstGeom>
          <a:solidFill>
            <a:srgbClr val="C5A55A">
              <a:alpha val="13000"/>
            </a:srgbClr>
          </a:solidFill>
          <a:ln w="9525">
            <a:solidFill>
              <a:srgbClr val="C5A55A">
                <a:alpha val="35000"/>
              </a:srgbClr>
            </a:solidFill>
          </a:ln>
        </p:spPr>
        <p:txBody>
          <a:bodyPr wrap="none" lIns="0" tIns="0" rIns="0" bIns="0" rtlCol="0" anchor="ctr"/>
          <a:lstStyle/>
          <a:p>
            <a:pPr marL="0" indent="0" algn="ctr">
              <a:buNone/>
            </a:pPr>
            <a:r>
              <a:rPr lang="en-US" sz="680" dirty="0">
                <a:solidFill>
                  <a:srgbClr val="8B7230"/>
                </a:solidFill>
                <a:latin typeface="Consolas" pitchFamily="34" charset="0"/>
                <a:ea typeface="Consolas" pitchFamily="34" charset="-122"/>
                <a:cs typeface="Consolas" pitchFamily="34" charset="-120"/>
              </a:rPr>
              <a:t>fincen.gov/msb-registrant-search</a:t>
            </a:r>
            <a:endParaRPr lang="en-US" sz="1200" dirty="0"/>
          </a:p>
        </p:txBody>
      </p:sp>
      <p:sp>
        <p:nvSpPr>
          <p:cNvPr id="19" name="Text 15"/>
          <p:cNvSpPr/>
          <p:nvPr/>
        </p:nvSpPr>
        <p:spPr>
          <a:xfrm>
            <a:off x="1134070" y="2098030"/>
            <a:ext cx="9037171" cy="120551"/>
          </a:xfrm>
          <a:prstGeom prst="rect">
            <a:avLst/>
          </a:prstGeom>
          <a:noFill/>
          <a:ln/>
        </p:spPr>
        <p:txBody>
          <a:bodyPr wrap="none" lIns="0" tIns="0" rIns="0" bIns="0" rtlCol="0" anchor="t"/>
          <a:lstStyle/>
          <a:p>
            <a:pPr marL="0" indent="0" algn="l">
              <a:lnSpc>
                <a:spcPts val="949"/>
              </a:lnSpc>
              <a:spcAft>
                <a:spcPts val="280"/>
              </a:spcAft>
              <a:buNone/>
            </a:pPr>
            <a:r>
              <a:rPr lang="en-US" sz="730" dirty="0">
                <a:solidFill>
                  <a:srgbClr val="5A6A8A"/>
                </a:solidFill>
                <a:latin typeface="Calibri" pitchFamily="34" charset="0"/>
                <a:ea typeface="Calibri" pitchFamily="34" charset="-122"/>
                <a:cs typeface="Calibri" pitchFamily="34" charset="-120"/>
              </a:rPr>
              <a:t>Source: FinCEN MSB Registrant Search</a:t>
            </a:r>
            <a:endParaRPr lang="en-US" sz="1200" dirty="0"/>
          </a:p>
        </p:txBody>
      </p:sp>
      <p:sp>
        <p:nvSpPr>
          <p:cNvPr id="20" name="Text 16"/>
          <p:cNvSpPr/>
          <p:nvPr/>
        </p:nvSpPr>
        <p:spPr>
          <a:xfrm>
            <a:off x="1134070" y="2255490"/>
            <a:ext cx="9037171" cy="139898"/>
          </a:xfrm>
          <a:prstGeom prst="rect">
            <a:avLst/>
          </a:prstGeom>
          <a:noFill/>
          <a:ln/>
        </p:spPr>
        <p:txBody>
          <a:bodyPr wrap="none" lIns="0" tIns="0" rIns="0" bIns="0" rtlCol="0" anchor="t"/>
          <a:lstStyle/>
          <a:p>
            <a:pPr marL="0" indent="0" algn="l">
              <a:lnSpc>
                <a:spcPts val="1102"/>
              </a:lnSpc>
              <a:spcAft>
                <a:spcPts val="340"/>
              </a:spcAft>
              <a:buNone/>
            </a:pPr>
            <a:r>
              <a:rPr lang="en-US" sz="790" dirty="0">
                <a:solidFill>
                  <a:srgbClr val="1B2A4A"/>
                </a:solidFill>
                <a:latin typeface="Calibri" pitchFamily="34" charset="0"/>
                <a:ea typeface="Calibri" pitchFamily="34" charset="-122"/>
                <a:cs typeface="Calibri" pitchFamily="34" charset="-120"/>
              </a:rPr>
              <a:t>Registry of Money Services Businesses operating in the United States, including business details and registration dates.</a:t>
            </a:r>
            <a:endParaRPr lang="en-US" sz="1200" dirty="0"/>
          </a:p>
        </p:txBody>
      </p:sp>
      <p:sp>
        <p:nvSpPr>
          <p:cNvPr id="21" name="Text 17"/>
          <p:cNvSpPr/>
          <p:nvPr/>
        </p:nvSpPr>
        <p:spPr>
          <a:xfrm>
            <a:off x="1134070" y="2440930"/>
            <a:ext cx="9037171" cy="115639"/>
          </a:xfrm>
          <a:prstGeom prst="rect">
            <a:avLst/>
          </a:prstGeom>
          <a:noFill/>
          <a:ln/>
        </p:spPr>
        <p:txBody>
          <a:bodyPr wrap="none" lIns="0" tIns="0" rIns="0" bIns="0" rtlCol="0" anchor="t"/>
          <a:lstStyle/>
          <a:p>
            <a:pPr marL="0" indent="0" algn="l">
              <a:lnSpc>
                <a:spcPts val="910"/>
              </a:lnSpc>
              <a:buNone/>
            </a:pPr>
            <a:r>
              <a:rPr lang="en-US" sz="680" i="1" dirty="0">
                <a:solidFill>
                  <a:srgbClr val="5A6A8A"/>
                </a:solidFill>
                <a:latin typeface="Calibri" pitchFamily="34" charset="0"/>
                <a:ea typeface="Calibri" pitchFamily="34" charset="-122"/>
                <a:cs typeface="Calibri" pitchFamily="34" charset="-120"/>
              </a:rPr>
              <a:t>36,704 rows · 13 columns</a:t>
            </a:r>
            <a:endParaRPr lang="en-US" sz="1200" dirty="0"/>
          </a:p>
        </p:txBody>
      </p:sp>
      <p:sp>
        <p:nvSpPr>
          <p:cNvPr id="22" name="Text 18"/>
          <p:cNvSpPr/>
          <p:nvPr/>
        </p:nvSpPr>
        <p:spPr>
          <a:xfrm>
            <a:off x="495300" y="2743234"/>
            <a:ext cx="8229600" cy="878830"/>
          </a:xfrm>
          <a:prstGeom prst="roundRect">
            <a:avLst>
              <a:gd name="adj" fmla="val 6503"/>
            </a:avLst>
          </a:prstGeom>
          <a:solidFill>
            <a:srgbClr val="FFFFFF"/>
          </a:solidFill>
          <a:ln/>
          <a:effectLst>
            <a:outerShdw blurRad="71120" dist="50800" dir="16200000" algn="bl" rotWithShape="0">
              <a:srgbClr val="000000">
                <a:alpha val="6000"/>
              </a:srgbClr>
            </a:outerShdw>
          </a:effectLst>
        </p:spPr>
        <p:txBody>
          <a:bodyPr wrap="square" rtlCol="0" anchor="t"/>
          <a:lstStyle/>
          <a:p>
            <a:pPr marL="0" indent="0">
              <a:buNone/>
            </a:pPr>
            <a:endParaRPr lang="en-US" dirty="0"/>
          </a:p>
        </p:txBody>
      </p:sp>
      <p:sp>
        <p:nvSpPr>
          <p:cNvPr id="23" name="Text 19"/>
          <p:cNvSpPr/>
          <p:nvPr/>
        </p:nvSpPr>
        <p:spPr>
          <a:xfrm>
            <a:off x="533400" y="2769840"/>
            <a:ext cx="8229600" cy="21580"/>
          </a:xfrm>
          <a:prstGeom prst="rect">
            <a:avLst/>
          </a:prstGeom>
          <a:solidFill>
            <a:srgbClr val="C5A55A"/>
          </a:solidFill>
          <a:ln/>
        </p:spPr>
        <p:txBody>
          <a:bodyPr wrap="none" rtlCol="0" anchor="t"/>
          <a:lstStyle/>
          <a:p>
            <a:pPr marL="0" indent="0">
              <a:buNone/>
            </a:pPr>
            <a:endParaRPr lang="en-US" dirty="0"/>
          </a:p>
        </p:txBody>
      </p:sp>
      <p:sp>
        <p:nvSpPr>
          <p:cNvPr id="24" name="Text 20"/>
          <p:cNvSpPr/>
          <p:nvPr/>
        </p:nvSpPr>
        <p:spPr>
          <a:xfrm>
            <a:off x="690860" y="2925961"/>
            <a:ext cx="314920" cy="314920"/>
          </a:xfrm>
          <a:prstGeom prst="roundRect">
            <a:avLst>
              <a:gd name="adj" fmla="val 22584"/>
            </a:avLst>
          </a:prstGeom>
          <a:solidFill>
            <a:srgbClr val="C5A55A">
              <a:alpha val="12000"/>
            </a:srgbClr>
          </a:solidFill>
          <a:ln/>
        </p:spPr>
        <p:txBody>
          <a:bodyPr wrap="square" rtlCol="0" anchor="t"/>
          <a:lstStyle/>
          <a:p>
            <a:pPr marL="0" indent="0">
              <a:buNone/>
            </a:pPr>
            <a:endParaRPr lang="en-US"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5841" y="3020020"/>
            <a:ext cx="135880" cy="135880"/>
          </a:xfrm>
          <a:prstGeom prst="rect">
            <a:avLst/>
          </a:prstGeom>
        </p:spPr>
      </p:pic>
      <p:sp>
        <p:nvSpPr>
          <p:cNvPr id="26" name="Text 21"/>
          <p:cNvSpPr/>
          <p:nvPr/>
        </p:nvSpPr>
        <p:spPr>
          <a:xfrm>
            <a:off x="1134070" y="2911971"/>
            <a:ext cx="2271489" cy="146298"/>
          </a:xfrm>
          <a:prstGeom prst="rect">
            <a:avLst/>
          </a:prstGeom>
          <a:noFill/>
          <a:ln/>
        </p:spPr>
        <p:txBody>
          <a:bodyPr wrap="none" lIns="0" tIns="0" rIns="0" bIns="0" rtlCol="0" anchor="t"/>
          <a:lstStyle/>
          <a:p>
            <a:pPr marL="0" indent="0" algn="l">
              <a:lnSpc>
                <a:spcPts val="1152"/>
              </a:lnSpc>
              <a:spcAft>
                <a:spcPts val="110"/>
              </a:spcAft>
              <a:buNone/>
            </a:pPr>
            <a:r>
              <a:rPr lang="en-US" sz="960" b="1" dirty="0">
                <a:solidFill>
                  <a:srgbClr val="1B2A4A"/>
                </a:solidFill>
                <a:latin typeface="Calibri Light" pitchFamily="34" charset="0"/>
                <a:ea typeface="Calibri Light" pitchFamily="34" charset="-122"/>
                <a:cs typeface="Calibri Light" pitchFamily="34" charset="-120"/>
              </a:rPr>
              <a:t>Fraud Dataset Benchmark (FDB)</a:t>
            </a:r>
            <a:endParaRPr lang="en-US" sz="1200" dirty="0"/>
          </a:p>
        </p:txBody>
      </p:sp>
      <p:sp>
        <p:nvSpPr>
          <p:cNvPr id="27" name="Text 22"/>
          <p:cNvSpPr/>
          <p:nvPr/>
        </p:nvSpPr>
        <p:spPr>
          <a:xfrm>
            <a:off x="1134070" y="3077170"/>
            <a:ext cx="9037171" cy="120551"/>
          </a:xfrm>
          <a:prstGeom prst="rect">
            <a:avLst/>
          </a:prstGeom>
          <a:noFill/>
          <a:ln/>
        </p:spPr>
        <p:txBody>
          <a:bodyPr wrap="none" lIns="0" tIns="0" rIns="0" bIns="0" rtlCol="0" anchor="t"/>
          <a:lstStyle/>
          <a:p>
            <a:pPr marL="0" indent="0" algn="l">
              <a:lnSpc>
                <a:spcPts val="949"/>
              </a:lnSpc>
              <a:spcAft>
                <a:spcPts val="280"/>
              </a:spcAft>
              <a:buNone/>
            </a:pPr>
            <a:r>
              <a:rPr lang="en-US" sz="730" dirty="0">
                <a:solidFill>
                  <a:srgbClr val="5A6A8A"/>
                </a:solidFill>
                <a:latin typeface="Calibri" pitchFamily="34" charset="0"/>
                <a:ea typeface="Calibri" pitchFamily="34" charset="-122"/>
                <a:cs typeface="Calibri" pitchFamily="34" charset="-120"/>
              </a:rPr>
              <a:t>Source: Synthetic dataset for academic benchmarking</a:t>
            </a:r>
            <a:endParaRPr lang="en-US" sz="1200" dirty="0"/>
          </a:p>
        </p:txBody>
      </p:sp>
      <p:sp>
        <p:nvSpPr>
          <p:cNvPr id="28" name="Text 23"/>
          <p:cNvSpPr/>
          <p:nvPr/>
        </p:nvSpPr>
        <p:spPr>
          <a:xfrm>
            <a:off x="1134070" y="3233291"/>
            <a:ext cx="9037171" cy="139898"/>
          </a:xfrm>
          <a:prstGeom prst="rect">
            <a:avLst/>
          </a:prstGeom>
          <a:noFill/>
          <a:ln/>
        </p:spPr>
        <p:txBody>
          <a:bodyPr wrap="none" lIns="0" tIns="0" rIns="0" bIns="0" rtlCol="0" anchor="t"/>
          <a:lstStyle/>
          <a:p>
            <a:pPr marL="0" indent="0" algn="l">
              <a:lnSpc>
                <a:spcPts val="1102"/>
              </a:lnSpc>
              <a:spcAft>
                <a:spcPts val="340"/>
              </a:spcAft>
              <a:buNone/>
            </a:pPr>
            <a:r>
              <a:rPr lang="en-US" sz="790" dirty="0">
                <a:solidFill>
                  <a:srgbClr val="1B2A4A"/>
                </a:solidFill>
                <a:latin typeface="Calibri" pitchFamily="34" charset="0"/>
                <a:ea typeface="Calibri" pitchFamily="34" charset="-122"/>
                <a:cs typeface="Calibri" pitchFamily="34" charset="-120"/>
              </a:rPr>
              <a:t>Transaction-level dataset containing behavioral and fraud-related features used for exploratory analysis.</a:t>
            </a:r>
            <a:endParaRPr lang="en-US" sz="1200" dirty="0"/>
          </a:p>
        </p:txBody>
      </p:sp>
      <p:sp>
        <p:nvSpPr>
          <p:cNvPr id="29" name="Text 24"/>
          <p:cNvSpPr/>
          <p:nvPr/>
        </p:nvSpPr>
        <p:spPr>
          <a:xfrm>
            <a:off x="1134070" y="3412480"/>
            <a:ext cx="9037171" cy="115639"/>
          </a:xfrm>
          <a:prstGeom prst="rect">
            <a:avLst/>
          </a:prstGeom>
          <a:noFill/>
          <a:ln/>
        </p:spPr>
        <p:txBody>
          <a:bodyPr wrap="none" lIns="0" tIns="0" rIns="0" bIns="0" rtlCol="0" anchor="t"/>
          <a:lstStyle/>
          <a:p>
            <a:pPr marL="0" indent="0" algn="l">
              <a:lnSpc>
                <a:spcPts val="910"/>
              </a:lnSpc>
              <a:buNone/>
            </a:pPr>
            <a:r>
              <a:rPr lang="en-US" sz="680" i="1" dirty="0">
                <a:solidFill>
                  <a:srgbClr val="5A6A8A"/>
                </a:solidFill>
                <a:latin typeface="Calibri" pitchFamily="34" charset="0"/>
                <a:ea typeface="Calibri" pitchFamily="34" charset="-122"/>
                <a:cs typeface="Calibri" pitchFamily="34" charset="-120"/>
              </a:rPr>
              <a:t>50,000 rows · 21 columns</a:t>
            </a:r>
            <a:endParaRPr lang="en-US" sz="1200" dirty="0"/>
          </a:p>
        </p:txBody>
      </p:sp>
      <p:sp>
        <p:nvSpPr>
          <p:cNvPr id="30" name="Text 25"/>
          <p:cNvSpPr/>
          <p:nvPr/>
        </p:nvSpPr>
        <p:spPr>
          <a:xfrm>
            <a:off x="533400" y="3741390"/>
            <a:ext cx="8229600" cy="7590"/>
          </a:xfrm>
          <a:prstGeom prst="rect">
            <a:avLst/>
          </a:prstGeom>
          <a:gradFill rotWithShape="1">
            <a:gsLst>
              <a:gs pos="0">
                <a:srgbClr val="000000">
                  <a:alpha val="0"/>
                </a:srgbClr>
              </a:gs>
              <a:gs pos="50000">
                <a:srgbClr val="C5A55A">
                  <a:alpha val="50000"/>
                </a:srgbClr>
              </a:gs>
              <a:gs pos="100000">
                <a:srgbClr val="000000">
                  <a:alpha val="0"/>
                </a:srgbClr>
              </a:gs>
            </a:gsLst>
            <a:lin ang="0" scaled="1"/>
          </a:gradFill>
          <a:ln/>
        </p:spPr>
        <p:txBody>
          <a:bodyPr wrap="none" rtlCol="0" anchor="t"/>
          <a:lstStyle/>
          <a:p>
            <a:pPr marL="0" indent="0">
              <a:buNone/>
            </a:pPr>
            <a:endParaRPr lang="en-US" dirty="0"/>
          </a:p>
        </p:txBody>
      </p:sp>
      <p:sp>
        <p:nvSpPr>
          <p:cNvPr id="31" name="Text 26"/>
          <p:cNvSpPr/>
          <p:nvPr/>
        </p:nvSpPr>
        <p:spPr>
          <a:xfrm>
            <a:off x="-333204" y="3826371"/>
            <a:ext cx="9956408" cy="139005"/>
          </a:xfrm>
          <a:prstGeom prst="rect">
            <a:avLst/>
          </a:prstGeom>
          <a:noFill/>
          <a:ln/>
        </p:spPr>
        <p:txBody>
          <a:bodyPr wrap="none" lIns="0" tIns="0" rIns="0" bIns="0" rtlCol="0" anchor="t"/>
          <a:lstStyle/>
          <a:p>
            <a:pPr marL="0" indent="0" algn="ctr">
              <a:lnSpc>
                <a:spcPts val="1095"/>
              </a:lnSpc>
              <a:spcAft>
                <a:spcPts val="560"/>
              </a:spcAft>
              <a:buNone/>
            </a:pPr>
            <a:r>
              <a:rPr lang="en-US" sz="730" b="1" dirty="0">
                <a:solidFill>
                  <a:srgbClr val="5A6A8A"/>
                </a:solidFill>
                <a:latin typeface="Calibri" pitchFamily="34" charset="0"/>
                <a:ea typeface="Calibri" pitchFamily="34" charset="-122"/>
                <a:cs typeface="Calibri" pitchFamily="34" charset="-120"/>
              </a:rPr>
              <a:t>DATASET RELATIONSHIP</a:t>
            </a:r>
            <a:endParaRPr lang="en-US" sz="1200" dirty="0"/>
          </a:p>
        </p:txBody>
      </p:sp>
      <p:sp>
        <p:nvSpPr>
          <p:cNvPr id="32" name="Text 27"/>
          <p:cNvSpPr/>
          <p:nvPr/>
        </p:nvSpPr>
        <p:spPr>
          <a:xfrm>
            <a:off x="1906228" y="4090541"/>
            <a:ext cx="648965" cy="228600"/>
          </a:xfrm>
          <a:prstGeom prst="roundRect">
            <a:avLst>
              <a:gd name="adj" fmla="val 21667"/>
            </a:avLst>
          </a:prstGeom>
          <a:solidFill>
            <a:srgbClr val="FFFFFF"/>
          </a:solidFill>
          <a:ln w="9525">
            <a:solidFill>
              <a:srgbClr val="C5A55A"/>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1B2A4A"/>
                </a:solidFill>
                <a:latin typeface="Calibri" pitchFamily="34" charset="0"/>
                <a:ea typeface="Calibri" pitchFamily="34" charset="-122"/>
                <a:cs typeface="Calibri" pitchFamily="34" charset="-120"/>
              </a:rPr>
              <a:t>SAR Data</a:t>
            </a:r>
            <a:endParaRPr lang="en-US" sz="1200" dirty="0"/>
          </a:p>
        </p:txBody>
      </p:sp>
      <p:sp>
        <p:nvSpPr>
          <p:cNvPr id="33" name="Text 28"/>
          <p:cNvSpPr/>
          <p:nvPr/>
        </p:nvSpPr>
        <p:spPr>
          <a:xfrm>
            <a:off x="2590800" y="4106168"/>
            <a:ext cx="94952" cy="192435"/>
          </a:xfrm>
          <a:prstGeom prst="rect">
            <a:avLst/>
          </a:prstGeom>
          <a:noFill/>
          <a:ln/>
        </p:spPr>
        <p:txBody>
          <a:bodyPr wrap="none" lIns="0" tIns="0" rIns="0" bIns="0" rtlCol="0" anchor="t"/>
          <a:lstStyle/>
          <a:p>
            <a:pPr marL="0" indent="0" algn="l">
              <a:lnSpc>
                <a:spcPts val="1515"/>
              </a:lnSpc>
              <a:buNone/>
            </a:pPr>
            <a:r>
              <a:rPr lang="en-US" sz="1010" b="1" dirty="0">
                <a:solidFill>
                  <a:srgbClr val="C5A55A"/>
                </a:solidFill>
                <a:latin typeface="Calibri" pitchFamily="34" charset="0"/>
                <a:ea typeface="Calibri" pitchFamily="34" charset="-122"/>
                <a:cs typeface="Calibri" pitchFamily="34" charset="-120"/>
              </a:rPr>
              <a:t>+</a:t>
            </a:r>
            <a:endParaRPr lang="en-US" sz="1200" dirty="0"/>
          </a:p>
        </p:txBody>
      </p:sp>
      <p:sp>
        <p:nvSpPr>
          <p:cNvPr id="34" name="Text 29"/>
          <p:cNvSpPr/>
          <p:nvPr/>
        </p:nvSpPr>
        <p:spPr>
          <a:xfrm>
            <a:off x="2690859" y="4090541"/>
            <a:ext cx="663235" cy="228600"/>
          </a:xfrm>
          <a:prstGeom prst="roundRect">
            <a:avLst>
              <a:gd name="adj" fmla="val 21667"/>
            </a:avLst>
          </a:prstGeom>
          <a:solidFill>
            <a:srgbClr val="FFFFFF"/>
          </a:solidFill>
          <a:ln w="9525">
            <a:solidFill>
              <a:srgbClr val="C5A55A"/>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1B2A4A"/>
                </a:solidFill>
                <a:latin typeface="Calibri" pitchFamily="34" charset="0"/>
                <a:ea typeface="Calibri" pitchFamily="34" charset="-122"/>
                <a:cs typeface="Calibri" pitchFamily="34" charset="-120"/>
              </a:rPr>
              <a:t>MSB Data</a:t>
            </a:r>
            <a:endParaRPr lang="en-US" sz="1200" dirty="0"/>
          </a:p>
        </p:txBody>
      </p:sp>
      <p:pic>
        <p:nvPicPr>
          <p:cNvPr id="3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90900" y="4163020"/>
            <a:ext cx="149721" cy="86320"/>
          </a:xfrm>
          <a:prstGeom prst="rect">
            <a:avLst/>
          </a:prstGeom>
        </p:spPr>
      </p:pic>
      <p:sp>
        <p:nvSpPr>
          <p:cNvPr id="36" name="Text 30"/>
          <p:cNvSpPr/>
          <p:nvPr/>
        </p:nvSpPr>
        <p:spPr>
          <a:xfrm>
            <a:off x="3591193" y="4033391"/>
            <a:ext cx="670977" cy="350490"/>
          </a:xfrm>
          <a:prstGeom prst="roundRect">
            <a:avLst>
              <a:gd name="adj" fmla="val 14132"/>
            </a:avLst>
          </a:prstGeom>
          <a:solidFill>
            <a:srgbClr val="C5A55A"/>
          </a:solidFill>
          <a:ln w="9525">
            <a:solidFill>
              <a:srgbClr val="B8963E"/>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CombinedDataset</a:t>
            </a:r>
            <a:endParaRPr lang="en-US" sz="1200"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05300" y="4163020"/>
            <a:ext cx="149721" cy="86320"/>
          </a:xfrm>
          <a:prstGeom prst="rect">
            <a:avLst/>
          </a:prstGeom>
        </p:spPr>
      </p:pic>
      <p:sp>
        <p:nvSpPr>
          <p:cNvPr id="38" name="Text 31"/>
          <p:cNvSpPr/>
          <p:nvPr/>
        </p:nvSpPr>
        <p:spPr>
          <a:xfrm>
            <a:off x="4505175" y="4033391"/>
            <a:ext cx="713634" cy="350490"/>
          </a:xfrm>
          <a:prstGeom prst="roundRect">
            <a:avLst>
              <a:gd name="adj" fmla="val 14132"/>
            </a:avLst>
          </a:prstGeom>
          <a:solidFill>
            <a:srgbClr val="C5A55A"/>
          </a:solidFill>
          <a:ln w="9525">
            <a:solidFill>
              <a:srgbClr val="B8963E"/>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RegressionModel</a:t>
            </a:r>
            <a:endParaRPr lang="en-US" sz="1200" dirty="0"/>
          </a:p>
        </p:txBody>
      </p:sp>
      <p:sp>
        <p:nvSpPr>
          <p:cNvPr id="39" name="Text 32"/>
          <p:cNvSpPr/>
          <p:nvPr/>
        </p:nvSpPr>
        <p:spPr>
          <a:xfrm>
            <a:off x="5440561" y="4033391"/>
            <a:ext cx="7590" cy="342900"/>
          </a:xfrm>
          <a:prstGeom prst="roundRect">
            <a:avLst>
              <a:gd name="adj" fmla="val 100395"/>
            </a:avLst>
          </a:prstGeom>
          <a:solidFill>
            <a:srgbClr val="C5A55A">
              <a:alpha val="30000"/>
            </a:srgbClr>
          </a:solidFill>
          <a:ln/>
        </p:spPr>
        <p:txBody>
          <a:bodyPr wrap="square" rtlCol="0" anchor="t"/>
          <a:lstStyle/>
          <a:p>
            <a:pPr marL="0" indent="0">
              <a:buNone/>
            </a:pPr>
            <a:endParaRPr lang="en-US" dirty="0"/>
          </a:p>
        </p:txBody>
      </p:sp>
      <p:sp>
        <p:nvSpPr>
          <p:cNvPr id="40" name="Text 33"/>
          <p:cNvSpPr/>
          <p:nvPr/>
        </p:nvSpPr>
        <p:spPr>
          <a:xfrm>
            <a:off x="5660868" y="4119860"/>
            <a:ext cx="845856" cy="228600"/>
          </a:xfrm>
          <a:prstGeom prst="roundRect">
            <a:avLst>
              <a:gd name="adj" fmla="val 21667"/>
            </a:avLst>
          </a:prstGeom>
          <a:solidFill>
            <a:srgbClr val="FFFFFF"/>
          </a:solidFill>
          <a:ln w="9525">
            <a:solidFill>
              <a:srgbClr val="C5A55A"/>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1B2A4A"/>
                </a:solidFill>
                <a:latin typeface="Calibri" pitchFamily="34" charset="0"/>
                <a:ea typeface="Calibri" pitchFamily="34" charset="-122"/>
                <a:cs typeface="Calibri" pitchFamily="34" charset="-120"/>
              </a:rPr>
              <a:t>Fraud Dataset</a:t>
            </a:r>
            <a:endParaRPr lang="en-US" sz="1200" dirty="0"/>
          </a:p>
        </p:txBody>
      </p:sp>
      <p:pic>
        <p:nvPicPr>
          <p:cNvPr id="4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47991" y="4191000"/>
            <a:ext cx="149721" cy="86320"/>
          </a:xfrm>
          <a:prstGeom prst="rect">
            <a:avLst/>
          </a:prstGeom>
        </p:spPr>
      </p:pic>
      <p:sp>
        <p:nvSpPr>
          <p:cNvPr id="42" name="Text 34"/>
          <p:cNvSpPr/>
          <p:nvPr/>
        </p:nvSpPr>
        <p:spPr>
          <a:xfrm>
            <a:off x="6734659" y="4033391"/>
            <a:ext cx="648965" cy="228600"/>
          </a:xfrm>
          <a:prstGeom prst="roundRect">
            <a:avLst>
              <a:gd name="adj" fmla="val 21667"/>
            </a:avLst>
          </a:prstGeom>
          <a:solidFill>
            <a:srgbClr val="F3EFE5"/>
          </a:solidFill>
          <a:ln w="9525">
            <a:solidFill>
              <a:srgbClr val="D4C89E"/>
            </a:solidFill>
          </a:ln>
          <a:effectLst>
            <a:outerShdw blurRad="29210" dist="50800" dir="16200000" algn="bl" rotWithShape="0">
              <a:srgbClr val="000000">
                <a:alpha val="6000"/>
              </a:srgbClr>
            </a:outerShdw>
          </a:effectLst>
        </p:spPr>
        <p:txBody>
          <a:bodyPr wrap="none" lIns="100330" tIns="49530" rIns="100330" bIns="49530" rtlCol="0" anchor="t"/>
          <a:lstStyle/>
          <a:p>
            <a:pPr marL="0" indent="0" algn="ctr">
              <a:buNone/>
            </a:pPr>
            <a:r>
              <a:rPr lang="en-US" sz="680" b="1" dirty="0">
                <a:solidFill>
                  <a:srgbClr val="5A6A8A"/>
                </a:solidFill>
                <a:latin typeface="Calibri" pitchFamily="34" charset="0"/>
                <a:ea typeface="Calibri" pitchFamily="34" charset="-122"/>
                <a:cs typeface="Calibri" pitchFamily="34" charset="-120"/>
              </a:rPr>
              <a:t>EDA Only</a:t>
            </a:r>
            <a:endParaRPr lang="en-US" sz="1200" dirty="0"/>
          </a:p>
        </p:txBody>
      </p:sp>
      <p:sp>
        <p:nvSpPr>
          <p:cNvPr id="43" name="Text 35"/>
          <p:cNvSpPr/>
          <p:nvPr/>
        </p:nvSpPr>
        <p:spPr>
          <a:xfrm>
            <a:off x="6803938" y="4330898"/>
            <a:ext cx="518145" cy="112365"/>
          </a:xfrm>
          <a:prstGeom prst="rect">
            <a:avLst/>
          </a:prstGeom>
          <a:noFill/>
          <a:ln/>
        </p:spPr>
        <p:txBody>
          <a:bodyPr wrap="none" lIns="0" tIns="0" rIns="0" bIns="0" rtlCol="0" anchor="t"/>
          <a:lstStyle/>
          <a:p>
            <a:pPr marL="0" indent="0" algn="ctr">
              <a:lnSpc>
                <a:spcPts val="885"/>
              </a:lnSpc>
              <a:spcBef>
                <a:spcPts val="170"/>
              </a:spcBef>
              <a:buNone/>
            </a:pPr>
            <a:r>
              <a:rPr lang="en-US" sz="560" dirty="0">
                <a:solidFill>
                  <a:srgbClr val="5A6A8A"/>
                </a:solidFill>
                <a:latin typeface="Calibri" pitchFamily="34" charset="0"/>
                <a:ea typeface="Calibri" pitchFamily="34" charset="-122"/>
                <a:cs typeface="Calibri" pitchFamily="34" charset="-120"/>
              </a:rPr>
              <a:t>(not merged)</a:t>
            </a:r>
            <a:endParaRPr lang="en-US" sz="1200" dirty="0"/>
          </a:p>
        </p:txBody>
      </p:sp>
      <p:sp>
        <p:nvSpPr>
          <p:cNvPr id="44" name="Text 14">
            <a:extLst>
              <a:ext uri="{FF2B5EF4-FFF2-40B4-BE49-F238E27FC236}">
                <a16:creationId xmlns:a16="http://schemas.microsoft.com/office/drawing/2014/main" id="{4C156198-9ECB-EB87-0CD2-CEEE7785E691}"/>
              </a:ext>
            </a:extLst>
          </p:cNvPr>
          <p:cNvSpPr/>
          <p:nvPr/>
        </p:nvSpPr>
        <p:spPr>
          <a:xfrm>
            <a:off x="3285855" y="2901920"/>
            <a:ext cx="3865908" cy="278011"/>
          </a:xfrm>
          <a:prstGeom prst="roundRect">
            <a:avLst>
              <a:gd name="adj" fmla="val 17037"/>
            </a:avLst>
          </a:prstGeom>
          <a:solidFill>
            <a:srgbClr val="C5A55A">
              <a:alpha val="13000"/>
            </a:srgbClr>
          </a:solidFill>
          <a:ln w="9525">
            <a:solidFill>
              <a:srgbClr val="C5A55A">
                <a:alpha val="35000"/>
              </a:srgbClr>
            </a:solidFill>
          </a:ln>
        </p:spPr>
        <p:txBody>
          <a:bodyPr wrap="none" lIns="0" tIns="0" rIns="0" bIns="0" rtlCol="0" anchor="ctr"/>
          <a:lstStyle/>
          <a:p>
            <a:r>
              <a:rPr lang="en-US" sz="680" dirty="0">
                <a:solidFill>
                  <a:srgbClr val="8B7230"/>
                </a:solidFill>
                <a:latin typeface="Consolas" panose="020B0609020204030204" pitchFamily="49" charset="0"/>
              </a:rPr>
              <a:t>https://www.kaggle.com/datasets/barkataliarbab/fraud-detection-transactions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533400" y="448270"/>
            <a:ext cx="9689559" cy="428625"/>
          </a:xfrm>
          <a:prstGeom prst="rect">
            <a:avLst/>
          </a:prstGeom>
          <a:noFill/>
          <a:ln/>
        </p:spPr>
        <p:txBody>
          <a:bodyPr wrap="none" lIns="0" tIns="0" rIns="0" bIns="0" rtlCol="0" anchor="t"/>
          <a:lstStyle/>
          <a:p>
            <a:pPr marL="0" indent="0" algn="l">
              <a:lnSpc>
                <a:spcPts val="3375"/>
              </a:lnSpc>
              <a:buNone/>
            </a:pPr>
            <a:r>
              <a:rPr lang="en-US" sz="2250" dirty="0">
                <a:solidFill>
                  <a:srgbClr val="1B2A4A"/>
                </a:solidFill>
                <a:latin typeface="Calibri Light" pitchFamily="34" charset="0"/>
                <a:ea typeface="Calibri Light" pitchFamily="34" charset="-122"/>
                <a:cs typeface="Calibri Light" pitchFamily="34" charset="-120"/>
              </a:rPr>
              <a:t>Data Cleaning</a:t>
            </a:r>
            <a:endParaRPr lang="en-US" sz="1200" dirty="0"/>
          </a:p>
        </p:txBody>
      </p:sp>
      <p:sp>
        <p:nvSpPr>
          <p:cNvPr id="4" name="Text 2"/>
          <p:cNvSpPr/>
          <p:nvPr/>
        </p:nvSpPr>
        <p:spPr>
          <a:xfrm>
            <a:off x="533400" y="947291"/>
            <a:ext cx="457200" cy="13841"/>
          </a:xfrm>
          <a:prstGeom prst="roundRect">
            <a:avLst>
              <a:gd name="adj" fmla="val 55054"/>
            </a:avLst>
          </a:prstGeom>
          <a:solidFill>
            <a:srgbClr val="C5A55A"/>
          </a:solidFill>
          <a:ln/>
        </p:spPr>
        <p:txBody>
          <a:bodyPr wrap="none" rtlCol="0" anchor="t"/>
          <a:lstStyle/>
          <a:p>
            <a:pPr marL="0" indent="0">
              <a:buNone/>
            </a:pPr>
            <a:endParaRPr lang="en-US" dirty="0"/>
          </a:p>
        </p:txBody>
      </p:sp>
      <p:sp>
        <p:nvSpPr>
          <p:cNvPr id="5" name="Text 3"/>
          <p:cNvSpPr/>
          <p:nvPr/>
        </p:nvSpPr>
        <p:spPr>
          <a:xfrm>
            <a:off x="533400" y="1234380"/>
            <a:ext cx="9956408" cy="182910"/>
          </a:xfrm>
          <a:prstGeom prst="rect">
            <a:avLst/>
          </a:prstGeom>
          <a:noFill/>
          <a:ln/>
        </p:spPr>
        <p:txBody>
          <a:bodyPr wrap="none" lIns="0" tIns="0" rIns="0" bIns="0" rtlCol="0" anchor="t"/>
          <a:lstStyle/>
          <a:p>
            <a:pPr marL="0" indent="0" algn="l">
              <a:lnSpc>
                <a:spcPts val="1440"/>
              </a:lnSpc>
              <a:spcBef>
                <a:spcPts val="790"/>
              </a:spcBef>
              <a:spcAft>
                <a:spcPts val="2030"/>
              </a:spcAft>
              <a:buNone/>
            </a:pPr>
            <a:r>
              <a:rPr lang="en-US" sz="960" dirty="0">
                <a:solidFill>
                  <a:srgbClr val="5A6A85"/>
                </a:solidFill>
                <a:latin typeface="Calibri" pitchFamily="34" charset="0"/>
                <a:ea typeface="Calibri" pitchFamily="34" charset="-122"/>
                <a:cs typeface="Calibri" pitchFamily="34" charset="-120"/>
              </a:rPr>
              <a:t>Systematic steps to ensure data quality, consistency, and readiness for analysis.</a:t>
            </a:r>
            <a:endParaRPr lang="en-US" sz="1200" dirty="0"/>
          </a:p>
        </p:txBody>
      </p:sp>
      <p:sp>
        <p:nvSpPr>
          <p:cNvPr id="6" name="Text 4"/>
          <p:cNvSpPr/>
          <p:nvPr/>
        </p:nvSpPr>
        <p:spPr>
          <a:xfrm>
            <a:off x="925711" y="1575941"/>
            <a:ext cx="1657350" cy="1964680"/>
          </a:xfrm>
          <a:prstGeom prst="roundRect">
            <a:avLst>
              <a:gd name="adj" fmla="val 4291"/>
            </a:avLst>
          </a:prstGeom>
          <a:solidFill>
            <a:srgbClr val="F5F7FA"/>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7" name="Text 5"/>
          <p:cNvSpPr/>
          <p:nvPr/>
        </p:nvSpPr>
        <p:spPr>
          <a:xfrm>
            <a:off x="1083171" y="1776710"/>
            <a:ext cx="392415" cy="299740"/>
          </a:xfrm>
          <a:prstGeom prst="rect">
            <a:avLst/>
          </a:prstGeom>
          <a:noFill/>
          <a:ln/>
        </p:spPr>
        <p:txBody>
          <a:bodyPr wrap="none" lIns="0" tIns="0" rIns="0" bIns="0" rtlCol="0" anchor="t"/>
          <a:lstStyle/>
          <a:p>
            <a:pPr marL="0" indent="0" algn="l">
              <a:lnSpc>
                <a:spcPts val="2360"/>
              </a:lnSpc>
              <a:buNone/>
            </a:pPr>
            <a:r>
              <a:rPr lang="en-US" sz="2360" dirty="0">
                <a:solidFill>
                  <a:srgbClr val="C5A55A"/>
                </a:solidFill>
                <a:latin typeface="Calibri Light" pitchFamily="34" charset="0"/>
                <a:ea typeface="Calibri Light" pitchFamily="34" charset="-122"/>
                <a:cs typeface="Calibri Light" pitchFamily="34" charset="-120"/>
              </a:rPr>
              <a:t>01</a:t>
            </a:r>
            <a:endParaRPr lang="en-US" sz="12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321" y="2198340"/>
            <a:ext cx="163711" cy="163711"/>
          </a:xfrm>
          <a:prstGeom prst="rect">
            <a:avLst/>
          </a:prstGeom>
        </p:spPr>
      </p:pic>
      <p:sp>
        <p:nvSpPr>
          <p:cNvPr id="9" name="Text 6"/>
          <p:cNvSpPr/>
          <p:nvPr/>
        </p:nvSpPr>
        <p:spPr>
          <a:xfrm>
            <a:off x="1083171" y="2519660"/>
            <a:ext cx="1517109" cy="169813"/>
          </a:xfrm>
          <a:prstGeom prst="rect">
            <a:avLst/>
          </a:prstGeom>
          <a:noFill/>
          <a:ln/>
        </p:spPr>
        <p:txBody>
          <a:bodyPr wrap="none" lIns="0" tIns="0" rIns="0" bIns="0" rtlCol="0" anchor="t"/>
          <a:lstStyle/>
          <a:p>
            <a:pPr marL="0" indent="0" algn="l">
              <a:lnSpc>
                <a:spcPts val="1337"/>
              </a:lnSpc>
              <a:buNone/>
            </a:pPr>
            <a:r>
              <a:rPr lang="en-US" sz="1070" b="1" dirty="0">
                <a:solidFill>
                  <a:srgbClr val="1B2A4A"/>
                </a:solidFill>
                <a:latin typeface="Calibri Light" pitchFamily="34" charset="0"/>
                <a:ea typeface="Calibri Light" pitchFamily="34" charset="-122"/>
                <a:cs typeface="Calibri Light" pitchFamily="34" charset="-120"/>
              </a:rPr>
              <a:t>Remove Duplicates</a:t>
            </a:r>
            <a:endParaRPr lang="en-US" sz="1200" dirty="0"/>
          </a:p>
        </p:txBody>
      </p:sp>
      <p:sp>
        <p:nvSpPr>
          <p:cNvPr id="10" name="Text 7"/>
          <p:cNvSpPr/>
          <p:nvPr/>
        </p:nvSpPr>
        <p:spPr>
          <a:xfrm>
            <a:off x="1083171" y="2740521"/>
            <a:ext cx="1399032" cy="656332"/>
          </a:xfrm>
          <a:prstGeom prst="rect">
            <a:avLst/>
          </a:prstGeom>
          <a:noFill/>
          <a:ln/>
        </p:spPr>
        <p:txBody>
          <a:bodyPr wrap="square" lIns="0" tIns="0" rIns="0" bIns="0" rtlCol="0" anchor="t"/>
          <a:lstStyle/>
          <a:p>
            <a:pPr marL="0" indent="0" algn="l">
              <a:lnSpc>
                <a:spcPts val="1230"/>
              </a:lnSpc>
              <a:buNone/>
            </a:pPr>
            <a:r>
              <a:rPr lang="en-US" sz="840" dirty="0">
                <a:solidFill>
                  <a:srgbClr val="5A6A85"/>
                </a:solidFill>
                <a:latin typeface="Calibri" pitchFamily="34" charset="0"/>
                <a:ea typeface="Calibri" pitchFamily="34" charset="-122"/>
                <a:cs typeface="Calibri" pitchFamily="34" charset="-120"/>
              </a:rPr>
              <a:t>Identify and remove duplicate records to eliminate redundancy and prevent skewed results.</a:t>
            </a:r>
            <a:endParaRPr lang="en-US" sz="12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5540" y="1569690"/>
            <a:ext cx="135880" cy="135880"/>
          </a:xfrm>
          <a:prstGeom prst="rect">
            <a:avLst/>
          </a:prstGeom>
        </p:spPr>
      </p:pic>
      <p:sp>
        <p:nvSpPr>
          <p:cNvPr id="12" name="Text 8"/>
          <p:cNvSpPr/>
          <p:nvPr/>
        </p:nvSpPr>
        <p:spPr>
          <a:xfrm>
            <a:off x="2854821" y="1575941"/>
            <a:ext cx="1657350" cy="2136130"/>
          </a:xfrm>
          <a:prstGeom prst="roundRect">
            <a:avLst>
              <a:gd name="adj" fmla="val 4291"/>
            </a:avLst>
          </a:prstGeom>
          <a:solidFill>
            <a:srgbClr val="F5F7FA"/>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13" name="Text 9"/>
          <p:cNvSpPr/>
          <p:nvPr/>
        </p:nvSpPr>
        <p:spPr>
          <a:xfrm>
            <a:off x="3012430" y="1776710"/>
            <a:ext cx="392415" cy="299740"/>
          </a:xfrm>
          <a:prstGeom prst="rect">
            <a:avLst/>
          </a:prstGeom>
          <a:noFill/>
          <a:ln/>
        </p:spPr>
        <p:txBody>
          <a:bodyPr wrap="none" lIns="0" tIns="0" rIns="0" bIns="0" rtlCol="0" anchor="t"/>
          <a:lstStyle/>
          <a:p>
            <a:pPr marL="0" indent="0" algn="l">
              <a:lnSpc>
                <a:spcPts val="2360"/>
              </a:lnSpc>
              <a:buNone/>
            </a:pPr>
            <a:r>
              <a:rPr lang="en-US" sz="2360" dirty="0">
                <a:solidFill>
                  <a:srgbClr val="C5A55A"/>
                </a:solidFill>
                <a:latin typeface="Calibri Light" pitchFamily="34" charset="0"/>
                <a:ea typeface="Calibri Light" pitchFamily="34" charset="-122"/>
                <a:cs typeface="Calibri Light" pitchFamily="34" charset="-120"/>
              </a:rPr>
              <a:t>02</a:t>
            </a:r>
            <a:endParaRPr lang="en-US" sz="12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69580" y="2198340"/>
            <a:ext cx="163711" cy="163711"/>
          </a:xfrm>
          <a:prstGeom prst="rect">
            <a:avLst/>
          </a:prstGeom>
        </p:spPr>
      </p:pic>
      <p:sp>
        <p:nvSpPr>
          <p:cNvPr id="15" name="Text 10"/>
          <p:cNvSpPr/>
          <p:nvPr/>
        </p:nvSpPr>
        <p:spPr>
          <a:xfrm>
            <a:off x="3012430" y="2519660"/>
            <a:ext cx="1399032" cy="356607"/>
          </a:xfrm>
          <a:prstGeom prst="rect">
            <a:avLst/>
          </a:prstGeom>
          <a:noFill/>
          <a:ln/>
        </p:spPr>
        <p:txBody>
          <a:bodyPr wrap="square" lIns="0" tIns="0" rIns="0" bIns="0" rtlCol="0" anchor="t"/>
          <a:lstStyle/>
          <a:p>
            <a:pPr marL="0" indent="0" algn="l">
              <a:lnSpc>
                <a:spcPts val="1337"/>
              </a:lnSpc>
              <a:buNone/>
            </a:pPr>
            <a:r>
              <a:rPr lang="en-US" sz="1070" b="1" dirty="0">
                <a:solidFill>
                  <a:srgbClr val="1B2A4A"/>
                </a:solidFill>
                <a:latin typeface="Calibri Light" pitchFamily="34" charset="0"/>
                <a:ea typeface="Calibri Light" pitchFamily="34" charset="-122"/>
                <a:cs typeface="Calibri Light" pitchFamily="34" charset="-120"/>
              </a:rPr>
              <a:t>Handle Missing Values</a:t>
            </a:r>
            <a:endParaRPr lang="en-US" sz="1200" dirty="0"/>
          </a:p>
        </p:txBody>
      </p:sp>
      <p:sp>
        <p:nvSpPr>
          <p:cNvPr id="16" name="Text 11"/>
          <p:cNvSpPr/>
          <p:nvPr/>
        </p:nvSpPr>
        <p:spPr>
          <a:xfrm>
            <a:off x="3012430" y="2911971"/>
            <a:ext cx="1399032" cy="656332"/>
          </a:xfrm>
          <a:prstGeom prst="rect">
            <a:avLst/>
          </a:prstGeom>
          <a:noFill/>
          <a:ln/>
        </p:spPr>
        <p:txBody>
          <a:bodyPr wrap="square" lIns="0" tIns="0" rIns="0" bIns="0" rtlCol="0" anchor="t"/>
          <a:lstStyle/>
          <a:p>
            <a:pPr marL="0" indent="0" algn="l">
              <a:lnSpc>
                <a:spcPts val="1230"/>
              </a:lnSpc>
              <a:buNone/>
            </a:pPr>
            <a:r>
              <a:rPr lang="en-US" sz="840" dirty="0">
                <a:solidFill>
                  <a:srgbClr val="5A6A85"/>
                </a:solidFill>
                <a:latin typeface="Calibri" pitchFamily="34" charset="0"/>
                <a:ea typeface="Calibri" pitchFamily="34" charset="-122"/>
                <a:cs typeface="Calibri" pitchFamily="34" charset="-120"/>
              </a:rPr>
              <a:t>Impute, interpolate, or remove missing data points using appropriate strategies for each variable.</a:t>
            </a:r>
            <a:endParaRPr lang="en-US" sz="12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83311" y="1569690"/>
            <a:ext cx="135880" cy="135880"/>
          </a:xfrm>
          <a:prstGeom prst="rect">
            <a:avLst/>
          </a:prstGeom>
        </p:spPr>
      </p:pic>
      <p:sp>
        <p:nvSpPr>
          <p:cNvPr id="18" name="Text 12"/>
          <p:cNvSpPr/>
          <p:nvPr/>
        </p:nvSpPr>
        <p:spPr>
          <a:xfrm>
            <a:off x="4784080" y="1575941"/>
            <a:ext cx="1657350" cy="2122140"/>
          </a:xfrm>
          <a:prstGeom prst="roundRect">
            <a:avLst>
              <a:gd name="adj" fmla="val 4291"/>
            </a:avLst>
          </a:prstGeom>
          <a:solidFill>
            <a:srgbClr val="F5F7FA"/>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19" name="Text 13"/>
          <p:cNvSpPr/>
          <p:nvPr/>
        </p:nvSpPr>
        <p:spPr>
          <a:xfrm>
            <a:off x="4941540" y="1776710"/>
            <a:ext cx="392415" cy="299740"/>
          </a:xfrm>
          <a:prstGeom prst="rect">
            <a:avLst/>
          </a:prstGeom>
          <a:noFill/>
          <a:ln/>
        </p:spPr>
        <p:txBody>
          <a:bodyPr wrap="none" lIns="0" tIns="0" rIns="0" bIns="0" rtlCol="0" anchor="t"/>
          <a:lstStyle/>
          <a:p>
            <a:pPr marL="0" indent="0" algn="l">
              <a:lnSpc>
                <a:spcPts val="2360"/>
              </a:lnSpc>
              <a:buNone/>
            </a:pPr>
            <a:r>
              <a:rPr lang="en-US" sz="2360" dirty="0">
                <a:solidFill>
                  <a:srgbClr val="C5A55A"/>
                </a:solidFill>
                <a:latin typeface="Calibri Light" pitchFamily="34" charset="0"/>
                <a:ea typeface="Calibri Light" pitchFamily="34" charset="-122"/>
                <a:cs typeface="Calibri Light" pitchFamily="34" charset="-120"/>
              </a:rPr>
              <a:t>03</a:t>
            </a:r>
            <a:endParaRPr lang="en-US" sz="12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98690" y="2198340"/>
            <a:ext cx="163711" cy="163711"/>
          </a:xfrm>
          <a:prstGeom prst="rect">
            <a:avLst/>
          </a:prstGeom>
        </p:spPr>
      </p:pic>
      <p:sp>
        <p:nvSpPr>
          <p:cNvPr id="21" name="Text 14"/>
          <p:cNvSpPr/>
          <p:nvPr/>
        </p:nvSpPr>
        <p:spPr>
          <a:xfrm>
            <a:off x="4941540" y="2519660"/>
            <a:ext cx="1625977" cy="169813"/>
          </a:xfrm>
          <a:prstGeom prst="rect">
            <a:avLst/>
          </a:prstGeom>
          <a:noFill/>
          <a:ln/>
        </p:spPr>
        <p:txBody>
          <a:bodyPr wrap="none" lIns="0" tIns="0" rIns="0" bIns="0" rtlCol="0" anchor="t"/>
          <a:lstStyle/>
          <a:p>
            <a:pPr marL="0" indent="0" algn="l">
              <a:lnSpc>
                <a:spcPts val="1337"/>
              </a:lnSpc>
              <a:buNone/>
            </a:pPr>
            <a:r>
              <a:rPr lang="en-US" sz="1070" b="1" dirty="0">
                <a:solidFill>
                  <a:srgbClr val="1B2A4A"/>
                </a:solidFill>
                <a:latin typeface="Calibri Light" pitchFamily="34" charset="0"/>
                <a:ea typeface="Calibri Light" pitchFamily="34" charset="-122"/>
                <a:cs typeface="Calibri Light" pitchFamily="34" charset="-120"/>
              </a:rPr>
              <a:t>Standardize Formats</a:t>
            </a:r>
            <a:endParaRPr lang="en-US" sz="1200" dirty="0"/>
          </a:p>
        </p:txBody>
      </p:sp>
      <p:sp>
        <p:nvSpPr>
          <p:cNvPr id="22" name="Text 15"/>
          <p:cNvSpPr/>
          <p:nvPr/>
        </p:nvSpPr>
        <p:spPr>
          <a:xfrm>
            <a:off x="4941540" y="2740521"/>
            <a:ext cx="1399032" cy="820415"/>
          </a:xfrm>
          <a:prstGeom prst="rect">
            <a:avLst/>
          </a:prstGeom>
          <a:noFill/>
          <a:ln/>
        </p:spPr>
        <p:txBody>
          <a:bodyPr wrap="square" lIns="0" tIns="0" rIns="0" bIns="0" rtlCol="0" anchor="t"/>
          <a:lstStyle/>
          <a:p>
            <a:pPr marL="0" indent="0" algn="l">
              <a:lnSpc>
                <a:spcPts val="1230"/>
              </a:lnSpc>
              <a:buNone/>
            </a:pPr>
            <a:r>
              <a:rPr lang="en-US" sz="840" dirty="0">
                <a:solidFill>
                  <a:srgbClr val="5A6A85"/>
                </a:solidFill>
                <a:latin typeface="Calibri" pitchFamily="34" charset="0"/>
                <a:ea typeface="Calibri" pitchFamily="34" charset="-122"/>
                <a:cs typeface="Calibri" pitchFamily="34" charset="-120"/>
              </a:rPr>
              <a:t>Normalize date formats, text casing, units of measurement, and categorical labels for consistency.</a:t>
            </a:r>
            <a:endParaRPr lang="en-US" sz="1200" dirty="0"/>
          </a:p>
        </p:txBody>
      </p:sp>
      <p:pic>
        <p:nvPicPr>
          <p:cNvPr id="2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12421" y="1569690"/>
            <a:ext cx="135880" cy="135880"/>
          </a:xfrm>
          <a:prstGeom prst="rect">
            <a:avLst/>
          </a:prstGeom>
        </p:spPr>
      </p:pic>
      <p:sp>
        <p:nvSpPr>
          <p:cNvPr id="24" name="Text 16"/>
          <p:cNvSpPr/>
          <p:nvPr/>
        </p:nvSpPr>
        <p:spPr>
          <a:xfrm>
            <a:off x="6713190" y="1575941"/>
            <a:ext cx="1657350" cy="1964680"/>
          </a:xfrm>
          <a:prstGeom prst="roundRect">
            <a:avLst>
              <a:gd name="adj" fmla="val 4291"/>
            </a:avLst>
          </a:prstGeom>
          <a:solidFill>
            <a:srgbClr val="F5F7FA"/>
          </a:solidFill>
          <a:ln/>
          <a:effectLst>
            <a:outerShdw blurRad="29210" dist="50800" dir="16200000" algn="bl" rotWithShape="0">
              <a:srgbClr val="000000">
                <a:alpha val="6000"/>
              </a:srgbClr>
            </a:outerShdw>
          </a:effectLst>
        </p:spPr>
        <p:txBody>
          <a:bodyPr wrap="square" rtlCol="0" anchor="t"/>
          <a:lstStyle/>
          <a:p>
            <a:pPr marL="0" indent="0">
              <a:buNone/>
            </a:pPr>
            <a:endParaRPr lang="en-US" dirty="0"/>
          </a:p>
        </p:txBody>
      </p:sp>
      <p:sp>
        <p:nvSpPr>
          <p:cNvPr id="25" name="Text 17"/>
          <p:cNvSpPr/>
          <p:nvPr/>
        </p:nvSpPr>
        <p:spPr>
          <a:xfrm>
            <a:off x="6869311" y="1776710"/>
            <a:ext cx="392415" cy="299740"/>
          </a:xfrm>
          <a:prstGeom prst="rect">
            <a:avLst/>
          </a:prstGeom>
          <a:noFill/>
          <a:ln/>
        </p:spPr>
        <p:txBody>
          <a:bodyPr wrap="none" lIns="0" tIns="0" rIns="0" bIns="0" rtlCol="0" anchor="t"/>
          <a:lstStyle/>
          <a:p>
            <a:pPr marL="0" indent="0" algn="l">
              <a:lnSpc>
                <a:spcPts val="2360"/>
              </a:lnSpc>
              <a:buNone/>
            </a:pPr>
            <a:r>
              <a:rPr lang="en-US" sz="2360" dirty="0">
                <a:solidFill>
                  <a:srgbClr val="C5A55A"/>
                </a:solidFill>
                <a:latin typeface="Calibri Light" pitchFamily="34" charset="0"/>
                <a:ea typeface="Calibri Light" pitchFamily="34" charset="-122"/>
                <a:cs typeface="Calibri Light" pitchFamily="34" charset="-120"/>
              </a:rPr>
              <a:t>04</a:t>
            </a:r>
            <a:endParaRPr lang="en-US" sz="1200" dirty="0"/>
          </a:p>
        </p:txBody>
      </p:sp>
      <p:pic>
        <p:nvPicPr>
          <p:cNvPr id="2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26461" y="2198340"/>
            <a:ext cx="163711" cy="163711"/>
          </a:xfrm>
          <a:prstGeom prst="rect">
            <a:avLst/>
          </a:prstGeom>
        </p:spPr>
      </p:pic>
      <p:sp>
        <p:nvSpPr>
          <p:cNvPr id="27" name="Text 18"/>
          <p:cNvSpPr/>
          <p:nvPr/>
        </p:nvSpPr>
        <p:spPr>
          <a:xfrm>
            <a:off x="6869311" y="2519660"/>
            <a:ext cx="1281038" cy="169813"/>
          </a:xfrm>
          <a:prstGeom prst="rect">
            <a:avLst/>
          </a:prstGeom>
          <a:noFill/>
          <a:ln/>
        </p:spPr>
        <p:txBody>
          <a:bodyPr wrap="none" lIns="0" tIns="0" rIns="0" bIns="0" rtlCol="0" anchor="t"/>
          <a:lstStyle/>
          <a:p>
            <a:pPr marL="0" indent="0" algn="l">
              <a:lnSpc>
                <a:spcPts val="1337"/>
              </a:lnSpc>
              <a:buNone/>
            </a:pPr>
            <a:r>
              <a:rPr lang="en-US" sz="1070" b="1" dirty="0">
                <a:solidFill>
                  <a:srgbClr val="1B2A4A"/>
                </a:solidFill>
                <a:latin typeface="Calibri Light" pitchFamily="34" charset="0"/>
                <a:ea typeface="Calibri Light" pitchFamily="34" charset="-122"/>
                <a:cs typeface="Calibri Light" pitchFamily="34" charset="-120"/>
              </a:rPr>
              <a:t>Validate &amp; Verify</a:t>
            </a:r>
            <a:endParaRPr lang="en-US" sz="1200" dirty="0"/>
          </a:p>
        </p:txBody>
      </p:sp>
      <p:sp>
        <p:nvSpPr>
          <p:cNvPr id="28" name="Text 19"/>
          <p:cNvSpPr/>
          <p:nvPr/>
        </p:nvSpPr>
        <p:spPr>
          <a:xfrm>
            <a:off x="6869311" y="2740521"/>
            <a:ext cx="1399032" cy="656332"/>
          </a:xfrm>
          <a:prstGeom prst="rect">
            <a:avLst/>
          </a:prstGeom>
          <a:noFill/>
          <a:ln/>
        </p:spPr>
        <p:txBody>
          <a:bodyPr wrap="square" lIns="0" tIns="0" rIns="0" bIns="0" rtlCol="0" anchor="t"/>
          <a:lstStyle/>
          <a:p>
            <a:pPr marL="0" indent="0" algn="l">
              <a:lnSpc>
                <a:spcPts val="1230"/>
              </a:lnSpc>
              <a:buNone/>
            </a:pPr>
            <a:r>
              <a:rPr lang="en-US" sz="840" dirty="0">
                <a:solidFill>
                  <a:srgbClr val="5A6A85"/>
                </a:solidFill>
                <a:latin typeface="Calibri" pitchFamily="34" charset="0"/>
                <a:ea typeface="Calibri" pitchFamily="34" charset="-122"/>
                <a:cs typeface="Calibri" pitchFamily="34" charset="-120"/>
              </a:rPr>
              <a:t>Run validation checks, cross-reference sources, and confirm data integrity before downstream analysis.</a:t>
            </a:r>
            <a:endParaRPr lang="en-US" sz="1200" dirty="0"/>
          </a:p>
        </p:txBody>
      </p:sp>
      <p:sp>
        <p:nvSpPr>
          <p:cNvPr id="29" name="Text 20"/>
          <p:cNvSpPr/>
          <p:nvPr/>
        </p:nvSpPr>
        <p:spPr>
          <a:xfrm>
            <a:off x="533400" y="4890641"/>
            <a:ext cx="8229600" cy="7590"/>
          </a:xfrm>
          <a:prstGeom prst="rect">
            <a:avLst/>
          </a:prstGeom>
          <a:gradFill rotWithShape="1">
            <a:gsLst>
              <a:gs pos="0">
                <a:srgbClr val="C5A55A"/>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476250" y="361950"/>
            <a:ext cx="10097363" cy="118170"/>
          </a:xfrm>
          <a:prstGeom prst="rect">
            <a:avLst/>
          </a:prstGeom>
          <a:noFill/>
          <a:ln/>
        </p:spPr>
        <p:txBody>
          <a:bodyPr wrap="none" lIns="0" tIns="0" rIns="0" bIns="0" rtlCol="0" anchor="t"/>
          <a:lstStyle/>
          <a:p>
            <a:pPr marL="0" indent="0" algn="l">
              <a:lnSpc>
                <a:spcPts val="930"/>
              </a:lnSpc>
              <a:buNone/>
            </a:pPr>
            <a:r>
              <a:rPr lang="en-US" sz="620" b="1" dirty="0">
                <a:solidFill>
                  <a:srgbClr val="C5A55A"/>
                </a:solidFill>
                <a:latin typeface="Calibri" pitchFamily="34" charset="0"/>
                <a:ea typeface="Calibri" pitchFamily="34" charset="-122"/>
                <a:cs typeface="Calibri" pitchFamily="34" charset="-120"/>
              </a:rPr>
              <a:t>EXPLORATORY DATA ANALYSIS</a:t>
            </a:r>
            <a:endParaRPr lang="en-US" sz="1200" dirty="0"/>
          </a:p>
        </p:txBody>
      </p:sp>
      <p:sp>
        <p:nvSpPr>
          <p:cNvPr id="4" name="Text 2"/>
          <p:cNvSpPr/>
          <p:nvPr/>
        </p:nvSpPr>
        <p:spPr>
          <a:xfrm>
            <a:off x="476250" y="568821"/>
            <a:ext cx="9822165" cy="342900"/>
          </a:xfrm>
          <a:prstGeom prst="rect">
            <a:avLst/>
          </a:prstGeom>
          <a:noFill/>
          <a:ln/>
        </p:spPr>
        <p:txBody>
          <a:bodyPr wrap="none" lIns="0" tIns="0" rIns="0" bIns="0" rtlCol="0" anchor="t"/>
          <a:lstStyle/>
          <a:p>
            <a:pPr marL="0" indent="0" algn="l">
              <a:lnSpc>
                <a:spcPts val="2700"/>
              </a:lnSpc>
              <a:spcBef>
                <a:spcPts val="340"/>
              </a:spcBef>
              <a:buNone/>
            </a:pPr>
            <a:r>
              <a:rPr lang="en-US" sz="1800" dirty="0">
                <a:solidFill>
                  <a:srgbClr val="1B2A4A"/>
                </a:solidFill>
                <a:latin typeface="Calibri Light" pitchFamily="34" charset="0"/>
                <a:ea typeface="Calibri Light" pitchFamily="34" charset="-122"/>
                <a:cs typeface="Calibri Light" pitchFamily="34" charset="-120"/>
              </a:rPr>
              <a:t>Annual SAR Filing Trend</a:t>
            </a:r>
            <a:endParaRPr lang="en-US" sz="1200" dirty="0"/>
          </a:p>
        </p:txBody>
      </p:sp>
      <p:sp>
        <p:nvSpPr>
          <p:cNvPr id="5" name="Text 3"/>
          <p:cNvSpPr/>
          <p:nvPr/>
        </p:nvSpPr>
        <p:spPr>
          <a:xfrm>
            <a:off x="476250" y="911721"/>
            <a:ext cx="571500" cy="7590"/>
          </a:xfrm>
          <a:prstGeom prst="rect">
            <a:avLst/>
          </a:prstGeom>
          <a:solidFill>
            <a:srgbClr val="C5A55A"/>
          </a:solidFill>
          <a:ln/>
        </p:spPr>
        <p:txBody>
          <a:bodyPr wrap="non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6250" y="1090910"/>
            <a:ext cx="6258520" cy="1821061"/>
          </a:xfrm>
          <a:prstGeom prst="rect">
            <a:avLst/>
          </a:prstGeom>
        </p:spPr>
      </p:pic>
      <p:sp>
        <p:nvSpPr>
          <p:cNvPr id="7" name="Text 4"/>
          <p:cNvSpPr/>
          <p:nvPr/>
        </p:nvSpPr>
        <p:spPr>
          <a:xfrm>
            <a:off x="476250" y="4226421"/>
            <a:ext cx="2914650" cy="890632"/>
          </a:xfrm>
          <a:prstGeom prst="roundRect">
            <a:avLst>
              <a:gd name="adj" fmla="val 6417"/>
            </a:avLst>
          </a:prstGeom>
          <a:solidFill>
            <a:srgbClr val="F5F7FA"/>
          </a:solidFill>
          <a:ln/>
        </p:spPr>
        <p:txBody>
          <a:bodyPr wrap="square" lIns="114300" tIns="100330" rIns="114300" bIns="100330" rtlCol="0" anchor="t"/>
          <a:lstStyle/>
          <a:p>
            <a:pPr marL="0" indent="0" algn="l">
              <a:buNone/>
            </a:pPr>
            <a:r>
              <a:rPr lang="en-US" sz="790" b="1" dirty="0">
                <a:solidFill>
                  <a:srgbClr val="1B2A4A"/>
                </a:solidFill>
                <a:latin typeface="Calibri Light" pitchFamily="34" charset="0"/>
                <a:ea typeface="Calibri Light" pitchFamily="34" charset="-122"/>
                <a:cs typeface="Calibri Light" pitchFamily="34" charset="-120"/>
              </a:rPr>
              <a:t>Steady Growth</a:t>
            </a:r>
            <a:endParaRPr lang="en-US" sz="790" dirty="0"/>
          </a:p>
          <a:p>
            <a:pPr marL="0" indent="0" algn="l">
              <a:buNone/>
            </a:pPr>
            <a:r>
              <a:rPr lang="en-US" sz="680" dirty="0">
                <a:solidFill>
                  <a:srgbClr val="5A6B8A"/>
                </a:solidFill>
                <a:latin typeface="Calibri" pitchFamily="34" charset="0"/>
                <a:ea typeface="Calibri" pitchFamily="34" charset="-122"/>
                <a:cs typeface="Calibri" pitchFamily="34" charset="-120"/>
              </a:rPr>
              <a:t>SAR filings increased from ~1.04M in 2020 to ~1.25M in 2025, reflecting consistent year-over-year expansion.</a:t>
            </a:r>
            <a:endParaRPr lang="en-US" sz="790" dirty="0"/>
          </a:p>
        </p:txBody>
      </p:sp>
      <p:sp>
        <p:nvSpPr>
          <p:cNvPr id="8" name="Text 5"/>
          <p:cNvSpPr/>
          <p:nvPr/>
        </p:nvSpPr>
        <p:spPr>
          <a:xfrm>
            <a:off x="476250" y="4226421"/>
            <a:ext cx="21580" cy="642491"/>
          </a:xfrm>
          <a:prstGeom prst="rect">
            <a:avLst/>
          </a:prstGeom>
          <a:solidFill>
            <a:srgbClr val="C5A55A"/>
          </a:solidFill>
          <a:ln/>
        </p:spPr>
        <p:txBody>
          <a:bodyPr wrap="square" rtlCol="0" anchor="t"/>
          <a:lstStyle/>
          <a:p>
            <a:pPr marL="0" indent="0">
              <a:buNone/>
            </a:pPr>
            <a:endParaRPr lang="en-US" dirty="0"/>
          </a:p>
        </p:txBody>
      </p:sp>
      <p:sp>
        <p:nvSpPr>
          <p:cNvPr id="9" name="Text 6"/>
          <p:cNvSpPr/>
          <p:nvPr/>
        </p:nvSpPr>
        <p:spPr>
          <a:xfrm>
            <a:off x="3305770" y="4226421"/>
            <a:ext cx="2914650" cy="890632"/>
          </a:xfrm>
          <a:prstGeom prst="roundRect">
            <a:avLst>
              <a:gd name="adj" fmla="val 6417"/>
            </a:avLst>
          </a:prstGeom>
          <a:solidFill>
            <a:srgbClr val="F5F7FA"/>
          </a:solidFill>
          <a:ln/>
        </p:spPr>
        <p:txBody>
          <a:bodyPr wrap="square" lIns="114300" tIns="100330" rIns="114300" bIns="100330" rtlCol="0" anchor="t"/>
          <a:lstStyle/>
          <a:p>
            <a:pPr marL="0" indent="0" algn="l">
              <a:buNone/>
            </a:pPr>
            <a:r>
              <a:rPr lang="en-US" sz="790" b="1" dirty="0">
                <a:solidFill>
                  <a:srgbClr val="1B2A4A"/>
                </a:solidFill>
                <a:latin typeface="Calibri Light" pitchFamily="34" charset="0"/>
                <a:ea typeface="Calibri Light" pitchFamily="34" charset="-122"/>
                <a:cs typeface="Calibri Light" pitchFamily="34" charset="-120"/>
              </a:rPr>
              <a:t>2026 Partial Year</a:t>
            </a:r>
            <a:endParaRPr lang="en-US" sz="790" dirty="0"/>
          </a:p>
          <a:p>
            <a:pPr marL="0" indent="0" algn="l">
              <a:buNone/>
            </a:pPr>
            <a:r>
              <a:rPr lang="en-US" sz="680" dirty="0">
                <a:solidFill>
                  <a:srgbClr val="5A6B8A"/>
                </a:solidFill>
                <a:latin typeface="Calibri" pitchFamily="34" charset="0"/>
                <a:ea typeface="Calibri" pitchFamily="34" charset="-122"/>
                <a:cs typeface="Calibri" pitchFamily="34" charset="-120"/>
              </a:rPr>
              <a:t>656,538 filings reflect incomplete year data through April 2026, not an actual decline in filing volume.</a:t>
            </a:r>
            <a:endParaRPr lang="en-US" sz="790" dirty="0"/>
          </a:p>
        </p:txBody>
      </p:sp>
      <p:sp>
        <p:nvSpPr>
          <p:cNvPr id="10" name="Text 7"/>
          <p:cNvSpPr/>
          <p:nvPr/>
        </p:nvSpPr>
        <p:spPr>
          <a:xfrm>
            <a:off x="3305770" y="4226421"/>
            <a:ext cx="21580" cy="642491"/>
          </a:xfrm>
          <a:prstGeom prst="rect">
            <a:avLst/>
          </a:prstGeom>
          <a:solidFill>
            <a:srgbClr val="C5A55A"/>
          </a:solidFill>
          <a:ln/>
        </p:spPr>
        <p:txBody>
          <a:bodyPr wrap="square" rtlCol="0" anchor="t"/>
          <a:lstStyle/>
          <a:p>
            <a:pPr marL="0" indent="0">
              <a:buNone/>
            </a:pPr>
            <a:endParaRPr lang="en-US" dirty="0"/>
          </a:p>
        </p:txBody>
      </p:sp>
      <p:sp>
        <p:nvSpPr>
          <p:cNvPr id="11" name="Text 8"/>
          <p:cNvSpPr/>
          <p:nvPr/>
        </p:nvSpPr>
        <p:spPr>
          <a:xfrm>
            <a:off x="6134100" y="4226421"/>
            <a:ext cx="2914650" cy="890632"/>
          </a:xfrm>
          <a:prstGeom prst="roundRect">
            <a:avLst>
              <a:gd name="adj" fmla="val 6417"/>
            </a:avLst>
          </a:prstGeom>
          <a:solidFill>
            <a:srgbClr val="F5F7FA"/>
          </a:solidFill>
          <a:ln/>
        </p:spPr>
        <p:txBody>
          <a:bodyPr wrap="square" lIns="114300" tIns="100330" rIns="114300" bIns="100330" rtlCol="0" anchor="t"/>
          <a:lstStyle/>
          <a:p>
            <a:pPr marL="0" indent="0" algn="l">
              <a:buNone/>
            </a:pPr>
            <a:r>
              <a:rPr lang="en-US" sz="790" b="1" dirty="0">
                <a:solidFill>
                  <a:srgbClr val="1B2A4A"/>
                </a:solidFill>
                <a:latin typeface="Calibri Light" pitchFamily="34" charset="0"/>
                <a:ea typeface="Calibri Light" pitchFamily="34" charset="-122"/>
                <a:cs typeface="Calibri Light" pitchFamily="34" charset="-120"/>
              </a:rPr>
              <a:t>Upward Trajectory</a:t>
            </a:r>
            <a:endParaRPr lang="en-US" sz="790" dirty="0"/>
          </a:p>
          <a:p>
            <a:pPr marL="0" indent="0" algn="l">
              <a:buNone/>
            </a:pPr>
            <a:r>
              <a:rPr lang="en-US" sz="680" dirty="0">
                <a:solidFill>
                  <a:srgbClr val="5A6B8A"/>
                </a:solidFill>
                <a:latin typeface="Calibri" pitchFamily="34" charset="0"/>
                <a:ea typeface="Calibri" pitchFamily="34" charset="-122"/>
                <a:cs typeface="Calibri" pitchFamily="34" charset="-120"/>
              </a:rPr>
              <a:t>Sustained growth may reflect heightened regulatory scrutiny and expanded automated monitoring systems.</a:t>
            </a:r>
            <a:endParaRPr lang="en-US" sz="790" dirty="0"/>
          </a:p>
        </p:txBody>
      </p:sp>
      <p:sp>
        <p:nvSpPr>
          <p:cNvPr id="12" name="Text 9"/>
          <p:cNvSpPr/>
          <p:nvPr/>
        </p:nvSpPr>
        <p:spPr>
          <a:xfrm>
            <a:off x="6134100" y="4226421"/>
            <a:ext cx="21580" cy="642491"/>
          </a:xfrm>
          <a:prstGeom prst="rect">
            <a:avLst/>
          </a:prstGeom>
          <a:solidFill>
            <a:srgbClr val="C5A55A"/>
          </a:solidFill>
          <a:ln/>
        </p:spPr>
        <p:txBody>
          <a:bodyPr wrap="square" rtlCol="0" anchor="t"/>
          <a:lstStyle/>
          <a:p>
            <a:pPr marL="0" indent="0">
              <a:buNone/>
            </a:pPr>
            <a:endParaRPr lang="en-US" dirty="0"/>
          </a:p>
        </p:txBody>
      </p:sp>
      <p:sp>
        <p:nvSpPr>
          <p:cNvPr id="13" name="Text 10"/>
          <p:cNvSpPr/>
          <p:nvPr/>
        </p:nvSpPr>
        <p:spPr>
          <a:xfrm>
            <a:off x="476250" y="4998690"/>
            <a:ext cx="8343900" cy="7590"/>
          </a:xfrm>
          <a:prstGeom prst="rect">
            <a:avLst/>
          </a:prstGeom>
          <a:solidFill>
            <a:srgbClr val="C5A55A">
              <a:alpha val="50000"/>
            </a:srgbClr>
          </a:solidFill>
          <a:ln/>
        </p:spPr>
        <p:txBody>
          <a:bodyPr wrap="none" rtlCol="0" anchor="t"/>
          <a:lstStyle/>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39478"/>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476250" y="391120"/>
            <a:ext cx="10097363" cy="118170"/>
          </a:xfrm>
          <a:prstGeom prst="rect">
            <a:avLst/>
          </a:prstGeom>
          <a:noFill/>
          <a:ln/>
        </p:spPr>
        <p:txBody>
          <a:bodyPr wrap="none" lIns="0" tIns="0" rIns="0" bIns="0" rtlCol="0" anchor="t"/>
          <a:lstStyle/>
          <a:p>
            <a:pPr marL="0" indent="0" algn="l">
              <a:lnSpc>
                <a:spcPts val="930"/>
              </a:lnSpc>
              <a:buNone/>
            </a:pPr>
            <a:r>
              <a:rPr lang="en-US" sz="620" b="1" dirty="0">
                <a:solidFill>
                  <a:srgbClr val="C5A55A"/>
                </a:solidFill>
                <a:latin typeface="Calibri" pitchFamily="34" charset="0"/>
                <a:ea typeface="Calibri" pitchFamily="34" charset="-122"/>
                <a:cs typeface="Calibri" pitchFamily="34" charset="-120"/>
              </a:rPr>
              <a:t>EXPLORATORY DATA ANALYSIS</a:t>
            </a:r>
            <a:endParaRPr lang="en-US" sz="1200" dirty="0"/>
          </a:p>
        </p:txBody>
      </p:sp>
      <p:sp>
        <p:nvSpPr>
          <p:cNvPr id="4" name="Text 2"/>
          <p:cNvSpPr/>
          <p:nvPr/>
        </p:nvSpPr>
        <p:spPr>
          <a:xfrm>
            <a:off x="476250" y="639961"/>
            <a:ext cx="8510778" cy="280035"/>
          </a:xfrm>
          <a:prstGeom prst="rect">
            <a:avLst/>
          </a:prstGeom>
          <a:noFill/>
          <a:ln/>
        </p:spPr>
        <p:txBody>
          <a:bodyPr wrap="square" lIns="0" tIns="0" rIns="0" bIns="0" rtlCol="0" anchor="t"/>
          <a:lstStyle/>
          <a:p>
            <a:pPr marL="0" indent="0" algn="l">
              <a:lnSpc>
                <a:spcPts val="1200"/>
              </a:lnSpc>
              <a:buNone/>
            </a:pPr>
            <a:r>
              <a:rPr lang="en-US" sz="1800" dirty="0">
                <a:solidFill>
                  <a:srgbClr val="1B2A4A"/>
                </a:solidFill>
                <a:latin typeface="Calibri Light" pitchFamily="34" charset="0"/>
                <a:ea typeface="Calibri Light" pitchFamily="34" charset="-122"/>
                <a:cs typeface="Calibri Light" pitchFamily="34" charset="-120"/>
              </a:rPr>
              <a:t>EDA: SAR Filings by State</a:t>
            </a:r>
            <a:endParaRPr lang="en-US" sz="1200" dirty="0"/>
          </a:p>
        </p:txBody>
      </p:sp>
      <p:sp>
        <p:nvSpPr>
          <p:cNvPr id="5" name="Text 3"/>
          <p:cNvSpPr/>
          <p:nvPr/>
        </p:nvSpPr>
        <p:spPr>
          <a:xfrm>
            <a:off x="476250" y="955030"/>
            <a:ext cx="8343900" cy="7590"/>
          </a:xfrm>
          <a:prstGeom prst="rect">
            <a:avLst/>
          </a:prstGeom>
          <a:solidFill>
            <a:srgbClr val="C5A55A"/>
          </a:solidFill>
          <a:ln/>
        </p:spPr>
        <p:txBody>
          <a:bodyPr wrap="none" rtlCol="0" anchor="t"/>
          <a:lstStyle/>
          <a:p>
            <a:pPr marL="0" indent="0">
              <a:buNone/>
            </a:pPr>
            <a:endParaRPr lang="en-US" dirty="0"/>
          </a:p>
        </p:txBody>
      </p:sp>
      <p:sp>
        <p:nvSpPr>
          <p:cNvPr id="6" name="Text 4"/>
          <p:cNvSpPr/>
          <p:nvPr/>
        </p:nvSpPr>
        <p:spPr>
          <a:xfrm>
            <a:off x="476250" y="1162050"/>
            <a:ext cx="70991" cy="70991"/>
          </a:xfrm>
          <a:prstGeom prst="roundRect">
            <a:avLst>
              <a:gd name="adj" fmla="val 19679"/>
            </a:avLst>
          </a:prstGeom>
          <a:solidFill>
            <a:srgbClr val="C5A55A"/>
          </a:solidFill>
          <a:ln/>
        </p:spPr>
        <p:txBody>
          <a:bodyPr wrap="none" rtlCol="0" anchor="t"/>
          <a:lstStyle/>
          <a:p>
            <a:pPr marL="0" indent="0">
              <a:buNone/>
            </a:pPr>
            <a:endParaRPr lang="en-US" dirty="0"/>
          </a:p>
        </p:txBody>
      </p:sp>
      <p:sp>
        <p:nvSpPr>
          <p:cNvPr id="7" name="Text 5"/>
          <p:cNvSpPr/>
          <p:nvPr/>
        </p:nvSpPr>
        <p:spPr>
          <a:xfrm>
            <a:off x="1191220" y="1162050"/>
            <a:ext cx="70991" cy="70991"/>
          </a:xfrm>
          <a:prstGeom prst="roundRect">
            <a:avLst>
              <a:gd name="adj" fmla="val 19679"/>
            </a:avLst>
          </a:prstGeom>
          <a:solidFill>
            <a:srgbClr val="1B2A4A"/>
          </a:solidFill>
          <a:ln/>
        </p:spPr>
        <p:txBody>
          <a:bodyPr wrap="none" rtlCol="0" anchor="t"/>
          <a:lstStyle/>
          <a:p>
            <a:pPr marL="0" indent="0">
              <a:buNone/>
            </a:pPr>
            <a:endParaRPr lang="en-US" dirty="0"/>
          </a:p>
        </p:txBody>
      </p:sp>
      <p:sp>
        <p:nvSpPr>
          <p:cNvPr id="8" name="Text 6"/>
          <p:cNvSpPr/>
          <p:nvPr/>
        </p:nvSpPr>
        <p:spPr>
          <a:xfrm>
            <a:off x="340623" y="1376363"/>
            <a:ext cx="778118" cy="150465"/>
          </a:xfrm>
          <a:prstGeom prst="rect">
            <a:avLst/>
          </a:prstGeom>
          <a:noFill/>
          <a:ln/>
        </p:spPr>
        <p:txBody>
          <a:bodyPr wrap="none" lIns="0" tIns="0" rIns="0" bIns="0" rtlCol="0" anchor="t"/>
          <a:lstStyle/>
          <a:p>
            <a:pPr marL="0" indent="0" algn="r">
              <a:lnSpc>
                <a:spcPts val="1185"/>
              </a:lnSpc>
              <a:buNone/>
            </a:pPr>
            <a:r>
              <a:rPr lang="en-US" sz="790" b="1" dirty="0">
                <a:solidFill>
                  <a:srgbClr val="1B2A4A"/>
                </a:solidFill>
                <a:latin typeface="Calibri" pitchFamily="34" charset="0"/>
                <a:ea typeface="Calibri" pitchFamily="34" charset="-122"/>
                <a:cs typeface="Calibri" pitchFamily="34" charset="-120"/>
              </a:rPr>
              <a:t>California</a:t>
            </a:r>
            <a:endParaRPr lang="en-US" sz="1200" dirty="0"/>
          </a:p>
        </p:txBody>
      </p:sp>
      <p:sp>
        <p:nvSpPr>
          <p:cNvPr id="9" name="Text 7"/>
          <p:cNvSpPr/>
          <p:nvPr/>
        </p:nvSpPr>
        <p:spPr>
          <a:xfrm>
            <a:off x="1191220" y="1355080"/>
            <a:ext cx="6986141" cy="185291"/>
          </a:xfrm>
          <a:prstGeom prst="roundRect">
            <a:avLst>
              <a:gd name="adj" fmla="val 15764"/>
            </a:avLst>
          </a:prstGeom>
          <a:solidFill>
            <a:srgbClr val="E8ECF1"/>
          </a:solidFill>
          <a:ln/>
        </p:spPr>
        <p:txBody>
          <a:bodyPr wrap="none" rtlCol="0" anchor="t"/>
          <a:lstStyle/>
          <a:p>
            <a:pPr marL="0" indent="0">
              <a:buNone/>
            </a:pPr>
            <a:endParaRPr lang="en-US" dirty="0"/>
          </a:p>
        </p:txBody>
      </p:sp>
      <p:sp>
        <p:nvSpPr>
          <p:cNvPr id="10" name="Text 8"/>
          <p:cNvSpPr/>
          <p:nvPr/>
        </p:nvSpPr>
        <p:spPr>
          <a:xfrm>
            <a:off x="1191220" y="1355080"/>
            <a:ext cx="6986141" cy="185291"/>
          </a:xfrm>
          <a:prstGeom prst="rect">
            <a:avLst/>
          </a:prstGeom>
          <a:solidFill>
            <a:srgbClr val="C5A55A"/>
          </a:solidFill>
          <a:ln/>
        </p:spPr>
        <p:txBody>
          <a:bodyPr wrap="none" rtlCol="0" anchor="t"/>
          <a:lstStyle/>
          <a:p>
            <a:pPr marL="0" indent="0">
              <a:buNone/>
            </a:pPr>
            <a:endParaRPr lang="en-US" dirty="0"/>
          </a:p>
        </p:txBody>
      </p:sp>
      <p:sp>
        <p:nvSpPr>
          <p:cNvPr id="11" name="Text 9"/>
          <p:cNvSpPr/>
          <p:nvPr/>
        </p:nvSpPr>
        <p:spPr>
          <a:xfrm>
            <a:off x="8248650" y="1381423"/>
            <a:ext cx="691515" cy="139005"/>
          </a:xfrm>
          <a:prstGeom prst="rect">
            <a:avLst/>
          </a:prstGeom>
          <a:noFill/>
          <a:ln/>
        </p:spPr>
        <p:txBody>
          <a:bodyPr wrap="none" lIns="0" tIns="0" rIns="0" bIns="0" rtlCol="0" anchor="t"/>
          <a:lstStyle/>
          <a:p>
            <a:pPr marL="0" indent="0" algn="l">
              <a:lnSpc>
                <a:spcPts val="1095"/>
              </a:lnSpc>
              <a:buNone/>
            </a:pPr>
            <a:r>
              <a:rPr lang="en-US" sz="730" b="1" dirty="0">
                <a:solidFill>
                  <a:srgbClr val="1B2A4A"/>
                </a:solidFill>
                <a:latin typeface="Calibri" pitchFamily="34" charset="0"/>
                <a:ea typeface="Calibri" pitchFamily="34" charset="-122"/>
                <a:cs typeface="Calibri" pitchFamily="34" charset="-120"/>
              </a:rPr>
              <a:t>406,561</a:t>
            </a:r>
            <a:endParaRPr lang="en-US" sz="1200" dirty="0"/>
          </a:p>
        </p:txBody>
      </p:sp>
      <p:sp>
        <p:nvSpPr>
          <p:cNvPr id="12" name="Text 10"/>
          <p:cNvSpPr/>
          <p:nvPr/>
        </p:nvSpPr>
        <p:spPr>
          <a:xfrm>
            <a:off x="340623" y="1626543"/>
            <a:ext cx="778118" cy="150465"/>
          </a:xfrm>
          <a:prstGeom prst="rect">
            <a:avLst/>
          </a:prstGeom>
          <a:noFill/>
          <a:ln/>
        </p:spPr>
        <p:txBody>
          <a:bodyPr wrap="none" lIns="0" tIns="0" rIns="0" bIns="0" rtlCol="0" anchor="t"/>
          <a:lstStyle/>
          <a:p>
            <a:pPr marL="0" indent="0" algn="r">
              <a:lnSpc>
                <a:spcPts val="1185"/>
              </a:lnSpc>
              <a:buNone/>
            </a:pPr>
            <a:r>
              <a:rPr lang="en-US" sz="790" b="1" dirty="0">
                <a:solidFill>
                  <a:srgbClr val="1B2A4A"/>
                </a:solidFill>
                <a:latin typeface="Calibri" pitchFamily="34" charset="0"/>
                <a:ea typeface="Calibri" pitchFamily="34" charset="-122"/>
                <a:cs typeface="Calibri" pitchFamily="34" charset="-120"/>
              </a:rPr>
              <a:t>New York</a:t>
            </a:r>
            <a:endParaRPr lang="en-US" sz="1200" dirty="0"/>
          </a:p>
        </p:txBody>
      </p:sp>
      <p:sp>
        <p:nvSpPr>
          <p:cNvPr id="13" name="Text 11"/>
          <p:cNvSpPr/>
          <p:nvPr/>
        </p:nvSpPr>
        <p:spPr>
          <a:xfrm>
            <a:off x="1191220" y="1605260"/>
            <a:ext cx="6986141" cy="185291"/>
          </a:xfrm>
          <a:prstGeom prst="roundRect">
            <a:avLst>
              <a:gd name="adj" fmla="val 15764"/>
            </a:avLst>
          </a:prstGeom>
          <a:solidFill>
            <a:srgbClr val="E8ECF1"/>
          </a:solidFill>
          <a:ln/>
        </p:spPr>
        <p:txBody>
          <a:bodyPr wrap="none" rtlCol="0" anchor="t"/>
          <a:lstStyle/>
          <a:p>
            <a:pPr marL="0" indent="0">
              <a:buNone/>
            </a:pPr>
            <a:endParaRPr lang="en-US" dirty="0"/>
          </a:p>
        </p:txBody>
      </p:sp>
      <p:sp>
        <p:nvSpPr>
          <p:cNvPr id="14" name="Text 12"/>
          <p:cNvSpPr/>
          <p:nvPr/>
        </p:nvSpPr>
        <p:spPr>
          <a:xfrm>
            <a:off x="1191220" y="1605260"/>
            <a:ext cx="5029200" cy="185291"/>
          </a:xfrm>
          <a:prstGeom prst="roundRect">
            <a:avLst>
              <a:gd name="adj" fmla="val 15764"/>
            </a:avLst>
          </a:prstGeom>
          <a:solidFill>
            <a:srgbClr val="C5A55A"/>
          </a:solidFill>
          <a:ln/>
        </p:spPr>
        <p:txBody>
          <a:bodyPr wrap="none" rtlCol="0" anchor="t"/>
          <a:lstStyle/>
          <a:p>
            <a:pPr marL="0" indent="0">
              <a:buNone/>
            </a:pPr>
            <a:endParaRPr lang="en-US" dirty="0"/>
          </a:p>
        </p:txBody>
      </p:sp>
      <p:sp>
        <p:nvSpPr>
          <p:cNvPr id="15" name="Text 13"/>
          <p:cNvSpPr/>
          <p:nvPr/>
        </p:nvSpPr>
        <p:spPr>
          <a:xfrm>
            <a:off x="8248650" y="1631603"/>
            <a:ext cx="691515" cy="139005"/>
          </a:xfrm>
          <a:prstGeom prst="rect">
            <a:avLst/>
          </a:prstGeom>
          <a:noFill/>
          <a:ln/>
        </p:spPr>
        <p:txBody>
          <a:bodyPr wrap="none" lIns="0" tIns="0" rIns="0" bIns="0" rtlCol="0" anchor="t"/>
          <a:lstStyle/>
          <a:p>
            <a:pPr marL="0" indent="0" algn="l">
              <a:lnSpc>
                <a:spcPts val="1095"/>
              </a:lnSpc>
              <a:buNone/>
            </a:pPr>
            <a:r>
              <a:rPr lang="en-US" sz="730" b="1" dirty="0">
                <a:solidFill>
                  <a:srgbClr val="1B2A4A"/>
                </a:solidFill>
                <a:latin typeface="Calibri" pitchFamily="34" charset="0"/>
                <a:ea typeface="Calibri" pitchFamily="34" charset="-122"/>
                <a:cs typeface="Calibri" pitchFamily="34" charset="-120"/>
              </a:rPr>
              <a:t>292,724</a:t>
            </a:r>
            <a:endParaRPr lang="en-US" sz="1200" dirty="0"/>
          </a:p>
        </p:txBody>
      </p:sp>
      <p:sp>
        <p:nvSpPr>
          <p:cNvPr id="16" name="Text 14"/>
          <p:cNvSpPr/>
          <p:nvPr/>
        </p:nvSpPr>
        <p:spPr>
          <a:xfrm>
            <a:off x="340623" y="1876723"/>
            <a:ext cx="778118" cy="150465"/>
          </a:xfrm>
          <a:prstGeom prst="rect">
            <a:avLst/>
          </a:prstGeom>
          <a:noFill/>
          <a:ln/>
        </p:spPr>
        <p:txBody>
          <a:bodyPr wrap="none" lIns="0" tIns="0" rIns="0" bIns="0" rtlCol="0" anchor="t"/>
          <a:lstStyle/>
          <a:p>
            <a:pPr marL="0" indent="0" algn="r">
              <a:lnSpc>
                <a:spcPts val="1185"/>
              </a:lnSpc>
              <a:buNone/>
            </a:pPr>
            <a:r>
              <a:rPr lang="en-US" sz="790" b="1" dirty="0">
                <a:solidFill>
                  <a:srgbClr val="1B2A4A"/>
                </a:solidFill>
                <a:latin typeface="Calibri" pitchFamily="34" charset="0"/>
                <a:ea typeface="Calibri" pitchFamily="34" charset="-122"/>
                <a:cs typeface="Calibri" pitchFamily="34" charset="-120"/>
              </a:rPr>
              <a:t>Texas</a:t>
            </a:r>
            <a:endParaRPr lang="en-US" sz="1200" dirty="0"/>
          </a:p>
        </p:txBody>
      </p:sp>
      <p:sp>
        <p:nvSpPr>
          <p:cNvPr id="17" name="Text 15"/>
          <p:cNvSpPr/>
          <p:nvPr/>
        </p:nvSpPr>
        <p:spPr>
          <a:xfrm>
            <a:off x="1191220" y="1861691"/>
            <a:ext cx="6986141" cy="185291"/>
          </a:xfrm>
          <a:prstGeom prst="roundRect">
            <a:avLst>
              <a:gd name="adj" fmla="val 15764"/>
            </a:avLst>
          </a:prstGeom>
          <a:solidFill>
            <a:srgbClr val="E8ECF1"/>
          </a:solidFill>
          <a:ln/>
        </p:spPr>
        <p:txBody>
          <a:bodyPr wrap="none" rtlCol="0" anchor="t"/>
          <a:lstStyle/>
          <a:p>
            <a:pPr marL="0" indent="0">
              <a:buNone/>
            </a:pPr>
            <a:endParaRPr lang="en-US" dirty="0"/>
          </a:p>
        </p:txBody>
      </p:sp>
      <p:sp>
        <p:nvSpPr>
          <p:cNvPr id="18" name="Text 16"/>
          <p:cNvSpPr/>
          <p:nvPr/>
        </p:nvSpPr>
        <p:spPr>
          <a:xfrm>
            <a:off x="1191220" y="1861691"/>
            <a:ext cx="4471541" cy="185291"/>
          </a:xfrm>
          <a:prstGeom prst="roundRect">
            <a:avLst>
              <a:gd name="adj" fmla="val 15764"/>
            </a:avLst>
          </a:prstGeom>
          <a:solidFill>
            <a:srgbClr val="C5A55A"/>
          </a:solidFill>
          <a:ln/>
        </p:spPr>
        <p:txBody>
          <a:bodyPr wrap="none" rtlCol="0" anchor="t"/>
          <a:lstStyle/>
          <a:p>
            <a:pPr marL="0" indent="0">
              <a:buNone/>
            </a:pPr>
            <a:endParaRPr lang="en-US" dirty="0"/>
          </a:p>
        </p:txBody>
      </p:sp>
      <p:sp>
        <p:nvSpPr>
          <p:cNvPr id="19" name="Text 17"/>
          <p:cNvSpPr/>
          <p:nvPr/>
        </p:nvSpPr>
        <p:spPr>
          <a:xfrm>
            <a:off x="8248650" y="1881783"/>
            <a:ext cx="691515" cy="139005"/>
          </a:xfrm>
          <a:prstGeom prst="rect">
            <a:avLst/>
          </a:prstGeom>
          <a:noFill/>
          <a:ln/>
        </p:spPr>
        <p:txBody>
          <a:bodyPr wrap="none" lIns="0" tIns="0" rIns="0" bIns="0" rtlCol="0" anchor="t"/>
          <a:lstStyle/>
          <a:p>
            <a:pPr marL="0" indent="0" algn="l">
              <a:lnSpc>
                <a:spcPts val="1095"/>
              </a:lnSpc>
              <a:buNone/>
            </a:pPr>
            <a:r>
              <a:rPr lang="en-US" sz="730" b="1" dirty="0">
                <a:solidFill>
                  <a:srgbClr val="1B2A4A"/>
                </a:solidFill>
                <a:latin typeface="Calibri" pitchFamily="34" charset="0"/>
                <a:ea typeface="Calibri" pitchFamily="34" charset="-122"/>
                <a:cs typeface="Calibri" pitchFamily="34" charset="-120"/>
              </a:rPr>
              <a:t>260,188</a:t>
            </a:r>
            <a:endParaRPr lang="en-US" sz="1200" dirty="0"/>
          </a:p>
        </p:txBody>
      </p:sp>
      <p:sp>
        <p:nvSpPr>
          <p:cNvPr id="20" name="Text 18"/>
          <p:cNvSpPr/>
          <p:nvPr/>
        </p:nvSpPr>
        <p:spPr>
          <a:xfrm>
            <a:off x="340623" y="2125563"/>
            <a:ext cx="778118" cy="150465"/>
          </a:xfrm>
          <a:prstGeom prst="rect">
            <a:avLst/>
          </a:prstGeom>
          <a:noFill/>
          <a:ln/>
        </p:spPr>
        <p:txBody>
          <a:bodyPr wrap="none" lIns="0" tIns="0" rIns="0" bIns="0" rtlCol="0" anchor="t"/>
          <a:lstStyle/>
          <a:p>
            <a:pPr marL="0" indent="0" algn="r">
              <a:lnSpc>
                <a:spcPts val="1185"/>
              </a:lnSpc>
              <a:buNone/>
            </a:pPr>
            <a:r>
              <a:rPr lang="en-US" sz="790" b="1" dirty="0">
                <a:solidFill>
                  <a:srgbClr val="1B2A4A"/>
                </a:solidFill>
                <a:latin typeface="Calibri" pitchFamily="34" charset="0"/>
                <a:ea typeface="Calibri" pitchFamily="34" charset="-122"/>
                <a:cs typeface="Calibri" pitchFamily="34" charset="-120"/>
              </a:rPr>
              <a:t>Florida</a:t>
            </a:r>
            <a:endParaRPr lang="en-US" sz="1200" dirty="0"/>
          </a:p>
        </p:txBody>
      </p:sp>
      <p:sp>
        <p:nvSpPr>
          <p:cNvPr id="21" name="Text 19"/>
          <p:cNvSpPr/>
          <p:nvPr/>
        </p:nvSpPr>
        <p:spPr>
          <a:xfrm>
            <a:off x="1191220" y="2111871"/>
            <a:ext cx="6986141" cy="185291"/>
          </a:xfrm>
          <a:prstGeom prst="roundRect">
            <a:avLst>
              <a:gd name="adj" fmla="val 15764"/>
            </a:avLst>
          </a:prstGeom>
          <a:solidFill>
            <a:srgbClr val="E8ECF1"/>
          </a:solidFill>
          <a:ln/>
        </p:spPr>
        <p:txBody>
          <a:bodyPr wrap="none" rtlCol="0" anchor="t"/>
          <a:lstStyle/>
          <a:p>
            <a:pPr marL="0" indent="0">
              <a:buNone/>
            </a:pPr>
            <a:endParaRPr lang="en-US" dirty="0"/>
          </a:p>
        </p:txBody>
      </p:sp>
      <p:sp>
        <p:nvSpPr>
          <p:cNvPr id="22" name="Text 20"/>
          <p:cNvSpPr/>
          <p:nvPr/>
        </p:nvSpPr>
        <p:spPr>
          <a:xfrm>
            <a:off x="1191220" y="2111871"/>
            <a:ext cx="4049911" cy="185291"/>
          </a:xfrm>
          <a:prstGeom prst="roundRect">
            <a:avLst>
              <a:gd name="adj" fmla="val 15764"/>
            </a:avLst>
          </a:prstGeom>
          <a:solidFill>
            <a:srgbClr val="1B2A4A"/>
          </a:solidFill>
          <a:ln/>
        </p:spPr>
        <p:txBody>
          <a:bodyPr wrap="none" rtlCol="0" anchor="t"/>
          <a:lstStyle/>
          <a:p>
            <a:pPr marL="0" indent="0">
              <a:buNone/>
            </a:pPr>
            <a:endParaRPr lang="en-US" dirty="0"/>
          </a:p>
        </p:txBody>
      </p:sp>
      <p:sp>
        <p:nvSpPr>
          <p:cNvPr id="23" name="Text 21"/>
          <p:cNvSpPr/>
          <p:nvPr/>
        </p:nvSpPr>
        <p:spPr>
          <a:xfrm>
            <a:off x="8248650" y="2132112"/>
            <a:ext cx="691515" cy="139005"/>
          </a:xfrm>
          <a:prstGeom prst="rect">
            <a:avLst/>
          </a:prstGeom>
          <a:noFill/>
          <a:ln/>
        </p:spPr>
        <p:txBody>
          <a:bodyPr wrap="none" lIns="0" tIns="0" rIns="0" bIns="0" rtlCol="0" anchor="t"/>
          <a:lstStyle/>
          <a:p>
            <a:pPr marL="0" indent="0" algn="l">
              <a:lnSpc>
                <a:spcPts val="1095"/>
              </a:lnSpc>
              <a:buNone/>
            </a:pPr>
            <a:r>
              <a:rPr lang="en-US" sz="730" b="1" dirty="0">
                <a:solidFill>
                  <a:srgbClr val="1B2A4A"/>
                </a:solidFill>
                <a:latin typeface="Calibri" pitchFamily="34" charset="0"/>
                <a:ea typeface="Calibri" pitchFamily="34" charset="-122"/>
                <a:cs typeface="Calibri" pitchFamily="34" charset="-120"/>
              </a:rPr>
              <a:t>235,870</a:t>
            </a:r>
            <a:endParaRPr lang="en-US" sz="1200" dirty="0"/>
          </a:p>
        </p:txBody>
      </p:sp>
      <p:sp>
        <p:nvSpPr>
          <p:cNvPr id="40" name="Text 38"/>
          <p:cNvSpPr/>
          <p:nvPr/>
        </p:nvSpPr>
        <p:spPr>
          <a:xfrm>
            <a:off x="476250" y="3948410"/>
            <a:ext cx="2980581" cy="1118426"/>
          </a:xfrm>
          <a:prstGeom prst="roundRect">
            <a:avLst>
              <a:gd name="adj" fmla="val 6359"/>
            </a:avLst>
          </a:prstGeom>
          <a:solidFill>
            <a:srgbClr val="F5F7FA"/>
          </a:solidFill>
          <a:ln/>
        </p:spPr>
        <p:txBody>
          <a:bodyPr wrap="square" lIns="143510" tIns="114300" rIns="143510" bIns="114300" rtlCol="0" anchor="t"/>
          <a:lstStyle/>
          <a:p>
            <a:pPr marL="0" indent="0" algn="l">
              <a:buNone/>
            </a:pPr>
            <a:r>
              <a:rPr lang="en-US" sz="730" b="1" dirty="0">
                <a:solidFill>
                  <a:srgbClr val="C5A55A"/>
                </a:solidFill>
                <a:latin typeface="Calibri Light" pitchFamily="34" charset="0"/>
                <a:ea typeface="Calibri Light" pitchFamily="34" charset="-122"/>
                <a:cs typeface="Calibri Light" pitchFamily="34" charset="-120"/>
              </a:rPr>
              <a:t>TOP STATES</a:t>
            </a:r>
            <a:endParaRPr lang="en-US" sz="730" dirty="0"/>
          </a:p>
          <a:p>
            <a:pPr marL="0" indent="0" algn="l">
              <a:buNone/>
            </a:pPr>
            <a:r>
              <a:rPr lang="en-US" sz="790" dirty="0">
                <a:solidFill>
                  <a:srgbClr val="5A6A7A"/>
                </a:solidFill>
                <a:latin typeface="Calibri" pitchFamily="34" charset="0"/>
                <a:ea typeface="Calibri" pitchFamily="34" charset="-122"/>
                <a:cs typeface="Calibri" pitchFamily="34" charset="-120"/>
              </a:rPr>
              <a:t>CA, NY, TX, FL consistently lead the nation in SAR filing volume.</a:t>
            </a:r>
            <a:endParaRPr lang="en-US" sz="730" dirty="0"/>
          </a:p>
        </p:txBody>
      </p:sp>
      <p:sp>
        <p:nvSpPr>
          <p:cNvPr id="41" name="Text 39"/>
          <p:cNvSpPr/>
          <p:nvPr/>
        </p:nvSpPr>
        <p:spPr>
          <a:xfrm>
            <a:off x="476250" y="3948410"/>
            <a:ext cx="21580" cy="829270"/>
          </a:xfrm>
          <a:prstGeom prst="rect">
            <a:avLst/>
          </a:prstGeom>
          <a:solidFill>
            <a:srgbClr val="C5A55A"/>
          </a:solidFill>
          <a:ln/>
        </p:spPr>
        <p:txBody>
          <a:bodyPr wrap="square" rtlCol="0" anchor="t"/>
          <a:lstStyle/>
          <a:p>
            <a:pPr marL="0" indent="0">
              <a:buNone/>
            </a:pPr>
            <a:endParaRPr lang="en-US" dirty="0"/>
          </a:p>
        </p:txBody>
      </p:sp>
      <p:sp>
        <p:nvSpPr>
          <p:cNvPr id="42" name="Text 40"/>
          <p:cNvSpPr/>
          <p:nvPr/>
        </p:nvSpPr>
        <p:spPr>
          <a:xfrm>
            <a:off x="3298180" y="3948410"/>
            <a:ext cx="2980581" cy="1118426"/>
          </a:xfrm>
          <a:prstGeom prst="roundRect">
            <a:avLst>
              <a:gd name="adj" fmla="val 6359"/>
            </a:avLst>
          </a:prstGeom>
          <a:solidFill>
            <a:srgbClr val="F5F7FA"/>
          </a:solidFill>
          <a:ln/>
        </p:spPr>
        <p:txBody>
          <a:bodyPr wrap="square" lIns="143510" tIns="114300" rIns="143510" bIns="114300" rtlCol="0" anchor="t"/>
          <a:lstStyle/>
          <a:p>
            <a:pPr marL="0" indent="0" algn="l">
              <a:buNone/>
            </a:pPr>
            <a:r>
              <a:rPr lang="en-US" sz="730" b="1" dirty="0">
                <a:solidFill>
                  <a:srgbClr val="C5A55A"/>
                </a:solidFill>
                <a:latin typeface="Calibri Light" pitchFamily="34" charset="0"/>
                <a:ea typeface="Calibri Light" pitchFamily="34" charset="-122"/>
                <a:cs typeface="Calibri Light" pitchFamily="34" charset="-120"/>
              </a:rPr>
              <a:t>STRUCTURAL PATTERN</a:t>
            </a:r>
            <a:endParaRPr lang="en-US" sz="730" dirty="0"/>
          </a:p>
          <a:p>
            <a:pPr marL="0" indent="0" algn="l">
              <a:buNone/>
            </a:pPr>
            <a:r>
              <a:rPr lang="en-US" sz="790" dirty="0">
                <a:solidFill>
                  <a:srgbClr val="5A6A7A"/>
                </a:solidFill>
                <a:latin typeface="Calibri" pitchFamily="34" charset="0"/>
                <a:ea typeface="Calibri" pitchFamily="34" charset="-122"/>
                <a:cs typeface="Calibri" pitchFamily="34" charset="-120"/>
              </a:rPr>
              <a:t>High-volume states host dense concentrations of banks, MSBs, fintech platforms &amp; international gateways.</a:t>
            </a:r>
            <a:endParaRPr lang="en-US" sz="730" dirty="0"/>
          </a:p>
        </p:txBody>
      </p:sp>
      <p:sp>
        <p:nvSpPr>
          <p:cNvPr id="43" name="Text 41"/>
          <p:cNvSpPr/>
          <p:nvPr/>
        </p:nvSpPr>
        <p:spPr>
          <a:xfrm>
            <a:off x="3298180" y="3948410"/>
            <a:ext cx="21580" cy="829270"/>
          </a:xfrm>
          <a:prstGeom prst="rect">
            <a:avLst/>
          </a:prstGeom>
          <a:solidFill>
            <a:srgbClr val="C5A55A"/>
          </a:solidFill>
          <a:ln/>
        </p:spPr>
        <p:txBody>
          <a:bodyPr wrap="square" rtlCol="0" anchor="t"/>
          <a:lstStyle/>
          <a:p>
            <a:pPr marL="0" indent="0">
              <a:buNone/>
            </a:pPr>
            <a:endParaRPr lang="en-US" dirty="0"/>
          </a:p>
        </p:txBody>
      </p:sp>
      <p:sp>
        <p:nvSpPr>
          <p:cNvPr id="44" name="Text 42"/>
          <p:cNvSpPr/>
          <p:nvPr/>
        </p:nvSpPr>
        <p:spPr>
          <a:xfrm>
            <a:off x="6126361" y="3948410"/>
            <a:ext cx="2980581" cy="1118426"/>
          </a:xfrm>
          <a:prstGeom prst="roundRect">
            <a:avLst>
              <a:gd name="adj" fmla="val 6359"/>
            </a:avLst>
          </a:prstGeom>
          <a:solidFill>
            <a:srgbClr val="F5F7FA"/>
          </a:solidFill>
          <a:ln/>
        </p:spPr>
        <p:txBody>
          <a:bodyPr wrap="square" lIns="143510" tIns="114300" rIns="143510" bIns="114300" rtlCol="0" anchor="t"/>
          <a:lstStyle/>
          <a:p>
            <a:pPr marL="0" indent="0" algn="l">
              <a:buNone/>
            </a:pPr>
            <a:r>
              <a:rPr lang="en-US" sz="730" b="1" dirty="0">
                <a:solidFill>
                  <a:srgbClr val="C5A55A"/>
                </a:solidFill>
                <a:latin typeface="Calibri Light" pitchFamily="34" charset="0"/>
                <a:ea typeface="Calibri Light" pitchFamily="34" charset="-122"/>
                <a:cs typeface="Calibri Light" pitchFamily="34" charset="-120"/>
              </a:rPr>
              <a:t>STEADY GROWTH</a:t>
            </a:r>
            <a:endParaRPr lang="en-US" sz="730" dirty="0"/>
          </a:p>
          <a:p>
            <a:pPr marL="0" indent="0" algn="l">
              <a:buNone/>
            </a:pPr>
            <a:r>
              <a:rPr lang="en-US" sz="790" dirty="0">
                <a:solidFill>
                  <a:srgbClr val="5A6A7A"/>
                </a:solidFill>
                <a:latin typeface="Calibri" pitchFamily="34" charset="0"/>
                <a:ea typeface="Calibri" pitchFamily="34" charset="-122"/>
                <a:cs typeface="Calibri" pitchFamily="34" charset="-120"/>
              </a:rPr>
              <a:t>Most high-volume states show steady or accelerating SAR growth across 2020–2025.</a:t>
            </a:r>
            <a:endParaRPr lang="en-US" sz="730" dirty="0"/>
          </a:p>
        </p:txBody>
      </p:sp>
      <p:sp>
        <p:nvSpPr>
          <p:cNvPr id="45" name="Text 43"/>
          <p:cNvSpPr/>
          <p:nvPr/>
        </p:nvSpPr>
        <p:spPr>
          <a:xfrm>
            <a:off x="6126361" y="3948410"/>
            <a:ext cx="21580" cy="829270"/>
          </a:xfrm>
          <a:prstGeom prst="rect">
            <a:avLst/>
          </a:prstGeom>
          <a:solidFill>
            <a:srgbClr val="C5A55A"/>
          </a:solidFill>
          <a:ln/>
        </p:spPr>
        <p:txBody>
          <a:bodyPr wrap="square" rtlCol="0" anchor="t"/>
          <a:lstStyle/>
          <a:p>
            <a:pPr marL="0" indent="0">
              <a:buNone/>
            </a:pPr>
            <a:endParaRPr lang="en-US" dirty="0"/>
          </a:p>
        </p:txBody>
      </p:sp>
      <p:sp>
        <p:nvSpPr>
          <p:cNvPr id="46" name="Text 44"/>
          <p:cNvSpPr/>
          <p:nvPr/>
        </p:nvSpPr>
        <p:spPr>
          <a:xfrm>
            <a:off x="476250" y="4848820"/>
            <a:ext cx="10097363" cy="112365"/>
          </a:xfrm>
          <a:prstGeom prst="rect">
            <a:avLst/>
          </a:prstGeom>
          <a:noFill/>
          <a:ln/>
        </p:spPr>
        <p:txBody>
          <a:bodyPr wrap="none" lIns="0" tIns="0" rIns="0" bIns="0" rtlCol="0" anchor="t"/>
          <a:lstStyle/>
          <a:p>
            <a:pPr marL="0" indent="0" algn="l">
              <a:lnSpc>
                <a:spcPts val="885"/>
              </a:lnSpc>
              <a:buNone/>
            </a:pPr>
            <a:r>
              <a:rPr lang="en-US" sz="560" dirty="0">
                <a:solidFill>
                  <a:srgbClr val="94A3B8"/>
                </a:solidFill>
                <a:latin typeface="Calibri" pitchFamily="34" charset="0"/>
                <a:ea typeface="Calibri" pitchFamily="34" charset="-122"/>
                <a:cs typeface="Calibri" pitchFamily="34" charset="-120"/>
              </a:rPr>
              <a:t>Source: FinCEN SAR filings merged dataset analysis · Values represent total filings per state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94208"/>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476250" y="419100"/>
            <a:ext cx="10097363" cy="118170"/>
          </a:xfrm>
          <a:prstGeom prst="rect">
            <a:avLst/>
          </a:prstGeom>
          <a:noFill/>
          <a:ln/>
        </p:spPr>
        <p:txBody>
          <a:bodyPr wrap="none" lIns="0" tIns="0" rIns="0" bIns="0" rtlCol="0" anchor="t"/>
          <a:lstStyle/>
          <a:p>
            <a:pPr marL="0" indent="0" algn="l">
              <a:lnSpc>
                <a:spcPts val="930"/>
              </a:lnSpc>
              <a:buNone/>
            </a:pPr>
            <a:r>
              <a:rPr lang="en-US" sz="620" b="1" dirty="0">
                <a:solidFill>
                  <a:srgbClr val="C5A55A"/>
                </a:solidFill>
                <a:latin typeface="Calibri" pitchFamily="34" charset="0"/>
                <a:ea typeface="Calibri" pitchFamily="34" charset="-122"/>
                <a:cs typeface="Calibri" pitchFamily="34" charset="-120"/>
              </a:rPr>
              <a:t>EXPLORATORY DATA ANALYSIS</a:t>
            </a:r>
            <a:endParaRPr lang="en-US" sz="1200" dirty="0"/>
          </a:p>
        </p:txBody>
      </p:sp>
      <p:sp>
        <p:nvSpPr>
          <p:cNvPr id="4" name="Text 2"/>
          <p:cNvSpPr/>
          <p:nvPr/>
        </p:nvSpPr>
        <p:spPr>
          <a:xfrm>
            <a:off x="476250" y="582811"/>
            <a:ext cx="9822165" cy="363885"/>
          </a:xfrm>
          <a:prstGeom prst="rect">
            <a:avLst/>
          </a:prstGeom>
          <a:noFill/>
          <a:ln/>
        </p:spPr>
        <p:txBody>
          <a:bodyPr wrap="none" lIns="0" tIns="0" rIns="0" bIns="0" rtlCol="0" anchor="t"/>
          <a:lstStyle/>
          <a:p>
            <a:pPr marL="0" indent="0" algn="l">
              <a:lnSpc>
                <a:spcPts val="2865"/>
              </a:lnSpc>
              <a:buNone/>
            </a:pPr>
            <a:r>
              <a:rPr lang="en-US" sz="1910" dirty="0">
                <a:solidFill>
                  <a:srgbClr val="1B2A4A"/>
                </a:solidFill>
                <a:latin typeface="Calibri Light" pitchFamily="34" charset="0"/>
                <a:ea typeface="Calibri Light" pitchFamily="34" charset="-122"/>
                <a:cs typeface="Calibri Light" pitchFamily="34" charset="-120"/>
              </a:rPr>
              <a:t>EDA: MSB Distribution</a:t>
            </a:r>
            <a:endParaRPr lang="en-US" sz="1200" dirty="0"/>
          </a:p>
        </p:txBody>
      </p:sp>
      <p:sp>
        <p:nvSpPr>
          <p:cNvPr id="5" name="Text 3"/>
          <p:cNvSpPr/>
          <p:nvPr/>
        </p:nvSpPr>
        <p:spPr>
          <a:xfrm>
            <a:off x="476250" y="990600"/>
            <a:ext cx="457200" cy="7590"/>
          </a:xfrm>
          <a:prstGeom prst="rect">
            <a:avLst/>
          </a:prstGeom>
          <a:solidFill>
            <a:srgbClr val="C5A55A"/>
          </a:solidFill>
          <a:ln/>
        </p:spPr>
        <p:txBody>
          <a:bodyPr wrap="none" rtlCol="0" anchor="t"/>
          <a:lstStyle/>
          <a:p>
            <a:pPr marL="0" indent="0">
              <a:buNone/>
            </a:pPr>
            <a:endParaRPr lang="en-US" dirty="0"/>
          </a:p>
        </p:txBody>
      </p:sp>
      <p:sp>
        <p:nvSpPr>
          <p:cNvPr id="6" name="Text 4"/>
          <p:cNvSpPr/>
          <p:nvPr/>
        </p:nvSpPr>
        <p:spPr>
          <a:xfrm>
            <a:off x="476250" y="1225302"/>
            <a:ext cx="2152635" cy="139005"/>
          </a:xfrm>
          <a:prstGeom prst="rect">
            <a:avLst/>
          </a:prstGeom>
          <a:noFill/>
          <a:ln/>
        </p:spPr>
        <p:txBody>
          <a:bodyPr wrap="none" lIns="0" tIns="0" rIns="0" bIns="0" rtlCol="0" anchor="t"/>
          <a:lstStyle/>
          <a:p>
            <a:pPr marL="0" indent="0" algn="l">
              <a:lnSpc>
                <a:spcPts val="1095"/>
              </a:lnSpc>
              <a:buNone/>
            </a:pPr>
            <a:r>
              <a:rPr lang="en-US" sz="730" b="1" dirty="0">
                <a:solidFill>
                  <a:srgbClr val="1B2A4A"/>
                </a:solidFill>
                <a:latin typeface="Calibri" pitchFamily="34" charset="0"/>
                <a:ea typeface="Calibri" pitchFamily="34" charset="-122"/>
                <a:cs typeface="Calibri" pitchFamily="34" charset="-120"/>
              </a:rPr>
              <a:t>MSB Registrations by State (Selected)</a:t>
            </a:r>
            <a:endParaRPr lang="en-US" sz="1200" dirty="0"/>
          </a:p>
        </p:txBody>
      </p:sp>
      <p:sp>
        <p:nvSpPr>
          <p:cNvPr id="7" name="Text 5"/>
          <p:cNvSpPr/>
          <p:nvPr/>
        </p:nvSpPr>
        <p:spPr>
          <a:xfrm>
            <a:off x="3926830" y="1197471"/>
            <a:ext cx="1246165" cy="206871"/>
          </a:xfrm>
          <a:prstGeom prst="roundRect">
            <a:avLst>
              <a:gd name="adj" fmla="val 48499"/>
            </a:avLst>
          </a:prstGeom>
          <a:solidFill>
            <a:srgbClr val="C5A55A">
              <a:alpha val="12000"/>
            </a:srgbClr>
          </a:solidFill>
          <a:ln w="9525">
            <a:solidFill>
              <a:srgbClr val="C5A55A">
                <a:alpha val="30000"/>
              </a:srgbClr>
            </a:solidFill>
          </a:ln>
        </p:spPr>
        <p:txBody>
          <a:bodyPr wrap="none" lIns="220980" tIns="29210" rIns="100330" bIns="29210" rtlCol="0" anchor="ctr"/>
          <a:lstStyle/>
          <a:p>
            <a:pPr marL="0" indent="0" algn="l">
              <a:buNone/>
            </a:pPr>
            <a:r>
              <a:rPr lang="en-US" sz="680" b="1" dirty="0">
                <a:solidFill>
                  <a:srgbClr val="8B7330"/>
                </a:solidFill>
                <a:latin typeface="Calibri" pitchFamily="34" charset="0"/>
                <a:ea typeface="Calibri" pitchFamily="34" charset="-122"/>
                <a:cs typeface="Calibri" pitchFamily="34" charset="-120"/>
              </a:rPr>
              <a:t>#1 State — California</a:t>
            </a:r>
            <a:endParaRPr lang="en-US" sz="12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5560" y="1233041"/>
            <a:ext cx="135880" cy="135880"/>
          </a:xfrm>
          <a:prstGeom prst="rect">
            <a:avLst/>
          </a:prstGeom>
        </p:spPr>
      </p:pic>
      <p:sp>
        <p:nvSpPr>
          <p:cNvPr id="9" name="Text 6"/>
          <p:cNvSpPr/>
          <p:nvPr/>
        </p:nvSpPr>
        <p:spPr>
          <a:xfrm>
            <a:off x="354851" y="2439442"/>
            <a:ext cx="706740" cy="139005"/>
          </a:xfrm>
          <a:prstGeom prst="rect">
            <a:avLst/>
          </a:prstGeom>
          <a:noFill/>
          <a:ln/>
        </p:spPr>
        <p:txBody>
          <a:bodyPr wrap="none" lIns="0" tIns="0" rIns="0" bIns="0" rtlCol="0" anchor="t"/>
          <a:lstStyle/>
          <a:p>
            <a:pPr marL="0" indent="0" algn="r">
              <a:lnSpc>
                <a:spcPts val="1095"/>
              </a:lnSpc>
              <a:buNone/>
            </a:pPr>
            <a:r>
              <a:rPr lang="en-US" sz="730" b="1" dirty="0">
                <a:solidFill>
                  <a:srgbClr val="1B2A4A"/>
                </a:solidFill>
                <a:latin typeface="Calibri" pitchFamily="34" charset="0"/>
                <a:ea typeface="Calibri" pitchFamily="34" charset="-122"/>
                <a:cs typeface="Calibri" pitchFamily="34" charset="-120"/>
              </a:rPr>
              <a:t>California</a:t>
            </a:r>
            <a:endParaRPr lang="en-US" sz="1200" dirty="0"/>
          </a:p>
        </p:txBody>
      </p:sp>
      <p:sp>
        <p:nvSpPr>
          <p:cNvPr id="10" name="Text 7"/>
          <p:cNvSpPr/>
          <p:nvPr/>
        </p:nvSpPr>
        <p:spPr>
          <a:xfrm>
            <a:off x="1134070" y="2419350"/>
            <a:ext cx="3992761" cy="185291"/>
          </a:xfrm>
          <a:prstGeom prst="roundRect">
            <a:avLst>
              <a:gd name="adj" fmla="val 15764"/>
            </a:avLst>
          </a:prstGeom>
          <a:solidFill>
            <a:srgbClr val="E8ECF2"/>
          </a:solidFill>
          <a:ln/>
        </p:spPr>
        <p:txBody>
          <a:bodyPr wrap="none" rtlCol="0" anchor="t"/>
          <a:lstStyle/>
          <a:p>
            <a:pPr marL="0" indent="0">
              <a:buNone/>
            </a:pPr>
            <a:endParaRPr lang="en-US" dirty="0"/>
          </a:p>
        </p:txBody>
      </p:sp>
      <p:sp>
        <p:nvSpPr>
          <p:cNvPr id="11" name="Text 8"/>
          <p:cNvSpPr/>
          <p:nvPr/>
        </p:nvSpPr>
        <p:spPr>
          <a:xfrm>
            <a:off x="1134070" y="2376934"/>
            <a:ext cx="4105722" cy="185291"/>
          </a:xfrm>
          <a:prstGeom prst="roundRect">
            <a:avLst>
              <a:gd name="adj" fmla="val 15132"/>
            </a:avLst>
          </a:prstGeom>
          <a:gradFill rotWithShape="1">
            <a:gsLst>
              <a:gs pos="0">
                <a:srgbClr val="C5A55A"/>
              </a:gs>
              <a:gs pos="100000">
                <a:srgbClr val="D4B96A"/>
              </a:gs>
            </a:gsLst>
            <a:lin ang="0" scaled="1"/>
          </a:gradFill>
          <a:ln/>
        </p:spPr>
        <p:txBody>
          <a:bodyPr wrap="none" lIns="0" tIns="0" rIns="71120" bIns="0" rtlCol="0" anchor="ctr"/>
          <a:lstStyle/>
          <a:p>
            <a:pPr marL="0" indent="0" algn="r">
              <a:buNone/>
            </a:pPr>
            <a:r>
              <a:rPr lang="en-US" sz="680" b="1" dirty="0">
                <a:solidFill>
                  <a:srgbClr val="FFFFFF"/>
                </a:solidFill>
                <a:latin typeface="Calibri" pitchFamily="34" charset="0"/>
                <a:ea typeface="Calibri" pitchFamily="34" charset="-122"/>
                <a:cs typeface="Calibri" pitchFamily="34" charset="-120"/>
              </a:rPr>
              <a:t>5,912</a:t>
            </a:r>
            <a:endParaRPr lang="en-US" sz="1200" dirty="0"/>
          </a:p>
        </p:txBody>
      </p:sp>
      <p:sp>
        <p:nvSpPr>
          <p:cNvPr id="12" name="Text 9"/>
          <p:cNvSpPr/>
          <p:nvPr/>
        </p:nvSpPr>
        <p:spPr>
          <a:xfrm>
            <a:off x="354851" y="2668042"/>
            <a:ext cx="706740" cy="139005"/>
          </a:xfrm>
          <a:prstGeom prst="rect">
            <a:avLst/>
          </a:prstGeom>
          <a:noFill/>
          <a:ln/>
        </p:spPr>
        <p:txBody>
          <a:bodyPr wrap="none" lIns="0" tIns="0" rIns="0" bIns="0" rtlCol="0" anchor="t"/>
          <a:lstStyle/>
          <a:p>
            <a:pPr marL="0" indent="0" algn="r">
              <a:lnSpc>
                <a:spcPts val="1095"/>
              </a:lnSpc>
              <a:buNone/>
            </a:pPr>
            <a:r>
              <a:rPr lang="en-US" sz="730" b="1" dirty="0">
                <a:solidFill>
                  <a:srgbClr val="1B2A4A"/>
                </a:solidFill>
                <a:latin typeface="Calibri" pitchFamily="34" charset="0"/>
                <a:ea typeface="Calibri" pitchFamily="34" charset="-122"/>
                <a:cs typeface="Calibri" pitchFamily="34" charset="-120"/>
              </a:rPr>
              <a:t>Colorado</a:t>
            </a:r>
            <a:endParaRPr lang="en-US" sz="1200" dirty="0"/>
          </a:p>
        </p:txBody>
      </p:sp>
      <p:sp>
        <p:nvSpPr>
          <p:cNvPr id="13" name="Text 10"/>
          <p:cNvSpPr/>
          <p:nvPr/>
        </p:nvSpPr>
        <p:spPr>
          <a:xfrm>
            <a:off x="1134070" y="2647950"/>
            <a:ext cx="3722340" cy="185291"/>
          </a:xfrm>
          <a:prstGeom prst="roundRect">
            <a:avLst>
              <a:gd name="adj" fmla="val 15764"/>
            </a:avLst>
          </a:prstGeom>
          <a:solidFill>
            <a:srgbClr val="E8ECF2"/>
          </a:solidFill>
          <a:ln/>
        </p:spPr>
        <p:txBody>
          <a:bodyPr wrap="none" rtlCol="0" anchor="t"/>
          <a:lstStyle/>
          <a:p>
            <a:pPr marL="0" indent="0">
              <a:buNone/>
            </a:pPr>
            <a:endParaRPr lang="en-US" dirty="0"/>
          </a:p>
        </p:txBody>
      </p:sp>
      <p:sp>
        <p:nvSpPr>
          <p:cNvPr id="14" name="Text 11"/>
          <p:cNvSpPr/>
          <p:nvPr/>
        </p:nvSpPr>
        <p:spPr>
          <a:xfrm>
            <a:off x="1134069" y="2647950"/>
            <a:ext cx="3334691" cy="185291"/>
          </a:xfrm>
          <a:prstGeom prst="roundRect">
            <a:avLst>
              <a:gd name="adj" fmla="val 15764"/>
            </a:avLst>
          </a:prstGeom>
          <a:solidFill>
            <a:srgbClr val="1B2A4A"/>
          </a:solidFill>
          <a:ln/>
        </p:spPr>
        <p:txBody>
          <a:bodyPr wrap="none" rtlCol="0" anchor="t"/>
          <a:lstStyle/>
          <a:p>
            <a:pPr marL="0" indent="0">
              <a:buNone/>
            </a:pPr>
            <a:endParaRPr lang="en-US" dirty="0"/>
          </a:p>
        </p:txBody>
      </p:sp>
      <p:sp>
        <p:nvSpPr>
          <p:cNvPr id="15" name="Text 12"/>
          <p:cNvSpPr/>
          <p:nvPr/>
        </p:nvSpPr>
        <p:spPr>
          <a:xfrm>
            <a:off x="4983361" y="2676525"/>
            <a:ext cx="173206" cy="129480"/>
          </a:xfrm>
          <a:prstGeom prst="rect">
            <a:avLst/>
          </a:prstGeom>
          <a:noFill/>
          <a:ln/>
        </p:spPr>
        <p:txBody>
          <a:bodyPr wrap="none" lIns="0" tIns="0" rIns="0" bIns="0" rtlCol="0" anchor="t"/>
          <a:lstStyle/>
          <a:p>
            <a:pPr marL="0" indent="0" algn="l">
              <a:lnSpc>
                <a:spcPts val="1020"/>
              </a:lnSpc>
              <a:buNone/>
            </a:pPr>
            <a:r>
              <a:rPr lang="en-US" sz="680" b="1" dirty="0">
                <a:solidFill>
                  <a:srgbClr val="1B2A4A"/>
                </a:solidFill>
                <a:latin typeface="Calibri" pitchFamily="34" charset="0"/>
                <a:ea typeface="Calibri" pitchFamily="34" charset="-122"/>
                <a:cs typeface="Calibri" pitchFamily="34" charset="-120"/>
              </a:rPr>
              <a:t>4,688</a:t>
            </a:r>
            <a:endParaRPr lang="en-US" sz="1200" dirty="0"/>
          </a:p>
        </p:txBody>
      </p:sp>
      <p:sp>
        <p:nvSpPr>
          <p:cNvPr id="16" name="Text 13"/>
          <p:cNvSpPr/>
          <p:nvPr/>
        </p:nvSpPr>
        <p:spPr>
          <a:xfrm>
            <a:off x="354851" y="2896642"/>
            <a:ext cx="706740" cy="139005"/>
          </a:xfrm>
          <a:prstGeom prst="rect">
            <a:avLst/>
          </a:prstGeom>
          <a:noFill/>
          <a:ln/>
        </p:spPr>
        <p:txBody>
          <a:bodyPr wrap="none" lIns="0" tIns="0" rIns="0" bIns="0" rtlCol="0" anchor="t"/>
          <a:lstStyle/>
          <a:p>
            <a:pPr marL="0" indent="0" algn="r">
              <a:lnSpc>
                <a:spcPts val="1095"/>
              </a:lnSpc>
              <a:buNone/>
            </a:pPr>
            <a:r>
              <a:rPr lang="en-US" sz="730" b="1" dirty="0">
                <a:solidFill>
                  <a:srgbClr val="1B2A4A"/>
                </a:solidFill>
                <a:latin typeface="Calibri" pitchFamily="34" charset="0"/>
                <a:ea typeface="Calibri" pitchFamily="34" charset="-122"/>
                <a:cs typeface="Calibri" pitchFamily="34" charset="-120"/>
              </a:rPr>
              <a:t>Texas</a:t>
            </a:r>
            <a:endParaRPr lang="en-US" sz="1200" dirty="0"/>
          </a:p>
        </p:txBody>
      </p:sp>
      <p:sp>
        <p:nvSpPr>
          <p:cNvPr id="17" name="Text 14"/>
          <p:cNvSpPr/>
          <p:nvPr/>
        </p:nvSpPr>
        <p:spPr>
          <a:xfrm>
            <a:off x="1134070" y="2876550"/>
            <a:ext cx="3722340" cy="185291"/>
          </a:xfrm>
          <a:prstGeom prst="roundRect">
            <a:avLst>
              <a:gd name="adj" fmla="val 15764"/>
            </a:avLst>
          </a:prstGeom>
          <a:solidFill>
            <a:srgbClr val="E8ECF2"/>
          </a:solidFill>
          <a:ln/>
        </p:spPr>
        <p:txBody>
          <a:bodyPr wrap="none" rtlCol="0" anchor="t"/>
          <a:lstStyle/>
          <a:p>
            <a:pPr marL="0" indent="0">
              <a:buNone/>
            </a:pPr>
            <a:endParaRPr lang="en-US" dirty="0"/>
          </a:p>
        </p:txBody>
      </p:sp>
      <p:sp>
        <p:nvSpPr>
          <p:cNvPr id="18" name="Text 15"/>
          <p:cNvSpPr/>
          <p:nvPr/>
        </p:nvSpPr>
        <p:spPr>
          <a:xfrm>
            <a:off x="1134069" y="2876550"/>
            <a:ext cx="2908727" cy="185291"/>
          </a:xfrm>
          <a:prstGeom prst="roundRect">
            <a:avLst>
              <a:gd name="adj" fmla="val 15764"/>
            </a:avLst>
          </a:prstGeom>
          <a:solidFill>
            <a:srgbClr val="1B2A4A"/>
          </a:solidFill>
          <a:ln/>
        </p:spPr>
        <p:txBody>
          <a:bodyPr wrap="none" rtlCol="0" anchor="t"/>
          <a:lstStyle/>
          <a:p>
            <a:pPr marL="0" indent="0">
              <a:buNone/>
            </a:pPr>
            <a:endParaRPr lang="en-US" dirty="0"/>
          </a:p>
        </p:txBody>
      </p:sp>
      <p:sp>
        <p:nvSpPr>
          <p:cNvPr id="19" name="Text 16"/>
          <p:cNvSpPr/>
          <p:nvPr/>
        </p:nvSpPr>
        <p:spPr>
          <a:xfrm>
            <a:off x="4983361" y="2905125"/>
            <a:ext cx="173206" cy="129480"/>
          </a:xfrm>
          <a:prstGeom prst="rect">
            <a:avLst/>
          </a:prstGeom>
          <a:noFill/>
          <a:ln/>
        </p:spPr>
        <p:txBody>
          <a:bodyPr wrap="none" lIns="0" tIns="0" rIns="0" bIns="0" rtlCol="0" anchor="t"/>
          <a:lstStyle/>
          <a:p>
            <a:pPr marL="0" indent="0" algn="l">
              <a:lnSpc>
                <a:spcPts val="1020"/>
              </a:lnSpc>
              <a:buNone/>
            </a:pPr>
            <a:r>
              <a:rPr lang="en-US" sz="680" b="1" dirty="0">
                <a:solidFill>
                  <a:srgbClr val="1B2A4A"/>
                </a:solidFill>
                <a:latin typeface="Calibri" pitchFamily="34" charset="0"/>
                <a:ea typeface="Calibri" pitchFamily="34" charset="-122"/>
                <a:cs typeface="Calibri" pitchFamily="34" charset="-120"/>
              </a:rPr>
              <a:t>4,082</a:t>
            </a:r>
            <a:endParaRPr lang="en-US" sz="1200" dirty="0"/>
          </a:p>
        </p:txBody>
      </p:sp>
      <p:sp>
        <p:nvSpPr>
          <p:cNvPr id="20" name="Text 17"/>
          <p:cNvSpPr/>
          <p:nvPr/>
        </p:nvSpPr>
        <p:spPr>
          <a:xfrm>
            <a:off x="354851" y="3125242"/>
            <a:ext cx="706740" cy="139005"/>
          </a:xfrm>
          <a:prstGeom prst="rect">
            <a:avLst/>
          </a:prstGeom>
          <a:noFill/>
          <a:ln/>
        </p:spPr>
        <p:txBody>
          <a:bodyPr wrap="none" lIns="0" tIns="0" rIns="0" bIns="0" rtlCol="0" anchor="t"/>
          <a:lstStyle/>
          <a:p>
            <a:pPr marL="0" indent="0" algn="r">
              <a:lnSpc>
                <a:spcPts val="1095"/>
              </a:lnSpc>
              <a:buNone/>
            </a:pPr>
            <a:r>
              <a:rPr lang="en-US" sz="730" b="1" dirty="0">
                <a:solidFill>
                  <a:srgbClr val="1B2A4A"/>
                </a:solidFill>
                <a:latin typeface="Calibri" pitchFamily="34" charset="0"/>
                <a:ea typeface="Calibri" pitchFamily="34" charset="-122"/>
                <a:cs typeface="Calibri" pitchFamily="34" charset="-120"/>
              </a:rPr>
              <a:t>Michigan</a:t>
            </a:r>
            <a:endParaRPr lang="en-US" sz="1200" dirty="0"/>
          </a:p>
        </p:txBody>
      </p:sp>
      <p:sp>
        <p:nvSpPr>
          <p:cNvPr id="21" name="Text 18"/>
          <p:cNvSpPr/>
          <p:nvPr/>
        </p:nvSpPr>
        <p:spPr>
          <a:xfrm>
            <a:off x="1134070" y="3105150"/>
            <a:ext cx="3722340" cy="185291"/>
          </a:xfrm>
          <a:prstGeom prst="roundRect">
            <a:avLst>
              <a:gd name="adj" fmla="val 15764"/>
            </a:avLst>
          </a:prstGeom>
          <a:solidFill>
            <a:srgbClr val="E8ECF2"/>
          </a:solidFill>
          <a:ln/>
        </p:spPr>
        <p:txBody>
          <a:bodyPr wrap="none" rtlCol="0" anchor="t"/>
          <a:lstStyle/>
          <a:p>
            <a:pPr marL="0" indent="0">
              <a:buNone/>
            </a:pPr>
            <a:endParaRPr lang="en-US" dirty="0"/>
          </a:p>
        </p:txBody>
      </p:sp>
      <p:sp>
        <p:nvSpPr>
          <p:cNvPr id="22" name="Text 19"/>
          <p:cNvSpPr/>
          <p:nvPr/>
        </p:nvSpPr>
        <p:spPr>
          <a:xfrm>
            <a:off x="1134069" y="3078956"/>
            <a:ext cx="1579633" cy="185291"/>
          </a:xfrm>
          <a:prstGeom prst="roundRect">
            <a:avLst>
              <a:gd name="adj" fmla="val 20360"/>
            </a:avLst>
          </a:prstGeom>
          <a:solidFill>
            <a:srgbClr val="1B2A4A"/>
          </a:solidFill>
          <a:ln/>
        </p:spPr>
        <p:txBody>
          <a:bodyPr wrap="none" rtlCol="0" anchor="t"/>
          <a:lstStyle/>
          <a:p>
            <a:pPr marL="0" indent="0">
              <a:buNone/>
            </a:pPr>
            <a:endParaRPr lang="en-US" dirty="0"/>
          </a:p>
        </p:txBody>
      </p:sp>
      <p:sp>
        <p:nvSpPr>
          <p:cNvPr id="23" name="Text 20"/>
          <p:cNvSpPr/>
          <p:nvPr/>
        </p:nvSpPr>
        <p:spPr>
          <a:xfrm>
            <a:off x="4983361" y="3133725"/>
            <a:ext cx="173206" cy="129480"/>
          </a:xfrm>
          <a:prstGeom prst="rect">
            <a:avLst/>
          </a:prstGeom>
          <a:noFill/>
          <a:ln/>
        </p:spPr>
        <p:txBody>
          <a:bodyPr wrap="none" lIns="0" tIns="0" rIns="0" bIns="0" rtlCol="0" anchor="t"/>
          <a:lstStyle/>
          <a:p>
            <a:pPr marL="0" indent="0" algn="l">
              <a:lnSpc>
                <a:spcPts val="1020"/>
              </a:lnSpc>
              <a:buNone/>
            </a:pPr>
            <a:r>
              <a:rPr lang="en-US" sz="680" b="1" dirty="0">
                <a:solidFill>
                  <a:srgbClr val="1B2A4A"/>
                </a:solidFill>
                <a:latin typeface="Calibri" pitchFamily="34" charset="0"/>
                <a:ea typeface="Calibri" pitchFamily="34" charset="-122"/>
                <a:cs typeface="Calibri" pitchFamily="34" charset="-120"/>
              </a:rPr>
              <a:t>1,874</a:t>
            </a:r>
            <a:endParaRPr lang="en-US" sz="1200" dirty="0"/>
          </a:p>
        </p:txBody>
      </p:sp>
      <p:sp>
        <p:nvSpPr>
          <p:cNvPr id="24" name="Text 21"/>
          <p:cNvSpPr/>
          <p:nvPr/>
        </p:nvSpPr>
        <p:spPr>
          <a:xfrm>
            <a:off x="354851" y="3353842"/>
            <a:ext cx="706740" cy="139005"/>
          </a:xfrm>
          <a:prstGeom prst="rect">
            <a:avLst/>
          </a:prstGeom>
          <a:noFill/>
          <a:ln/>
        </p:spPr>
        <p:txBody>
          <a:bodyPr wrap="none" lIns="0" tIns="0" rIns="0" bIns="0" rtlCol="0" anchor="t"/>
          <a:lstStyle/>
          <a:p>
            <a:pPr marL="0" indent="0" algn="r">
              <a:lnSpc>
                <a:spcPts val="1095"/>
              </a:lnSpc>
              <a:buNone/>
            </a:pPr>
            <a:r>
              <a:rPr lang="en-US" sz="730" b="1" dirty="0">
                <a:solidFill>
                  <a:srgbClr val="1B2A4A"/>
                </a:solidFill>
                <a:latin typeface="Calibri" pitchFamily="34" charset="0"/>
                <a:ea typeface="Calibri" pitchFamily="34" charset="-122"/>
                <a:cs typeface="Calibri" pitchFamily="34" charset="-120"/>
              </a:rPr>
              <a:t>New York</a:t>
            </a:r>
            <a:endParaRPr lang="en-US" sz="1200" dirty="0"/>
          </a:p>
        </p:txBody>
      </p:sp>
      <p:sp>
        <p:nvSpPr>
          <p:cNvPr id="25" name="Text 22"/>
          <p:cNvSpPr/>
          <p:nvPr/>
        </p:nvSpPr>
        <p:spPr>
          <a:xfrm>
            <a:off x="1134070" y="3333750"/>
            <a:ext cx="3722340" cy="185291"/>
          </a:xfrm>
          <a:prstGeom prst="roundRect">
            <a:avLst>
              <a:gd name="adj" fmla="val 15764"/>
            </a:avLst>
          </a:prstGeom>
          <a:solidFill>
            <a:srgbClr val="E8ECF2"/>
          </a:solidFill>
          <a:ln/>
        </p:spPr>
        <p:txBody>
          <a:bodyPr wrap="none" rtlCol="0" anchor="t"/>
          <a:lstStyle/>
          <a:p>
            <a:pPr marL="0" indent="0">
              <a:buNone/>
            </a:pPr>
            <a:endParaRPr lang="en-US" dirty="0"/>
          </a:p>
        </p:txBody>
      </p:sp>
      <p:sp>
        <p:nvSpPr>
          <p:cNvPr id="26" name="Text 23"/>
          <p:cNvSpPr/>
          <p:nvPr/>
        </p:nvSpPr>
        <p:spPr>
          <a:xfrm>
            <a:off x="1134070" y="3333750"/>
            <a:ext cx="873881" cy="185291"/>
          </a:xfrm>
          <a:prstGeom prst="roundRect">
            <a:avLst>
              <a:gd name="adj" fmla="val 41146"/>
            </a:avLst>
          </a:prstGeom>
          <a:solidFill>
            <a:srgbClr val="1B2A4A"/>
          </a:solidFill>
          <a:ln/>
        </p:spPr>
        <p:txBody>
          <a:bodyPr wrap="none" rtlCol="0" anchor="t"/>
          <a:lstStyle/>
          <a:p>
            <a:pPr marL="0" indent="0">
              <a:buNone/>
            </a:pPr>
            <a:endParaRPr lang="en-US" dirty="0"/>
          </a:p>
        </p:txBody>
      </p:sp>
      <p:sp>
        <p:nvSpPr>
          <p:cNvPr id="27" name="Text 24"/>
          <p:cNvSpPr/>
          <p:nvPr/>
        </p:nvSpPr>
        <p:spPr>
          <a:xfrm>
            <a:off x="4983361" y="3362325"/>
            <a:ext cx="173206" cy="129480"/>
          </a:xfrm>
          <a:prstGeom prst="rect">
            <a:avLst/>
          </a:prstGeom>
          <a:noFill/>
          <a:ln/>
        </p:spPr>
        <p:txBody>
          <a:bodyPr wrap="none" lIns="0" tIns="0" rIns="0" bIns="0" rtlCol="0" anchor="t"/>
          <a:lstStyle/>
          <a:p>
            <a:pPr marL="0" indent="0" algn="l">
              <a:lnSpc>
                <a:spcPts val="1020"/>
              </a:lnSpc>
              <a:buNone/>
            </a:pPr>
            <a:r>
              <a:rPr lang="en-US" sz="680" b="1" dirty="0">
                <a:solidFill>
                  <a:srgbClr val="1B2A4A"/>
                </a:solidFill>
                <a:latin typeface="Calibri" pitchFamily="34" charset="0"/>
                <a:ea typeface="Calibri" pitchFamily="34" charset="-122"/>
                <a:cs typeface="Calibri" pitchFamily="34" charset="-120"/>
              </a:rPr>
              <a:t>1,459</a:t>
            </a:r>
            <a:endParaRPr lang="en-US" sz="1200" dirty="0"/>
          </a:p>
        </p:txBody>
      </p:sp>
      <p:sp>
        <p:nvSpPr>
          <p:cNvPr id="28" name="Text 25"/>
          <p:cNvSpPr/>
          <p:nvPr/>
        </p:nvSpPr>
        <p:spPr>
          <a:xfrm>
            <a:off x="1134070" y="4533900"/>
            <a:ext cx="86320" cy="86320"/>
          </a:xfrm>
          <a:prstGeom prst="roundRect">
            <a:avLst>
              <a:gd name="adj" fmla="val 16184"/>
            </a:avLst>
          </a:prstGeom>
          <a:solidFill>
            <a:srgbClr val="C5A55A"/>
          </a:solidFill>
          <a:ln/>
        </p:spPr>
        <p:txBody>
          <a:bodyPr wrap="none" rtlCol="0" anchor="t"/>
          <a:lstStyle/>
          <a:p>
            <a:pPr marL="0" indent="0">
              <a:buNone/>
            </a:pPr>
            <a:endParaRPr lang="en-US" dirty="0"/>
          </a:p>
        </p:txBody>
      </p:sp>
      <p:sp>
        <p:nvSpPr>
          <p:cNvPr id="29" name="Text 26"/>
          <p:cNvSpPr/>
          <p:nvPr/>
        </p:nvSpPr>
        <p:spPr>
          <a:xfrm>
            <a:off x="1254621" y="4521696"/>
            <a:ext cx="1037927" cy="118170"/>
          </a:xfrm>
          <a:prstGeom prst="rect">
            <a:avLst/>
          </a:prstGeom>
          <a:noFill/>
          <a:ln/>
        </p:spPr>
        <p:txBody>
          <a:bodyPr wrap="none" lIns="0" tIns="0" rIns="0" bIns="0" rtlCol="0" anchor="t"/>
          <a:lstStyle/>
          <a:p>
            <a:pPr marL="0" indent="0" algn="l">
              <a:lnSpc>
                <a:spcPts val="930"/>
              </a:lnSpc>
              <a:buNone/>
            </a:pPr>
            <a:r>
              <a:rPr lang="en-US" sz="620" dirty="0">
                <a:solidFill>
                  <a:srgbClr val="5A6B8A"/>
                </a:solidFill>
                <a:latin typeface="Calibri" pitchFamily="34" charset="0"/>
                <a:ea typeface="Calibri" pitchFamily="34" charset="-122"/>
                <a:cs typeface="Calibri" pitchFamily="34" charset="-120"/>
              </a:rPr>
              <a:t>Top state (gold highlight)</a:t>
            </a:r>
            <a:endParaRPr lang="en-US" sz="1200" dirty="0"/>
          </a:p>
        </p:txBody>
      </p:sp>
      <p:sp>
        <p:nvSpPr>
          <p:cNvPr id="30" name="Text 27"/>
          <p:cNvSpPr/>
          <p:nvPr/>
        </p:nvSpPr>
        <p:spPr>
          <a:xfrm>
            <a:off x="2226171" y="4533900"/>
            <a:ext cx="86320" cy="86320"/>
          </a:xfrm>
          <a:prstGeom prst="roundRect">
            <a:avLst>
              <a:gd name="adj" fmla="val 16184"/>
            </a:avLst>
          </a:prstGeom>
          <a:solidFill>
            <a:srgbClr val="1B2A4A"/>
          </a:solidFill>
          <a:ln/>
        </p:spPr>
        <p:txBody>
          <a:bodyPr wrap="none" rtlCol="0" anchor="t"/>
          <a:lstStyle/>
          <a:p>
            <a:pPr marL="0" indent="0">
              <a:buNone/>
            </a:pPr>
            <a:endParaRPr lang="en-US" dirty="0"/>
          </a:p>
        </p:txBody>
      </p:sp>
      <p:sp>
        <p:nvSpPr>
          <p:cNvPr id="31" name="Text 28"/>
          <p:cNvSpPr/>
          <p:nvPr/>
        </p:nvSpPr>
        <p:spPr>
          <a:xfrm>
            <a:off x="2348210" y="4521696"/>
            <a:ext cx="518145" cy="118170"/>
          </a:xfrm>
          <a:prstGeom prst="rect">
            <a:avLst/>
          </a:prstGeom>
          <a:noFill/>
          <a:ln/>
        </p:spPr>
        <p:txBody>
          <a:bodyPr wrap="none" lIns="0" tIns="0" rIns="0" bIns="0" rtlCol="0" anchor="t"/>
          <a:lstStyle/>
          <a:p>
            <a:pPr marL="0" indent="0" algn="l">
              <a:lnSpc>
                <a:spcPts val="930"/>
              </a:lnSpc>
              <a:buNone/>
            </a:pPr>
            <a:r>
              <a:rPr lang="en-US" sz="620" dirty="0">
                <a:solidFill>
                  <a:srgbClr val="5A6B8A"/>
                </a:solidFill>
                <a:latin typeface="Calibri" pitchFamily="34" charset="0"/>
                <a:ea typeface="Calibri" pitchFamily="34" charset="-122"/>
                <a:cs typeface="Calibri" pitchFamily="34" charset="-120"/>
              </a:rPr>
              <a:t>Other states</a:t>
            </a:r>
            <a:endParaRPr lang="en-US" sz="1200" dirty="0"/>
          </a:p>
        </p:txBody>
      </p:sp>
      <p:sp>
        <p:nvSpPr>
          <p:cNvPr id="32" name="Text 29"/>
          <p:cNvSpPr/>
          <p:nvPr/>
        </p:nvSpPr>
        <p:spPr>
          <a:xfrm>
            <a:off x="1134070" y="4691360"/>
            <a:ext cx="4832092" cy="118170"/>
          </a:xfrm>
          <a:prstGeom prst="rect">
            <a:avLst/>
          </a:prstGeom>
          <a:noFill/>
          <a:ln/>
        </p:spPr>
        <p:txBody>
          <a:bodyPr wrap="none" lIns="0" tIns="0" rIns="0" bIns="0" rtlCol="0" anchor="t"/>
          <a:lstStyle/>
          <a:p>
            <a:pPr marL="0" indent="0" algn="l">
              <a:lnSpc>
                <a:spcPts val="930"/>
              </a:lnSpc>
              <a:buNone/>
            </a:pPr>
            <a:r>
              <a:rPr lang="en-US" sz="620" i="1" dirty="0">
                <a:solidFill>
                  <a:srgbClr val="5A6B8A"/>
                </a:solidFill>
                <a:latin typeface="Calibri" pitchFamily="34" charset="0"/>
                <a:ea typeface="Calibri" pitchFamily="34" charset="-122"/>
                <a:cs typeface="Calibri" pitchFamily="34" charset="-120"/>
              </a:rPr>
              <a:t>Top 5 MSB states: California, Colorado, Texas, Michigan, New York</a:t>
            </a:r>
            <a:endParaRPr lang="en-US" sz="1200" dirty="0"/>
          </a:p>
        </p:txBody>
      </p:sp>
      <p:sp>
        <p:nvSpPr>
          <p:cNvPr id="33" name="Text 30"/>
          <p:cNvSpPr/>
          <p:nvPr/>
        </p:nvSpPr>
        <p:spPr>
          <a:xfrm>
            <a:off x="5383411" y="1469380"/>
            <a:ext cx="3436590" cy="742950"/>
          </a:xfrm>
          <a:prstGeom prst="roundRect">
            <a:avLst>
              <a:gd name="adj" fmla="val 9573"/>
            </a:avLst>
          </a:prstGeom>
          <a:solidFill>
            <a:srgbClr val="F5F7FA"/>
          </a:solidFill>
          <a:ln/>
        </p:spPr>
        <p:txBody>
          <a:bodyPr wrap="square" rtlCol="0" anchor="t"/>
          <a:lstStyle/>
          <a:p>
            <a:pPr marL="0" indent="0">
              <a:buNone/>
            </a:pPr>
            <a:endParaRPr lang="en-US" dirty="0"/>
          </a:p>
        </p:txBody>
      </p:sp>
      <p:sp>
        <p:nvSpPr>
          <p:cNvPr id="34" name="Text 31"/>
          <p:cNvSpPr/>
          <p:nvPr/>
        </p:nvSpPr>
        <p:spPr>
          <a:xfrm>
            <a:off x="5383411" y="1469380"/>
            <a:ext cx="21580" cy="742950"/>
          </a:xfrm>
          <a:prstGeom prst="rect">
            <a:avLst/>
          </a:prstGeom>
          <a:solidFill>
            <a:srgbClr val="C5A55A"/>
          </a:solidFill>
          <a:ln/>
        </p:spPr>
        <p:txBody>
          <a:bodyPr wrap="square" rtlCol="0" anchor="t"/>
          <a:lstStyle/>
          <a:p>
            <a:pPr marL="0" indent="0">
              <a:buNone/>
            </a:pPr>
            <a:endParaRPr lang="en-US" dirty="0"/>
          </a:p>
        </p:txBody>
      </p:sp>
      <p:pic>
        <p:nvPicPr>
          <p:cNvPr id="3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27030" y="1611511"/>
            <a:ext cx="135880" cy="135880"/>
          </a:xfrm>
          <a:prstGeom prst="rect">
            <a:avLst/>
          </a:prstGeom>
        </p:spPr>
      </p:pic>
      <p:sp>
        <p:nvSpPr>
          <p:cNvPr id="36" name="Text 32"/>
          <p:cNvSpPr/>
          <p:nvPr/>
        </p:nvSpPr>
        <p:spPr>
          <a:xfrm>
            <a:off x="5698480" y="1561802"/>
            <a:ext cx="951324" cy="150465"/>
          </a:xfrm>
          <a:prstGeom prst="rect">
            <a:avLst/>
          </a:prstGeom>
          <a:noFill/>
          <a:ln/>
        </p:spPr>
        <p:txBody>
          <a:bodyPr wrap="none" lIns="0" tIns="0" rIns="0" bIns="0" rtlCol="0" anchor="t"/>
          <a:lstStyle/>
          <a:p>
            <a:pPr marL="0" indent="0" algn="l">
              <a:lnSpc>
                <a:spcPts val="1185"/>
              </a:lnSpc>
              <a:spcAft>
                <a:spcPts val="340"/>
              </a:spcAft>
              <a:buNone/>
            </a:pPr>
            <a:r>
              <a:rPr lang="en-US" sz="790" b="1" dirty="0">
                <a:solidFill>
                  <a:srgbClr val="1B2A4A"/>
                </a:solidFill>
                <a:latin typeface="Calibri Light" pitchFamily="34" charset="0"/>
                <a:ea typeface="Calibri Light" pitchFamily="34" charset="-122"/>
                <a:cs typeface="Calibri Light" pitchFamily="34" charset="-120"/>
              </a:rPr>
              <a:t>Top MSB States</a:t>
            </a:r>
            <a:endParaRPr lang="en-US" sz="1200" dirty="0"/>
          </a:p>
        </p:txBody>
      </p:sp>
      <p:sp>
        <p:nvSpPr>
          <p:cNvPr id="37" name="Text 33"/>
          <p:cNvSpPr/>
          <p:nvPr/>
        </p:nvSpPr>
        <p:spPr>
          <a:xfrm>
            <a:off x="5548610" y="1819870"/>
            <a:ext cx="3256514" cy="291911"/>
          </a:xfrm>
          <a:prstGeom prst="rect">
            <a:avLst/>
          </a:prstGeom>
          <a:noFill/>
          <a:ln/>
        </p:spPr>
        <p:txBody>
          <a:bodyPr wrap="square" lIns="0" tIns="0" rIns="0" bIns="0" rtlCol="0" anchor="t"/>
          <a:lstStyle/>
          <a:p>
            <a:pPr marL="0" indent="0" algn="l">
              <a:lnSpc>
                <a:spcPts val="1095"/>
              </a:lnSpc>
              <a:buNone/>
            </a:pPr>
            <a:r>
              <a:rPr lang="en-US" sz="730" dirty="0">
                <a:solidFill>
                  <a:srgbClr val="5A6B8A"/>
                </a:solidFill>
                <a:latin typeface="Calibri" pitchFamily="34" charset="0"/>
                <a:ea typeface="Calibri" pitchFamily="34" charset="-122"/>
                <a:cs typeface="Calibri" pitchFamily="34" charset="-120"/>
              </a:rPr>
              <a:t>California, Colorado, Texas, Michigan, and New York host the largest numbers of registered Money Services Businesses.</a:t>
            </a:r>
            <a:endParaRPr lang="en-US" sz="1200" dirty="0"/>
          </a:p>
        </p:txBody>
      </p:sp>
      <p:sp>
        <p:nvSpPr>
          <p:cNvPr id="38" name="Text 34"/>
          <p:cNvSpPr/>
          <p:nvPr/>
        </p:nvSpPr>
        <p:spPr>
          <a:xfrm>
            <a:off x="5383411" y="2326630"/>
            <a:ext cx="3436590" cy="742950"/>
          </a:xfrm>
          <a:prstGeom prst="roundRect">
            <a:avLst>
              <a:gd name="adj" fmla="val 9573"/>
            </a:avLst>
          </a:prstGeom>
          <a:solidFill>
            <a:srgbClr val="F5F7FA"/>
          </a:solidFill>
          <a:ln/>
        </p:spPr>
        <p:txBody>
          <a:bodyPr wrap="square" rtlCol="0" anchor="t"/>
          <a:lstStyle/>
          <a:p>
            <a:pPr marL="0" indent="0">
              <a:buNone/>
            </a:pPr>
            <a:endParaRPr lang="en-US" dirty="0"/>
          </a:p>
        </p:txBody>
      </p:sp>
      <p:sp>
        <p:nvSpPr>
          <p:cNvPr id="39" name="Text 35"/>
          <p:cNvSpPr/>
          <p:nvPr/>
        </p:nvSpPr>
        <p:spPr>
          <a:xfrm>
            <a:off x="5383411" y="2326630"/>
            <a:ext cx="21580" cy="742950"/>
          </a:xfrm>
          <a:prstGeom prst="rect">
            <a:avLst/>
          </a:prstGeom>
          <a:solidFill>
            <a:srgbClr val="C5A55A"/>
          </a:solidFill>
          <a:ln/>
        </p:spPr>
        <p:txBody>
          <a:bodyPr wrap="square" rtlCol="0" anchor="t"/>
          <a:lstStyle/>
          <a:p>
            <a:pPr marL="0" indent="0">
              <a:buNone/>
            </a:pPr>
            <a:endParaRPr lang="en-US" dirty="0"/>
          </a:p>
        </p:txBody>
      </p:sp>
      <p:pic>
        <p:nvPicPr>
          <p:cNvPr id="4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7030" y="2468761"/>
            <a:ext cx="135880" cy="135880"/>
          </a:xfrm>
          <a:prstGeom prst="rect">
            <a:avLst/>
          </a:prstGeom>
        </p:spPr>
      </p:pic>
      <p:sp>
        <p:nvSpPr>
          <p:cNvPr id="41" name="Text 36"/>
          <p:cNvSpPr/>
          <p:nvPr/>
        </p:nvSpPr>
        <p:spPr>
          <a:xfrm>
            <a:off x="5698480" y="2419052"/>
            <a:ext cx="1272525" cy="150465"/>
          </a:xfrm>
          <a:prstGeom prst="rect">
            <a:avLst/>
          </a:prstGeom>
          <a:noFill/>
          <a:ln/>
        </p:spPr>
        <p:txBody>
          <a:bodyPr wrap="none" lIns="0" tIns="0" rIns="0" bIns="0" rtlCol="0" anchor="t"/>
          <a:lstStyle/>
          <a:p>
            <a:pPr marL="0" indent="0" algn="l">
              <a:lnSpc>
                <a:spcPts val="1185"/>
              </a:lnSpc>
              <a:spcAft>
                <a:spcPts val="340"/>
              </a:spcAft>
              <a:buNone/>
            </a:pPr>
            <a:r>
              <a:rPr lang="en-US" sz="790" b="1" dirty="0">
                <a:solidFill>
                  <a:srgbClr val="1B2A4A"/>
                </a:solidFill>
                <a:latin typeface="Calibri Light" pitchFamily="34" charset="0"/>
                <a:ea typeface="Calibri Light" pitchFamily="34" charset="-122"/>
                <a:cs typeface="Calibri Light" pitchFamily="34" charset="-120"/>
              </a:rPr>
              <a:t>Demographic Drivers</a:t>
            </a:r>
            <a:endParaRPr lang="en-US" sz="1200" dirty="0"/>
          </a:p>
        </p:txBody>
      </p:sp>
      <p:sp>
        <p:nvSpPr>
          <p:cNvPr id="42" name="Text 37"/>
          <p:cNvSpPr/>
          <p:nvPr/>
        </p:nvSpPr>
        <p:spPr>
          <a:xfrm>
            <a:off x="5548610" y="2677120"/>
            <a:ext cx="3256514" cy="291911"/>
          </a:xfrm>
          <a:prstGeom prst="rect">
            <a:avLst/>
          </a:prstGeom>
          <a:noFill/>
          <a:ln/>
        </p:spPr>
        <p:txBody>
          <a:bodyPr wrap="square" lIns="0" tIns="0" rIns="0" bIns="0" rtlCol="0" anchor="t"/>
          <a:lstStyle/>
          <a:p>
            <a:pPr marL="0" indent="0" algn="l">
              <a:lnSpc>
                <a:spcPts val="1095"/>
              </a:lnSpc>
              <a:buNone/>
            </a:pPr>
            <a:r>
              <a:rPr lang="en-US" sz="730" dirty="0">
                <a:solidFill>
                  <a:srgbClr val="5A6B8A"/>
                </a:solidFill>
                <a:latin typeface="Calibri" pitchFamily="34" charset="0"/>
                <a:ea typeface="Calibri" pitchFamily="34" charset="-122"/>
                <a:cs typeface="Calibri" pitchFamily="34" charset="-120"/>
              </a:rPr>
              <a:t>Large populations, diverse economies, and significant immigrant or remittance-sending communities increase demand for MSB services.</a:t>
            </a:r>
            <a:endParaRPr lang="en-US" sz="1200" dirty="0"/>
          </a:p>
        </p:txBody>
      </p:sp>
      <p:sp>
        <p:nvSpPr>
          <p:cNvPr id="43" name="Text 38"/>
          <p:cNvSpPr/>
          <p:nvPr/>
        </p:nvSpPr>
        <p:spPr>
          <a:xfrm>
            <a:off x="5383411" y="3183880"/>
            <a:ext cx="3436590" cy="742950"/>
          </a:xfrm>
          <a:prstGeom prst="roundRect">
            <a:avLst>
              <a:gd name="adj" fmla="val 9573"/>
            </a:avLst>
          </a:prstGeom>
          <a:solidFill>
            <a:srgbClr val="F5F7FA"/>
          </a:solidFill>
          <a:ln/>
        </p:spPr>
        <p:txBody>
          <a:bodyPr wrap="square" rtlCol="0" anchor="t"/>
          <a:lstStyle/>
          <a:p>
            <a:pPr marL="0" indent="0">
              <a:buNone/>
            </a:pPr>
            <a:endParaRPr lang="en-US" dirty="0"/>
          </a:p>
        </p:txBody>
      </p:sp>
      <p:sp>
        <p:nvSpPr>
          <p:cNvPr id="44" name="Text 39"/>
          <p:cNvSpPr/>
          <p:nvPr/>
        </p:nvSpPr>
        <p:spPr>
          <a:xfrm>
            <a:off x="5383411" y="3183880"/>
            <a:ext cx="21580" cy="742950"/>
          </a:xfrm>
          <a:prstGeom prst="rect">
            <a:avLst/>
          </a:prstGeom>
          <a:solidFill>
            <a:srgbClr val="C5A55A"/>
          </a:solidFill>
          <a:ln/>
        </p:spPr>
        <p:txBody>
          <a:bodyPr wrap="square" rtlCol="0" anchor="t"/>
          <a:lstStyle/>
          <a:p>
            <a:pPr marL="0" indent="0">
              <a:buNone/>
            </a:pPr>
            <a:endParaRPr lang="en-US" dirty="0"/>
          </a:p>
        </p:txBody>
      </p:sp>
      <p:pic>
        <p:nvPicPr>
          <p:cNvPr id="4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27030" y="3326011"/>
            <a:ext cx="135880" cy="135880"/>
          </a:xfrm>
          <a:prstGeom prst="rect">
            <a:avLst/>
          </a:prstGeom>
        </p:spPr>
      </p:pic>
      <p:sp>
        <p:nvSpPr>
          <p:cNvPr id="46" name="Text 40"/>
          <p:cNvSpPr/>
          <p:nvPr/>
        </p:nvSpPr>
        <p:spPr>
          <a:xfrm>
            <a:off x="5698480" y="3276302"/>
            <a:ext cx="1155308" cy="150465"/>
          </a:xfrm>
          <a:prstGeom prst="rect">
            <a:avLst/>
          </a:prstGeom>
          <a:noFill/>
          <a:ln/>
        </p:spPr>
        <p:txBody>
          <a:bodyPr wrap="none" lIns="0" tIns="0" rIns="0" bIns="0" rtlCol="0" anchor="t"/>
          <a:lstStyle/>
          <a:p>
            <a:pPr marL="0" indent="0" algn="l">
              <a:lnSpc>
                <a:spcPts val="1185"/>
              </a:lnSpc>
              <a:spcAft>
                <a:spcPts val="340"/>
              </a:spcAft>
              <a:buNone/>
            </a:pPr>
            <a:r>
              <a:rPr lang="en-US" sz="790" b="1" dirty="0">
                <a:solidFill>
                  <a:srgbClr val="1B2A4A"/>
                </a:solidFill>
                <a:latin typeface="Calibri Light" pitchFamily="34" charset="0"/>
                <a:ea typeface="Calibri Light" pitchFamily="34" charset="-122"/>
                <a:cs typeface="Calibri Light" pitchFamily="34" charset="-120"/>
              </a:rPr>
              <a:t>Natural Experiment</a:t>
            </a:r>
            <a:endParaRPr lang="en-US" sz="1200" dirty="0"/>
          </a:p>
        </p:txBody>
      </p:sp>
      <p:sp>
        <p:nvSpPr>
          <p:cNvPr id="47" name="Text 41"/>
          <p:cNvSpPr/>
          <p:nvPr/>
        </p:nvSpPr>
        <p:spPr>
          <a:xfrm>
            <a:off x="5548610" y="3534370"/>
            <a:ext cx="3256514" cy="291911"/>
          </a:xfrm>
          <a:prstGeom prst="rect">
            <a:avLst/>
          </a:prstGeom>
          <a:noFill/>
          <a:ln/>
        </p:spPr>
        <p:txBody>
          <a:bodyPr wrap="square" lIns="0" tIns="0" rIns="0" bIns="0" rtlCol="0" anchor="t"/>
          <a:lstStyle/>
          <a:p>
            <a:pPr marL="0" indent="0" algn="l">
              <a:lnSpc>
                <a:spcPts val="1095"/>
              </a:lnSpc>
              <a:buNone/>
            </a:pPr>
            <a:r>
              <a:rPr lang="en-US" sz="730" dirty="0">
                <a:solidFill>
                  <a:srgbClr val="5A6B8A"/>
                </a:solidFill>
                <a:latin typeface="Calibri" pitchFamily="34" charset="0"/>
                <a:ea typeface="Calibri" pitchFamily="34" charset="-122"/>
                <a:cs typeface="Calibri" pitchFamily="34" charset="-120"/>
              </a:rPr>
              <a:t>Uneven MSB distribution creates an opportunity to test whether MSB density is associated with SAR filing volume.</a:t>
            </a:r>
            <a:endParaRPr lang="en-US" sz="1200" dirty="0"/>
          </a:p>
        </p:txBody>
      </p:sp>
      <p:sp>
        <p:nvSpPr>
          <p:cNvPr id="48" name="Text 42"/>
          <p:cNvSpPr/>
          <p:nvPr/>
        </p:nvSpPr>
        <p:spPr>
          <a:xfrm>
            <a:off x="5383411" y="4041130"/>
            <a:ext cx="3436590" cy="500360"/>
          </a:xfrm>
          <a:prstGeom prst="roundRect">
            <a:avLst>
              <a:gd name="adj" fmla="val 14214"/>
            </a:avLst>
          </a:prstGeom>
          <a:gradFill rotWithShape="1">
            <a:gsLst>
              <a:gs pos="0">
                <a:srgbClr val="1B2A4A"/>
              </a:gs>
              <a:gs pos="100000">
                <a:srgbClr val="2A3F6A"/>
              </a:gs>
            </a:gsLst>
            <a:lin ang="2700000" scaled="1"/>
          </a:gradFill>
          <a:ln/>
        </p:spPr>
        <p:txBody>
          <a:bodyPr wrap="square" rtlCol="0" anchor="t"/>
          <a:lstStyle/>
          <a:p>
            <a:pPr marL="0" indent="0">
              <a:buNone/>
            </a:pPr>
            <a:endParaRPr lang="en-US" dirty="0"/>
          </a:p>
        </p:txBody>
      </p:sp>
      <p:sp>
        <p:nvSpPr>
          <p:cNvPr id="49" name="Text 43"/>
          <p:cNvSpPr/>
          <p:nvPr/>
        </p:nvSpPr>
        <p:spPr>
          <a:xfrm>
            <a:off x="5527030" y="4163020"/>
            <a:ext cx="762729" cy="257770"/>
          </a:xfrm>
          <a:prstGeom prst="rect">
            <a:avLst/>
          </a:prstGeom>
          <a:noFill/>
          <a:ln/>
        </p:spPr>
        <p:txBody>
          <a:bodyPr wrap="none" lIns="0" tIns="0" rIns="0" bIns="0" rtlCol="0" anchor="t"/>
          <a:lstStyle/>
          <a:p>
            <a:pPr marL="0" indent="0" algn="l">
              <a:lnSpc>
                <a:spcPts val="2030"/>
              </a:lnSpc>
              <a:buNone/>
            </a:pPr>
            <a:r>
              <a:rPr lang="en-US" sz="2030" dirty="0">
                <a:solidFill>
                  <a:srgbClr val="C5A55A"/>
                </a:solidFill>
                <a:latin typeface="Calibri Light" pitchFamily="34" charset="0"/>
                <a:ea typeface="Calibri Light" pitchFamily="34" charset="-122"/>
                <a:cs typeface="Calibri Light" pitchFamily="34" charset="-120"/>
              </a:rPr>
              <a:t>5,912</a:t>
            </a:r>
            <a:endParaRPr lang="en-US" sz="1200" dirty="0"/>
          </a:p>
        </p:txBody>
      </p:sp>
      <p:sp>
        <p:nvSpPr>
          <p:cNvPr id="50" name="Text 44"/>
          <p:cNvSpPr/>
          <p:nvPr/>
        </p:nvSpPr>
        <p:spPr>
          <a:xfrm>
            <a:off x="6283821" y="4155430"/>
            <a:ext cx="1673453" cy="139005"/>
          </a:xfrm>
          <a:prstGeom prst="rect">
            <a:avLst/>
          </a:prstGeom>
          <a:noFill/>
          <a:ln/>
        </p:spPr>
        <p:txBody>
          <a:bodyPr wrap="none" lIns="0" tIns="0" rIns="0" bIns="0" rtlCol="0" anchor="t"/>
          <a:lstStyle/>
          <a:p>
            <a:pPr marL="0" indent="0" algn="l">
              <a:lnSpc>
                <a:spcPts val="1095"/>
              </a:lnSpc>
              <a:buNone/>
            </a:pPr>
            <a:r>
              <a:rPr lang="en-US" sz="730" b="1" dirty="0">
                <a:solidFill>
                  <a:srgbClr val="FFFFFF"/>
                </a:solidFill>
                <a:latin typeface="Calibri" pitchFamily="34" charset="0"/>
                <a:ea typeface="Calibri" pitchFamily="34" charset="-122"/>
                <a:cs typeface="Calibri" pitchFamily="34" charset="-120"/>
              </a:rPr>
              <a:t>California MSBs</a:t>
            </a:r>
            <a:endParaRPr lang="en-US" sz="1200" dirty="0"/>
          </a:p>
        </p:txBody>
      </p:sp>
      <p:sp>
        <p:nvSpPr>
          <p:cNvPr id="51" name="Text 45"/>
          <p:cNvSpPr/>
          <p:nvPr/>
        </p:nvSpPr>
        <p:spPr>
          <a:xfrm>
            <a:off x="6283821" y="4305300"/>
            <a:ext cx="1673453" cy="118170"/>
          </a:xfrm>
          <a:prstGeom prst="rect">
            <a:avLst/>
          </a:prstGeom>
          <a:noFill/>
          <a:ln/>
        </p:spPr>
        <p:txBody>
          <a:bodyPr wrap="none" lIns="0" tIns="0" rIns="0" bIns="0" rtlCol="0" anchor="t"/>
          <a:lstStyle/>
          <a:p>
            <a:pPr marL="0" indent="0" algn="l">
              <a:lnSpc>
                <a:spcPts val="930"/>
              </a:lnSpc>
              <a:buNone/>
            </a:pPr>
            <a:r>
              <a:rPr lang="en-US" sz="620" dirty="0">
                <a:solidFill>
                  <a:srgbClr val="FFFFFF">
                    <a:alpha val="60000"/>
                  </a:srgbClr>
                </a:solidFill>
                <a:latin typeface="Calibri" pitchFamily="34" charset="0"/>
                <a:ea typeface="Calibri" pitchFamily="34" charset="-122"/>
                <a:cs typeface="Calibri" pitchFamily="34" charset="-120"/>
              </a:rPr>
              <a:t>10× more than most other states shown</a:t>
            </a:r>
            <a:endParaRPr lang="en-US" sz="1200" dirty="0"/>
          </a:p>
        </p:txBody>
      </p:sp>
      <p:sp>
        <p:nvSpPr>
          <p:cNvPr id="52" name="Text 46"/>
          <p:cNvSpPr/>
          <p:nvPr/>
        </p:nvSpPr>
        <p:spPr>
          <a:xfrm>
            <a:off x="476250" y="4926211"/>
            <a:ext cx="8343900" cy="7590"/>
          </a:xfrm>
          <a:prstGeom prst="rect">
            <a:avLst/>
          </a:prstGeom>
          <a:gradFill rotWithShape="1">
            <a:gsLst>
              <a:gs pos="0">
                <a:srgbClr val="C5A55A"/>
              </a:gs>
              <a:gs pos="100000">
                <a:srgbClr val="000000">
                  <a:alpha val="0"/>
                </a:srgbClr>
              </a:gs>
            </a:gsLst>
            <a:lin ang="0" scaled="1"/>
          </a:gradFill>
          <a:ln/>
        </p:spPr>
        <p:txBody>
          <a:bodyPr wrap="non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476250" y="419100"/>
            <a:ext cx="10097363" cy="129480"/>
          </a:xfrm>
          <a:prstGeom prst="rect">
            <a:avLst/>
          </a:prstGeom>
          <a:noFill/>
          <a:ln/>
        </p:spPr>
        <p:txBody>
          <a:bodyPr wrap="none" lIns="0" tIns="0" rIns="0" bIns="0" rtlCol="0" anchor="t"/>
          <a:lstStyle/>
          <a:p>
            <a:pPr marL="0" indent="0" algn="l">
              <a:lnSpc>
                <a:spcPts val="1020"/>
              </a:lnSpc>
              <a:buNone/>
            </a:pPr>
            <a:r>
              <a:rPr lang="en-US" sz="680" b="1" dirty="0">
                <a:solidFill>
                  <a:srgbClr val="C5A55A"/>
                </a:solidFill>
                <a:latin typeface="Calibri" pitchFamily="34" charset="0"/>
                <a:ea typeface="Calibri" pitchFamily="34" charset="-122"/>
                <a:cs typeface="Calibri" pitchFamily="34" charset="-120"/>
              </a:rPr>
              <a:t>EXPLORATORY DATA ANALYSIS</a:t>
            </a:r>
            <a:endParaRPr lang="en-US" sz="1200" dirty="0"/>
          </a:p>
        </p:txBody>
      </p:sp>
      <p:sp>
        <p:nvSpPr>
          <p:cNvPr id="4" name="Text 2"/>
          <p:cNvSpPr/>
          <p:nvPr/>
        </p:nvSpPr>
        <p:spPr>
          <a:xfrm>
            <a:off x="476250" y="633710"/>
            <a:ext cx="9822165" cy="309414"/>
          </a:xfrm>
          <a:prstGeom prst="rect">
            <a:avLst/>
          </a:prstGeom>
          <a:noFill/>
          <a:ln/>
        </p:spPr>
        <p:txBody>
          <a:bodyPr wrap="none" lIns="0" tIns="0" rIns="0" bIns="0" rtlCol="0" anchor="t"/>
          <a:lstStyle/>
          <a:p>
            <a:pPr marL="0" indent="0" algn="l">
              <a:lnSpc>
                <a:spcPts val="2436"/>
              </a:lnSpc>
              <a:spcBef>
                <a:spcPts val="340"/>
              </a:spcBef>
              <a:buNone/>
            </a:pPr>
            <a:r>
              <a:rPr lang="en-US" sz="2030" dirty="0">
                <a:solidFill>
                  <a:srgbClr val="1B2A4A"/>
                </a:solidFill>
                <a:latin typeface="Calibri Light" pitchFamily="34" charset="0"/>
                <a:ea typeface="Calibri Light" pitchFamily="34" charset="-122"/>
                <a:cs typeface="Calibri Light" pitchFamily="34" charset="-120"/>
              </a:rPr>
              <a:t>SAR vs MSB Scatterplot</a:t>
            </a:r>
            <a:endParaRPr lang="en-US" sz="1200" dirty="0"/>
          </a:p>
        </p:txBody>
      </p:sp>
      <p:sp>
        <p:nvSpPr>
          <p:cNvPr id="5" name="Text 3"/>
          <p:cNvSpPr/>
          <p:nvPr/>
        </p:nvSpPr>
        <p:spPr>
          <a:xfrm>
            <a:off x="476250" y="968871"/>
            <a:ext cx="1857970" cy="7590"/>
          </a:xfrm>
          <a:prstGeom prst="rect">
            <a:avLst/>
          </a:prstGeom>
          <a:solidFill>
            <a:srgbClr val="C5A55A"/>
          </a:solidFill>
          <a:ln/>
        </p:spPr>
        <p:txBody>
          <a:bodyPr wrap="none" rtlCol="0" anchor="t"/>
          <a:lstStyle/>
          <a:p>
            <a:pPr marL="0" indent="0">
              <a:buNone/>
            </a:pPr>
            <a:endParaRPr lang="en-US" dirty="0"/>
          </a:p>
        </p:txBody>
      </p:sp>
      <p:sp>
        <p:nvSpPr>
          <p:cNvPr id="6" name="Text 4"/>
          <p:cNvSpPr/>
          <p:nvPr/>
        </p:nvSpPr>
        <p:spPr>
          <a:xfrm>
            <a:off x="476250" y="1183630"/>
            <a:ext cx="6144220" cy="3750171"/>
          </a:xfrm>
          <a:prstGeom prst="roundRect">
            <a:avLst>
              <a:gd name="adj" fmla="val 2303"/>
            </a:avLst>
          </a:prstGeom>
          <a:solidFill>
            <a:srgbClr val="F5F7FA"/>
          </a:solidFill>
          <a:ln w="9525">
            <a:solidFill>
              <a:srgbClr val="E8ECF1"/>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7980" y="1855440"/>
            <a:ext cx="3643610" cy="2465040"/>
          </a:xfrm>
          <a:prstGeom prst="rect">
            <a:avLst/>
          </a:prstGeom>
        </p:spPr>
      </p:pic>
      <p:sp>
        <p:nvSpPr>
          <p:cNvPr id="8" name="Text 5"/>
          <p:cNvSpPr/>
          <p:nvPr/>
        </p:nvSpPr>
        <p:spPr>
          <a:xfrm>
            <a:off x="6819900" y="1562100"/>
            <a:ext cx="2000250" cy="699641"/>
          </a:xfrm>
          <a:prstGeom prst="roundRect">
            <a:avLst>
              <a:gd name="adj" fmla="val 10165"/>
            </a:avLst>
          </a:prstGeom>
          <a:solidFill>
            <a:srgbClr val="F5F7FA"/>
          </a:solidFill>
          <a:ln/>
        </p:spPr>
        <p:txBody>
          <a:bodyPr wrap="square" rtlCol="0" anchor="t"/>
          <a:lstStyle/>
          <a:p>
            <a:pPr marL="0" indent="0">
              <a:buNone/>
            </a:pPr>
            <a:endParaRPr lang="en-US" dirty="0"/>
          </a:p>
        </p:txBody>
      </p:sp>
      <p:sp>
        <p:nvSpPr>
          <p:cNvPr id="9" name="Text 6"/>
          <p:cNvSpPr/>
          <p:nvPr/>
        </p:nvSpPr>
        <p:spPr>
          <a:xfrm>
            <a:off x="6819900" y="1562100"/>
            <a:ext cx="21580" cy="699641"/>
          </a:xfrm>
          <a:prstGeom prst="rect">
            <a:avLst/>
          </a:prstGeom>
          <a:solidFill>
            <a:srgbClr val="C5A55A"/>
          </a:solidFill>
          <a:ln/>
        </p:spPr>
        <p:txBody>
          <a:bodyPr wrap="square" rtlCol="0" anchor="t"/>
          <a:lstStyle/>
          <a:p>
            <a:pPr marL="0" indent="0">
              <a:buNone/>
            </a:pPr>
            <a:endParaRPr lang="en-US"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8041" y="1690241"/>
            <a:ext cx="135880" cy="135880"/>
          </a:xfrm>
          <a:prstGeom prst="rect">
            <a:avLst/>
          </a:prstGeom>
        </p:spPr>
      </p:pic>
      <p:sp>
        <p:nvSpPr>
          <p:cNvPr id="11" name="Text 7"/>
          <p:cNvSpPr/>
          <p:nvPr/>
        </p:nvSpPr>
        <p:spPr>
          <a:xfrm>
            <a:off x="7119491" y="1675209"/>
            <a:ext cx="1666577" cy="159990"/>
          </a:xfrm>
          <a:prstGeom prst="rect">
            <a:avLst/>
          </a:prstGeom>
          <a:noFill/>
          <a:ln/>
        </p:spPr>
        <p:txBody>
          <a:bodyPr wrap="none" lIns="0" tIns="0" rIns="0" bIns="0" rtlCol="0" anchor="t"/>
          <a:lstStyle/>
          <a:p>
            <a:pPr marL="0" indent="0" algn="l">
              <a:lnSpc>
                <a:spcPts val="1260"/>
              </a:lnSpc>
              <a:buNone/>
            </a:pPr>
            <a:r>
              <a:rPr lang="en-US" sz="840" b="1" dirty="0">
                <a:solidFill>
                  <a:srgbClr val="1B2A4A"/>
                </a:solidFill>
                <a:latin typeface="Calibri Light" pitchFamily="34" charset="0"/>
                <a:ea typeface="Calibri Light" pitchFamily="34" charset="-122"/>
                <a:cs typeface="Calibri Light" pitchFamily="34" charset="-120"/>
              </a:rPr>
              <a:t>Clear Positive Relationship</a:t>
            </a:r>
            <a:endParaRPr lang="en-US" sz="1200" dirty="0"/>
          </a:p>
        </p:txBody>
      </p:sp>
      <p:sp>
        <p:nvSpPr>
          <p:cNvPr id="12" name="Text 8"/>
          <p:cNvSpPr/>
          <p:nvPr/>
        </p:nvSpPr>
        <p:spPr>
          <a:xfrm>
            <a:off x="6969621" y="1877020"/>
            <a:ext cx="1792813" cy="282223"/>
          </a:xfrm>
          <a:prstGeom prst="rect">
            <a:avLst/>
          </a:prstGeom>
          <a:noFill/>
          <a:ln/>
        </p:spPr>
        <p:txBody>
          <a:bodyPr wrap="square" lIns="0" tIns="0" rIns="0" bIns="0" rtlCol="0" anchor="t"/>
          <a:lstStyle/>
          <a:p>
            <a:pPr marL="0" indent="0" algn="l">
              <a:lnSpc>
                <a:spcPts val="1058"/>
              </a:lnSpc>
              <a:buNone/>
            </a:pPr>
            <a:r>
              <a:rPr lang="en-US" sz="730" dirty="0">
                <a:solidFill>
                  <a:srgbClr val="6B7B95"/>
                </a:solidFill>
                <a:latin typeface="Calibri" pitchFamily="34" charset="0"/>
                <a:ea typeface="Calibri" pitchFamily="34" charset="-122"/>
                <a:cs typeface="Calibri" pitchFamily="34" charset="-120"/>
              </a:rPr>
              <a:t>States with larger MSB footprints file more SARs</a:t>
            </a:r>
            <a:endParaRPr lang="en-US" sz="1200" dirty="0"/>
          </a:p>
        </p:txBody>
      </p:sp>
      <p:sp>
        <p:nvSpPr>
          <p:cNvPr id="13" name="Text 9"/>
          <p:cNvSpPr/>
          <p:nvPr/>
        </p:nvSpPr>
        <p:spPr>
          <a:xfrm>
            <a:off x="6819900" y="2362200"/>
            <a:ext cx="2256532" cy="919451"/>
          </a:xfrm>
          <a:prstGeom prst="roundRect">
            <a:avLst>
              <a:gd name="adj" fmla="val 7735"/>
            </a:avLst>
          </a:prstGeom>
          <a:solidFill>
            <a:srgbClr val="F5F7FA"/>
          </a:solidFill>
          <a:ln/>
        </p:spPr>
        <p:txBody>
          <a:bodyPr wrap="square" lIns="128270" tIns="114300" rIns="128270" bIns="114300" rtlCol="0" anchor="t"/>
          <a:lstStyle/>
          <a:p>
            <a:pPr marL="0" indent="0" algn="l">
              <a:buNone/>
            </a:pPr>
            <a:r>
              <a:rPr lang="en-US" sz="1580" dirty="0">
                <a:solidFill>
                  <a:srgbClr val="4A6FA5"/>
                </a:solidFill>
                <a:latin typeface="Calibri Light" pitchFamily="34" charset="0"/>
                <a:ea typeface="Calibri Light" pitchFamily="34" charset="-122"/>
                <a:cs typeface="Calibri Light" pitchFamily="34" charset="-120"/>
              </a:rPr>
              <a:t>R² = 0.444</a:t>
            </a:r>
            <a:endParaRPr lang="en-US" sz="1580" dirty="0"/>
          </a:p>
          <a:p>
            <a:pPr marL="0" indent="0" algn="l">
              <a:buNone/>
            </a:pPr>
            <a:r>
              <a:rPr lang="en-US" sz="730" dirty="0">
                <a:solidFill>
                  <a:srgbClr val="6B7B95"/>
                </a:solidFill>
                <a:latin typeface="Calibri" pitchFamily="34" charset="0"/>
                <a:ea typeface="Calibri" pitchFamily="34" charset="-122"/>
                <a:cs typeface="Calibri" pitchFamily="34" charset="-120"/>
              </a:rPr>
              <a:t>MSB count explains ~44% of SAR filing variation across states</a:t>
            </a:r>
            <a:endParaRPr lang="en-US" sz="1580" dirty="0"/>
          </a:p>
        </p:txBody>
      </p:sp>
      <p:sp>
        <p:nvSpPr>
          <p:cNvPr id="14" name="Text 10"/>
          <p:cNvSpPr/>
          <p:nvPr/>
        </p:nvSpPr>
        <p:spPr>
          <a:xfrm>
            <a:off x="6819900" y="2362200"/>
            <a:ext cx="21580" cy="642491"/>
          </a:xfrm>
          <a:prstGeom prst="rect">
            <a:avLst/>
          </a:prstGeom>
          <a:solidFill>
            <a:srgbClr val="C5A55A"/>
          </a:solidFill>
          <a:ln/>
        </p:spPr>
        <p:txBody>
          <a:bodyPr wrap="square" rtlCol="0" anchor="t"/>
          <a:lstStyle/>
          <a:p>
            <a:pPr marL="0" indent="0">
              <a:buNone/>
            </a:pPr>
            <a:endParaRPr lang="en-US" dirty="0"/>
          </a:p>
        </p:txBody>
      </p:sp>
      <p:sp>
        <p:nvSpPr>
          <p:cNvPr id="15" name="Text 11"/>
          <p:cNvSpPr/>
          <p:nvPr/>
        </p:nvSpPr>
        <p:spPr>
          <a:xfrm>
            <a:off x="6819900" y="3112740"/>
            <a:ext cx="2000250" cy="699641"/>
          </a:xfrm>
          <a:prstGeom prst="roundRect">
            <a:avLst>
              <a:gd name="adj" fmla="val 10165"/>
            </a:avLst>
          </a:prstGeom>
          <a:solidFill>
            <a:srgbClr val="F5F7FA"/>
          </a:solidFill>
          <a:ln/>
        </p:spPr>
        <p:txBody>
          <a:bodyPr wrap="square" rtlCol="0" anchor="t"/>
          <a:lstStyle/>
          <a:p>
            <a:pPr marL="0" indent="0">
              <a:buNone/>
            </a:pPr>
            <a:endParaRPr lang="en-US" dirty="0"/>
          </a:p>
        </p:txBody>
      </p:sp>
      <p:sp>
        <p:nvSpPr>
          <p:cNvPr id="16" name="Text 12"/>
          <p:cNvSpPr/>
          <p:nvPr/>
        </p:nvSpPr>
        <p:spPr>
          <a:xfrm>
            <a:off x="6819900" y="3112740"/>
            <a:ext cx="21580" cy="699641"/>
          </a:xfrm>
          <a:prstGeom prst="rect">
            <a:avLst/>
          </a:prstGeom>
          <a:solidFill>
            <a:srgbClr val="C5A55A"/>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48041" y="3233291"/>
            <a:ext cx="135880" cy="135880"/>
          </a:xfrm>
          <a:prstGeom prst="rect">
            <a:avLst/>
          </a:prstGeom>
        </p:spPr>
      </p:pic>
      <p:sp>
        <p:nvSpPr>
          <p:cNvPr id="18" name="Text 13"/>
          <p:cNvSpPr/>
          <p:nvPr/>
        </p:nvSpPr>
        <p:spPr>
          <a:xfrm>
            <a:off x="7119491" y="3225850"/>
            <a:ext cx="1304776" cy="159990"/>
          </a:xfrm>
          <a:prstGeom prst="rect">
            <a:avLst/>
          </a:prstGeom>
          <a:noFill/>
          <a:ln/>
        </p:spPr>
        <p:txBody>
          <a:bodyPr wrap="none" lIns="0" tIns="0" rIns="0" bIns="0" rtlCol="0" anchor="t"/>
          <a:lstStyle/>
          <a:p>
            <a:pPr marL="0" indent="0" algn="l">
              <a:lnSpc>
                <a:spcPts val="1260"/>
              </a:lnSpc>
              <a:buNone/>
            </a:pPr>
            <a:r>
              <a:rPr lang="en-US" sz="840" b="1" dirty="0">
                <a:solidFill>
                  <a:srgbClr val="1B2A4A"/>
                </a:solidFill>
                <a:latin typeface="Calibri Light" pitchFamily="34" charset="0"/>
                <a:ea typeface="Calibri Light" pitchFamily="34" charset="-122"/>
                <a:cs typeface="Calibri Light" pitchFamily="34" charset="-120"/>
              </a:rPr>
              <a:t>Supports Regression</a:t>
            </a:r>
            <a:endParaRPr lang="en-US" sz="1200" dirty="0"/>
          </a:p>
        </p:txBody>
      </p:sp>
      <p:sp>
        <p:nvSpPr>
          <p:cNvPr id="19" name="Text 14"/>
          <p:cNvSpPr/>
          <p:nvPr/>
        </p:nvSpPr>
        <p:spPr>
          <a:xfrm>
            <a:off x="6969621" y="3426321"/>
            <a:ext cx="1792813" cy="282223"/>
          </a:xfrm>
          <a:prstGeom prst="rect">
            <a:avLst/>
          </a:prstGeom>
          <a:noFill/>
          <a:ln/>
        </p:spPr>
        <p:txBody>
          <a:bodyPr wrap="square" lIns="0" tIns="0" rIns="0" bIns="0" rtlCol="0" anchor="t"/>
          <a:lstStyle/>
          <a:p>
            <a:pPr marL="0" indent="0" algn="l">
              <a:lnSpc>
                <a:spcPts val="1058"/>
              </a:lnSpc>
              <a:buNone/>
            </a:pPr>
            <a:r>
              <a:rPr lang="en-US" sz="730" dirty="0">
                <a:solidFill>
                  <a:srgbClr val="6B7B95"/>
                </a:solidFill>
                <a:latin typeface="Calibri" pitchFamily="34" charset="0"/>
                <a:ea typeface="Calibri" pitchFamily="34" charset="-122"/>
                <a:cs typeface="Calibri" pitchFamily="34" charset="-120"/>
              </a:rPr>
              <a:t>Pattern is strong enough to justify formal statistical modeling</a:t>
            </a:r>
            <a:endParaRPr lang="en-US" sz="1200" dirty="0"/>
          </a:p>
        </p:txBody>
      </p:sp>
      <p:sp>
        <p:nvSpPr>
          <p:cNvPr id="20" name="Text 15"/>
          <p:cNvSpPr/>
          <p:nvPr/>
        </p:nvSpPr>
        <p:spPr>
          <a:xfrm>
            <a:off x="6819900" y="3940671"/>
            <a:ext cx="2000250" cy="614660"/>
          </a:xfrm>
          <a:prstGeom prst="roundRect">
            <a:avLst>
              <a:gd name="adj" fmla="val 9298"/>
            </a:avLst>
          </a:prstGeom>
          <a:solidFill>
            <a:srgbClr val="C5A55A">
              <a:alpha val="8000"/>
            </a:srgbClr>
          </a:solidFill>
          <a:ln w="9525">
            <a:solidFill>
              <a:srgbClr val="C5A55A">
                <a:alpha val="20000"/>
              </a:srgbClr>
            </a:solidFill>
          </a:ln>
        </p:spPr>
        <p:txBody>
          <a:bodyPr wrap="square" rtlCol="0" anchor="t"/>
          <a:lstStyle/>
          <a:p>
            <a:pPr marL="0" indent="0">
              <a:buNone/>
            </a:pPr>
            <a:endParaRPr lang="en-US" dirty="0"/>
          </a:p>
        </p:txBody>
      </p:sp>
      <p:sp>
        <p:nvSpPr>
          <p:cNvPr id="21" name="Text 16"/>
          <p:cNvSpPr/>
          <p:nvPr/>
        </p:nvSpPr>
        <p:spPr>
          <a:xfrm>
            <a:off x="6926461" y="4033093"/>
            <a:ext cx="117217" cy="150465"/>
          </a:xfrm>
          <a:prstGeom prst="rect">
            <a:avLst/>
          </a:prstGeom>
          <a:noFill/>
          <a:ln/>
        </p:spPr>
        <p:txBody>
          <a:bodyPr wrap="none" lIns="0" tIns="0" rIns="0" bIns="0" rtlCol="0" anchor="t"/>
          <a:lstStyle/>
          <a:p>
            <a:pPr marL="0" indent="0" algn="l">
              <a:lnSpc>
                <a:spcPts val="1185"/>
              </a:lnSpc>
              <a:buNone/>
            </a:pPr>
            <a:r>
              <a:rPr lang="en-US" sz="790" dirty="0">
                <a:solidFill>
                  <a:srgbClr val="C5A55A"/>
                </a:solidFill>
                <a:latin typeface="Calibri" pitchFamily="34" charset="0"/>
                <a:ea typeface="Calibri" pitchFamily="34" charset="-122"/>
                <a:cs typeface="Calibri" pitchFamily="34" charset="-120"/>
              </a:rPr>
              <a:t>★</a:t>
            </a:r>
            <a:endParaRPr lang="en-US" sz="1200" dirty="0"/>
          </a:p>
        </p:txBody>
      </p:sp>
      <p:sp>
        <p:nvSpPr>
          <p:cNvPr id="22" name="Text 17"/>
          <p:cNvSpPr/>
          <p:nvPr/>
        </p:nvSpPr>
        <p:spPr>
          <a:xfrm>
            <a:off x="7070080" y="4048125"/>
            <a:ext cx="745867" cy="129480"/>
          </a:xfrm>
          <a:prstGeom prst="rect">
            <a:avLst/>
          </a:prstGeom>
          <a:noFill/>
          <a:ln/>
        </p:spPr>
        <p:txBody>
          <a:bodyPr wrap="none" lIns="0" tIns="0" rIns="0" bIns="0" rtlCol="0" anchor="t"/>
          <a:lstStyle/>
          <a:p>
            <a:pPr marL="0" indent="0" algn="l">
              <a:lnSpc>
                <a:spcPts val="1020"/>
              </a:lnSpc>
              <a:buNone/>
            </a:pPr>
            <a:r>
              <a:rPr lang="en-US" sz="680" b="1" dirty="0">
                <a:solidFill>
                  <a:srgbClr val="C5A55A"/>
                </a:solidFill>
                <a:latin typeface="Calibri" pitchFamily="34" charset="0"/>
                <a:ea typeface="Calibri" pitchFamily="34" charset="-122"/>
                <a:cs typeface="Calibri" pitchFamily="34" charset="-120"/>
              </a:rPr>
              <a:t>Notable Outlier</a:t>
            </a:r>
            <a:endParaRPr lang="en-US" sz="1200" dirty="0"/>
          </a:p>
        </p:txBody>
      </p:sp>
      <p:sp>
        <p:nvSpPr>
          <p:cNvPr id="23" name="Text 18"/>
          <p:cNvSpPr/>
          <p:nvPr/>
        </p:nvSpPr>
        <p:spPr>
          <a:xfrm>
            <a:off x="6926461" y="4212580"/>
            <a:ext cx="1851106" cy="253782"/>
          </a:xfrm>
          <a:prstGeom prst="rect">
            <a:avLst/>
          </a:prstGeom>
          <a:noFill/>
          <a:ln/>
        </p:spPr>
        <p:txBody>
          <a:bodyPr wrap="square" lIns="0" tIns="0" rIns="0" bIns="0" rtlCol="0" anchor="t"/>
          <a:lstStyle/>
          <a:p>
            <a:pPr marL="0" indent="0" algn="l">
              <a:lnSpc>
                <a:spcPts val="952"/>
              </a:lnSpc>
              <a:buNone/>
            </a:pPr>
            <a:r>
              <a:rPr lang="en-US" sz="680" dirty="0">
                <a:solidFill>
                  <a:srgbClr val="6B7B95"/>
                </a:solidFill>
                <a:latin typeface="Calibri" pitchFamily="34" charset="0"/>
                <a:ea typeface="Calibri" pitchFamily="34" charset="-122"/>
                <a:cs typeface="Calibri" pitchFamily="34" charset="-120"/>
              </a:rPr>
              <a:t>California (5,912 MSBs; 406,561 SARs) dominates the upper-right quadrant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69354"/>
            <a:ext cx="9067800" cy="5067300"/>
          </a:xfrm>
          <a:prstGeom prst="rect">
            <a:avLst/>
          </a:prstGeom>
          <a:solidFill>
            <a:srgbClr val="FFFFFF"/>
          </a:solidFill>
          <a:ln/>
        </p:spPr>
        <p:txBody>
          <a:bodyPr wrap="square" rtlCol="0" anchor="t"/>
          <a:lstStyle/>
          <a:p>
            <a:pPr marL="0" indent="0">
              <a:buNone/>
            </a:pPr>
            <a:endParaRPr lang="en-US" dirty="0"/>
          </a:p>
        </p:txBody>
      </p:sp>
      <p:sp>
        <p:nvSpPr>
          <p:cNvPr id="3" name="Text 1"/>
          <p:cNvSpPr/>
          <p:nvPr/>
        </p:nvSpPr>
        <p:spPr>
          <a:xfrm>
            <a:off x="448270" y="333970"/>
            <a:ext cx="10160228" cy="118170"/>
          </a:xfrm>
          <a:prstGeom prst="rect">
            <a:avLst/>
          </a:prstGeom>
          <a:noFill/>
          <a:ln/>
        </p:spPr>
        <p:txBody>
          <a:bodyPr wrap="none" lIns="0" tIns="0" rIns="0" bIns="0" rtlCol="0" anchor="t"/>
          <a:lstStyle/>
          <a:p>
            <a:pPr marL="0" indent="0" algn="l">
              <a:lnSpc>
                <a:spcPts val="930"/>
              </a:lnSpc>
              <a:buNone/>
            </a:pPr>
            <a:r>
              <a:rPr lang="en-US" sz="620" b="1" dirty="0">
                <a:solidFill>
                  <a:srgbClr val="C5A55A"/>
                </a:solidFill>
                <a:latin typeface="Calibri" pitchFamily="34" charset="0"/>
                <a:ea typeface="Calibri" pitchFamily="34" charset="-122"/>
                <a:cs typeface="Calibri" pitchFamily="34" charset="-120"/>
              </a:rPr>
              <a:t>STATISTICAL MODELING</a:t>
            </a:r>
            <a:endParaRPr lang="en-US" sz="1200" dirty="0"/>
          </a:p>
        </p:txBody>
      </p:sp>
      <p:sp>
        <p:nvSpPr>
          <p:cNvPr id="4" name="Text 2"/>
          <p:cNvSpPr/>
          <p:nvPr/>
        </p:nvSpPr>
        <p:spPr>
          <a:xfrm>
            <a:off x="448270" y="524024"/>
            <a:ext cx="2054373" cy="290036"/>
          </a:xfrm>
          <a:prstGeom prst="rect">
            <a:avLst/>
          </a:prstGeom>
          <a:noFill/>
          <a:ln/>
        </p:spPr>
        <p:txBody>
          <a:bodyPr wrap="square" lIns="0" tIns="0" rIns="0" bIns="0" rtlCol="0" anchor="t"/>
          <a:lstStyle/>
          <a:p>
            <a:pPr marL="0" indent="0" algn="l">
              <a:lnSpc>
                <a:spcPts val="1200"/>
              </a:lnSpc>
              <a:buNone/>
            </a:pPr>
            <a:r>
              <a:rPr lang="en-US" sz="1910" dirty="0">
                <a:solidFill>
                  <a:srgbClr val="1B2A4A"/>
                </a:solidFill>
                <a:latin typeface="Calibri Light" pitchFamily="34" charset="0"/>
                <a:ea typeface="Calibri Light" pitchFamily="34" charset="-122"/>
                <a:cs typeface="Calibri Light" pitchFamily="34" charset="-120"/>
              </a:rPr>
              <a:t>Regression Model</a:t>
            </a:r>
            <a:endParaRPr lang="en-US" sz="1200" dirty="0"/>
          </a:p>
        </p:txBody>
      </p:sp>
      <p:sp>
        <p:nvSpPr>
          <p:cNvPr id="5" name="Text 3"/>
          <p:cNvSpPr/>
          <p:nvPr/>
        </p:nvSpPr>
        <p:spPr>
          <a:xfrm>
            <a:off x="448270" y="832991"/>
            <a:ext cx="1956941" cy="7590"/>
          </a:xfrm>
          <a:prstGeom prst="rect">
            <a:avLst/>
          </a:prstGeom>
          <a:solidFill>
            <a:srgbClr val="C5A55A"/>
          </a:solidFill>
          <a:ln/>
        </p:spPr>
        <p:txBody>
          <a:bodyPr wrap="none" rtlCol="0" anchor="t"/>
          <a:lstStyle/>
          <a:p>
            <a:pPr marL="0" indent="0">
              <a:buNone/>
            </a:pPr>
            <a:endParaRPr lang="en-US" dirty="0"/>
          </a:p>
        </p:txBody>
      </p:sp>
      <p:sp>
        <p:nvSpPr>
          <p:cNvPr id="6" name="Text 4"/>
          <p:cNvSpPr/>
          <p:nvPr/>
        </p:nvSpPr>
        <p:spPr>
          <a:xfrm>
            <a:off x="430341" y="933711"/>
            <a:ext cx="8351710" cy="626508"/>
          </a:xfrm>
          <a:prstGeom prst="roundRect">
            <a:avLst>
              <a:gd name="adj" fmla="val 4662"/>
            </a:avLst>
          </a:prstGeom>
          <a:solidFill>
            <a:srgbClr val="F5F7FA"/>
          </a:solidFill>
          <a:ln/>
        </p:spPr>
        <p:txBody>
          <a:bodyPr wrap="square" lIns="171450" tIns="100330" rIns="171450" bIns="100330" rtlCol="0" anchor="t"/>
          <a:lstStyle/>
          <a:p>
            <a:pPr marL="0" indent="0" algn="l">
              <a:buNone/>
            </a:pPr>
            <a:r>
              <a:rPr lang="en-US" sz="1070" dirty="0">
                <a:solidFill>
                  <a:srgbClr val="1B2A4A"/>
                </a:solidFill>
                <a:latin typeface="Cambria Math" pitchFamily="34" charset="0"/>
                <a:ea typeface="Cambria Math" pitchFamily="34" charset="-122"/>
                <a:cs typeface="Cambria Math" pitchFamily="34" charset="-120"/>
              </a:rPr>
              <a:t>SAR Count = β₀ + β₁ × MSB Count + ε</a:t>
            </a:r>
            <a:endParaRPr lang="en-US" sz="1200" dirty="0"/>
          </a:p>
        </p:txBody>
      </p:sp>
      <p:sp>
        <p:nvSpPr>
          <p:cNvPr id="7" name="Text 5"/>
          <p:cNvSpPr/>
          <p:nvPr/>
        </p:nvSpPr>
        <p:spPr>
          <a:xfrm>
            <a:off x="448270" y="955030"/>
            <a:ext cx="21580" cy="407640"/>
          </a:xfrm>
          <a:prstGeom prst="rect">
            <a:avLst/>
          </a:prstGeom>
          <a:solidFill>
            <a:srgbClr val="C5A55A"/>
          </a:solidFill>
          <a:ln/>
        </p:spPr>
        <p:txBody>
          <a:bodyPr wrap="square" rtlCol="0" anchor="t"/>
          <a:lstStyle/>
          <a:p>
            <a:pPr marL="0" indent="0">
              <a:buNone/>
            </a:pPr>
            <a:endParaRPr lang="en-US" dirty="0"/>
          </a:p>
        </p:txBody>
      </p:sp>
      <p:sp>
        <p:nvSpPr>
          <p:cNvPr id="8" name="Text 6"/>
          <p:cNvSpPr/>
          <p:nvPr/>
        </p:nvSpPr>
        <p:spPr>
          <a:xfrm>
            <a:off x="439305" y="1476970"/>
            <a:ext cx="1292721" cy="521940"/>
          </a:xfrm>
          <a:prstGeom prst="roundRect">
            <a:avLst>
              <a:gd name="adj" fmla="val 5596"/>
            </a:avLst>
          </a:prstGeom>
          <a:solidFill>
            <a:srgbClr val="F5F7FA"/>
          </a:solidFill>
          <a:ln/>
        </p:spPr>
        <p:txBody>
          <a:bodyPr wrap="square" rtlCol="0" anchor="t"/>
          <a:lstStyle/>
          <a:p>
            <a:pPr marL="0" indent="0">
              <a:buNone/>
            </a:pPr>
            <a:endParaRPr lang="en-US" dirty="0"/>
          </a:p>
        </p:txBody>
      </p:sp>
      <p:sp>
        <p:nvSpPr>
          <p:cNvPr id="9" name="Text 7"/>
          <p:cNvSpPr/>
          <p:nvPr/>
        </p:nvSpPr>
        <p:spPr>
          <a:xfrm>
            <a:off x="448270" y="1476970"/>
            <a:ext cx="1292721" cy="7590"/>
          </a:xfrm>
          <a:prstGeom prst="rect">
            <a:avLst/>
          </a:prstGeom>
          <a:solidFill>
            <a:srgbClr val="C5A55A"/>
          </a:solidFill>
          <a:ln/>
        </p:spPr>
        <p:txBody>
          <a:bodyPr wrap="none" rtlCol="0" anchor="t"/>
          <a:lstStyle/>
          <a:p>
            <a:pPr marL="0" indent="0">
              <a:buNone/>
            </a:pPr>
            <a:endParaRPr lang="en-US" dirty="0"/>
          </a:p>
        </p:txBody>
      </p:sp>
      <p:sp>
        <p:nvSpPr>
          <p:cNvPr id="10" name="Text 8"/>
          <p:cNvSpPr/>
          <p:nvPr/>
        </p:nvSpPr>
        <p:spPr>
          <a:xfrm>
            <a:off x="562570" y="156969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R-SQUARED</a:t>
            </a:r>
            <a:endParaRPr lang="en-US" sz="1200" dirty="0"/>
          </a:p>
        </p:txBody>
      </p:sp>
      <p:sp>
        <p:nvSpPr>
          <p:cNvPr id="11" name="Text 9"/>
          <p:cNvSpPr/>
          <p:nvPr/>
        </p:nvSpPr>
        <p:spPr>
          <a:xfrm>
            <a:off x="562570" y="1697980"/>
            <a:ext cx="1248787" cy="203895"/>
          </a:xfrm>
          <a:prstGeom prst="rect">
            <a:avLst/>
          </a:prstGeom>
          <a:noFill/>
          <a:ln/>
        </p:spPr>
        <p:txBody>
          <a:bodyPr wrap="none" lIns="0" tIns="0" rIns="0" bIns="0" rtlCol="0" anchor="t"/>
          <a:lstStyle/>
          <a:p>
            <a:pPr marL="0" indent="0" algn="l">
              <a:lnSpc>
                <a:spcPts val="1606"/>
              </a:lnSpc>
              <a:buNone/>
            </a:pPr>
            <a:r>
              <a:rPr lang="en-US" sz="1460" b="1" dirty="0">
                <a:solidFill>
                  <a:srgbClr val="1B2A4A"/>
                </a:solidFill>
                <a:latin typeface="Calibri Light" pitchFamily="34" charset="0"/>
                <a:ea typeface="Calibri Light" pitchFamily="34" charset="-122"/>
                <a:cs typeface="Calibri Light" pitchFamily="34" charset="-120"/>
              </a:rPr>
              <a:t>0.444</a:t>
            </a:r>
            <a:endParaRPr lang="en-US" sz="1200" dirty="0"/>
          </a:p>
        </p:txBody>
      </p:sp>
      <p:sp>
        <p:nvSpPr>
          <p:cNvPr id="12" name="Text 10"/>
          <p:cNvSpPr/>
          <p:nvPr/>
        </p:nvSpPr>
        <p:spPr>
          <a:xfrm>
            <a:off x="1812280" y="1476970"/>
            <a:ext cx="1292721" cy="521940"/>
          </a:xfrm>
          <a:prstGeom prst="roundRect">
            <a:avLst>
              <a:gd name="adj" fmla="val 5596"/>
            </a:avLst>
          </a:prstGeom>
          <a:solidFill>
            <a:srgbClr val="F5F7FA"/>
          </a:solidFill>
          <a:ln/>
        </p:spPr>
        <p:txBody>
          <a:bodyPr wrap="square" rtlCol="0" anchor="t"/>
          <a:lstStyle/>
          <a:p>
            <a:pPr marL="0" indent="0">
              <a:buNone/>
            </a:pPr>
            <a:endParaRPr lang="en-US" dirty="0"/>
          </a:p>
        </p:txBody>
      </p:sp>
      <p:sp>
        <p:nvSpPr>
          <p:cNvPr id="13" name="Text 11"/>
          <p:cNvSpPr/>
          <p:nvPr/>
        </p:nvSpPr>
        <p:spPr>
          <a:xfrm>
            <a:off x="1812280" y="1476970"/>
            <a:ext cx="1292721" cy="7590"/>
          </a:xfrm>
          <a:prstGeom prst="rect">
            <a:avLst/>
          </a:prstGeom>
          <a:solidFill>
            <a:srgbClr val="C5A55A"/>
          </a:solidFill>
          <a:ln/>
        </p:spPr>
        <p:txBody>
          <a:bodyPr wrap="none" rtlCol="0" anchor="t"/>
          <a:lstStyle/>
          <a:p>
            <a:pPr marL="0" indent="0">
              <a:buNone/>
            </a:pPr>
            <a:endParaRPr lang="en-US" dirty="0"/>
          </a:p>
        </p:txBody>
      </p:sp>
      <p:sp>
        <p:nvSpPr>
          <p:cNvPr id="14" name="Text 12"/>
          <p:cNvSpPr/>
          <p:nvPr/>
        </p:nvSpPr>
        <p:spPr>
          <a:xfrm>
            <a:off x="1926580" y="156969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ADJ. R-SQUARED</a:t>
            </a:r>
            <a:endParaRPr lang="en-US" sz="1200" dirty="0"/>
          </a:p>
        </p:txBody>
      </p:sp>
      <p:sp>
        <p:nvSpPr>
          <p:cNvPr id="15" name="Text 13"/>
          <p:cNvSpPr/>
          <p:nvPr/>
        </p:nvSpPr>
        <p:spPr>
          <a:xfrm>
            <a:off x="1926580" y="1697980"/>
            <a:ext cx="1248787" cy="203895"/>
          </a:xfrm>
          <a:prstGeom prst="rect">
            <a:avLst/>
          </a:prstGeom>
          <a:noFill/>
          <a:ln/>
        </p:spPr>
        <p:txBody>
          <a:bodyPr wrap="none" lIns="0" tIns="0" rIns="0" bIns="0" rtlCol="0" anchor="t"/>
          <a:lstStyle/>
          <a:p>
            <a:pPr marL="0" indent="0" algn="l">
              <a:lnSpc>
                <a:spcPts val="1606"/>
              </a:lnSpc>
              <a:buNone/>
            </a:pPr>
            <a:r>
              <a:rPr lang="en-US" sz="1460" b="1" dirty="0">
                <a:solidFill>
                  <a:srgbClr val="1B2A4A"/>
                </a:solidFill>
                <a:latin typeface="Calibri Light" pitchFamily="34" charset="0"/>
                <a:ea typeface="Calibri Light" pitchFamily="34" charset="-122"/>
                <a:cs typeface="Calibri Light" pitchFamily="34" charset="-120"/>
              </a:rPr>
              <a:t>0.435</a:t>
            </a:r>
            <a:endParaRPr lang="en-US" sz="1200" dirty="0"/>
          </a:p>
        </p:txBody>
      </p:sp>
      <p:sp>
        <p:nvSpPr>
          <p:cNvPr id="16" name="Text 14"/>
          <p:cNvSpPr/>
          <p:nvPr/>
        </p:nvSpPr>
        <p:spPr>
          <a:xfrm>
            <a:off x="3169890" y="1476970"/>
            <a:ext cx="1292721" cy="521940"/>
          </a:xfrm>
          <a:prstGeom prst="roundRect">
            <a:avLst>
              <a:gd name="adj" fmla="val 5596"/>
            </a:avLst>
          </a:prstGeom>
          <a:solidFill>
            <a:srgbClr val="F5F7FA"/>
          </a:solidFill>
          <a:ln/>
        </p:spPr>
        <p:txBody>
          <a:bodyPr wrap="square" rtlCol="0" anchor="t"/>
          <a:lstStyle/>
          <a:p>
            <a:pPr marL="0" indent="0">
              <a:buNone/>
            </a:pPr>
            <a:endParaRPr lang="en-US" dirty="0"/>
          </a:p>
        </p:txBody>
      </p:sp>
      <p:sp>
        <p:nvSpPr>
          <p:cNvPr id="17" name="Text 15"/>
          <p:cNvSpPr/>
          <p:nvPr/>
        </p:nvSpPr>
        <p:spPr>
          <a:xfrm>
            <a:off x="3169890" y="1476970"/>
            <a:ext cx="1292721" cy="7590"/>
          </a:xfrm>
          <a:prstGeom prst="rect">
            <a:avLst/>
          </a:prstGeom>
          <a:solidFill>
            <a:srgbClr val="C5A55A"/>
          </a:solidFill>
          <a:ln/>
        </p:spPr>
        <p:txBody>
          <a:bodyPr wrap="none" rtlCol="0" anchor="t"/>
          <a:lstStyle/>
          <a:p>
            <a:pPr marL="0" indent="0">
              <a:buNone/>
            </a:pPr>
            <a:endParaRPr lang="en-US" dirty="0"/>
          </a:p>
        </p:txBody>
      </p:sp>
      <p:sp>
        <p:nvSpPr>
          <p:cNvPr id="18" name="Text 16"/>
          <p:cNvSpPr/>
          <p:nvPr/>
        </p:nvSpPr>
        <p:spPr>
          <a:xfrm>
            <a:off x="3284190" y="156969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COEFFICIENT (Β₁)</a:t>
            </a:r>
            <a:endParaRPr lang="en-US" sz="1200" dirty="0"/>
          </a:p>
        </p:txBody>
      </p:sp>
      <p:sp>
        <p:nvSpPr>
          <p:cNvPr id="19" name="Text 17"/>
          <p:cNvSpPr/>
          <p:nvPr/>
        </p:nvSpPr>
        <p:spPr>
          <a:xfrm>
            <a:off x="3284190" y="1697980"/>
            <a:ext cx="1248787" cy="203895"/>
          </a:xfrm>
          <a:prstGeom prst="rect">
            <a:avLst/>
          </a:prstGeom>
          <a:noFill/>
          <a:ln/>
        </p:spPr>
        <p:txBody>
          <a:bodyPr wrap="none" lIns="0" tIns="0" rIns="0" bIns="0" rtlCol="0" anchor="t"/>
          <a:lstStyle/>
          <a:p>
            <a:pPr marL="0" indent="0" algn="l">
              <a:lnSpc>
                <a:spcPts val="1606"/>
              </a:lnSpc>
              <a:buNone/>
            </a:pPr>
            <a:r>
              <a:rPr lang="en-US" sz="1460" b="1" dirty="0">
                <a:solidFill>
                  <a:srgbClr val="1B2A4A"/>
                </a:solidFill>
                <a:latin typeface="Calibri Light" pitchFamily="34" charset="0"/>
                <a:ea typeface="Calibri Light" pitchFamily="34" charset="-122"/>
                <a:cs typeface="Calibri Light" pitchFamily="34" charset="-120"/>
              </a:rPr>
              <a:t>46.4179</a:t>
            </a:r>
            <a:endParaRPr lang="en-US" sz="1200" dirty="0"/>
          </a:p>
        </p:txBody>
      </p:sp>
      <p:sp>
        <p:nvSpPr>
          <p:cNvPr id="20" name="Text 18"/>
          <p:cNvSpPr/>
          <p:nvPr/>
        </p:nvSpPr>
        <p:spPr>
          <a:xfrm>
            <a:off x="448270" y="2062460"/>
            <a:ext cx="1292721" cy="614660"/>
          </a:xfrm>
          <a:prstGeom prst="roundRect">
            <a:avLst>
              <a:gd name="adj" fmla="val 4752"/>
            </a:avLst>
          </a:prstGeom>
          <a:solidFill>
            <a:srgbClr val="F5F7FA"/>
          </a:solidFill>
          <a:ln/>
        </p:spPr>
        <p:txBody>
          <a:bodyPr wrap="square" rtlCol="0" anchor="t"/>
          <a:lstStyle/>
          <a:p>
            <a:pPr marL="0" indent="0">
              <a:buNone/>
            </a:pPr>
            <a:endParaRPr lang="en-US" dirty="0"/>
          </a:p>
        </p:txBody>
      </p:sp>
      <p:sp>
        <p:nvSpPr>
          <p:cNvPr id="21" name="Text 19"/>
          <p:cNvSpPr/>
          <p:nvPr/>
        </p:nvSpPr>
        <p:spPr>
          <a:xfrm>
            <a:off x="448270" y="2062460"/>
            <a:ext cx="1292721" cy="7590"/>
          </a:xfrm>
          <a:prstGeom prst="rect">
            <a:avLst/>
          </a:prstGeom>
          <a:solidFill>
            <a:srgbClr val="C5A55A"/>
          </a:solidFill>
          <a:ln/>
        </p:spPr>
        <p:txBody>
          <a:bodyPr wrap="none" rtlCol="0" anchor="t"/>
          <a:lstStyle/>
          <a:p>
            <a:pPr marL="0" indent="0">
              <a:buNone/>
            </a:pPr>
            <a:endParaRPr lang="en-US" dirty="0"/>
          </a:p>
        </p:txBody>
      </p:sp>
      <p:sp>
        <p:nvSpPr>
          <p:cNvPr id="22" name="Text 20"/>
          <p:cNvSpPr/>
          <p:nvPr/>
        </p:nvSpPr>
        <p:spPr>
          <a:xfrm>
            <a:off x="562570" y="215518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INTERCEPT (Β₀)</a:t>
            </a:r>
            <a:endParaRPr lang="en-US" sz="1200" dirty="0"/>
          </a:p>
        </p:txBody>
      </p:sp>
      <p:sp>
        <p:nvSpPr>
          <p:cNvPr id="23" name="Text 21"/>
          <p:cNvSpPr/>
          <p:nvPr/>
        </p:nvSpPr>
        <p:spPr>
          <a:xfrm>
            <a:off x="562570" y="2291060"/>
            <a:ext cx="1248787" cy="203895"/>
          </a:xfrm>
          <a:prstGeom prst="rect">
            <a:avLst/>
          </a:prstGeom>
          <a:noFill/>
          <a:ln/>
        </p:spPr>
        <p:txBody>
          <a:bodyPr wrap="none" lIns="0" tIns="0" rIns="0" bIns="0" rtlCol="0" anchor="t"/>
          <a:lstStyle/>
          <a:p>
            <a:pPr marL="0" indent="0" algn="l">
              <a:lnSpc>
                <a:spcPts val="1606"/>
              </a:lnSpc>
              <a:buNone/>
            </a:pPr>
            <a:r>
              <a:rPr lang="en-US" sz="1460" b="1" dirty="0">
                <a:solidFill>
                  <a:srgbClr val="1B2A4A"/>
                </a:solidFill>
                <a:latin typeface="Calibri Light" pitchFamily="34" charset="0"/>
                <a:ea typeface="Calibri Light" pitchFamily="34" charset="-122"/>
                <a:cs typeface="Calibri Light" pitchFamily="34" charset="-120"/>
              </a:rPr>
              <a:t>99,050</a:t>
            </a:r>
            <a:endParaRPr lang="en-US" sz="1200" dirty="0"/>
          </a:p>
        </p:txBody>
      </p:sp>
      <p:sp>
        <p:nvSpPr>
          <p:cNvPr id="24" name="Text 22"/>
          <p:cNvSpPr/>
          <p:nvPr/>
        </p:nvSpPr>
        <p:spPr>
          <a:xfrm>
            <a:off x="1812280" y="2062460"/>
            <a:ext cx="1292721" cy="614660"/>
          </a:xfrm>
          <a:prstGeom prst="roundRect">
            <a:avLst>
              <a:gd name="adj" fmla="val 4752"/>
            </a:avLst>
          </a:prstGeom>
          <a:solidFill>
            <a:srgbClr val="F5F7FA"/>
          </a:solidFill>
          <a:ln/>
        </p:spPr>
        <p:txBody>
          <a:bodyPr wrap="square" rtlCol="0" anchor="t"/>
          <a:lstStyle/>
          <a:p>
            <a:pPr marL="0" indent="0">
              <a:buNone/>
            </a:pPr>
            <a:endParaRPr lang="en-US" dirty="0"/>
          </a:p>
        </p:txBody>
      </p:sp>
      <p:sp>
        <p:nvSpPr>
          <p:cNvPr id="25" name="Text 23"/>
          <p:cNvSpPr/>
          <p:nvPr/>
        </p:nvSpPr>
        <p:spPr>
          <a:xfrm>
            <a:off x="1812280" y="2062460"/>
            <a:ext cx="1292721" cy="7590"/>
          </a:xfrm>
          <a:prstGeom prst="rect">
            <a:avLst/>
          </a:prstGeom>
          <a:solidFill>
            <a:srgbClr val="C5A55A"/>
          </a:solidFill>
          <a:ln/>
        </p:spPr>
        <p:txBody>
          <a:bodyPr wrap="none" rtlCol="0" anchor="t"/>
          <a:lstStyle/>
          <a:p>
            <a:pPr marL="0" indent="0">
              <a:buNone/>
            </a:pPr>
            <a:endParaRPr lang="en-US" dirty="0"/>
          </a:p>
        </p:txBody>
      </p:sp>
      <p:sp>
        <p:nvSpPr>
          <p:cNvPr id="26" name="Text 24"/>
          <p:cNvSpPr/>
          <p:nvPr/>
        </p:nvSpPr>
        <p:spPr>
          <a:xfrm>
            <a:off x="1926580" y="215518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P-VALUE</a:t>
            </a:r>
            <a:endParaRPr lang="en-US" sz="1200" dirty="0"/>
          </a:p>
        </p:txBody>
      </p:sp>
      <p:sp>
        <p:nvSpPr>
          <p:cNvPr id="27" name="Text 25"/>
          <p:cNvSpPr/>
          <p:nvPr/>
        </p:nvSpPr>
        <p:spPr>
          <a:xfrm>
            <a:off x="1926580" y="2291060"/>
            <a:ext cx="1289387" cy="173236"/>
          </a:xfrm>
          <a:prstGeom prst="rect">
            <a:avLst/>
          </a:prstGeom>
          <a:noFill/>
          <a:ln/>
        </p:spPr>
        <p:txBody>
          <a:bodyPr wrap="none" lIns="0" tIns="0" rIns="0" bIns="0" rtlCol="0" anchor="t"/>
          <a:lstStyle/>
          <a:p>
            <a:pPr marL="0" indent="0" algn="l">
              <a:lnSpc>
                <a:spcPts val="1364"/>
              </a:lnSpc>
              <a:buNone/>
            </a:pPr>
            <a:r>
              <a:rPr lang="en-US" sz="1240" b="1" dirty="0">
                <a:solidFill>
                  <a:srgbClr val="1B2A4A"/>
                </a:solidFill>
                <a:latin typeface="Calibri Light" pitchFamily="34" charset="0"/>
                <a:ea typeface="Calibri Light" pitchFamily="34" charset="-122"/>
                <a:cs typeface="Calibri Light" pitchFamily="34" charset="-120"/>
              </a:rPr>
              <a:t>&lt; 0.001</a:t>
            </a:r>
            <a:endParaRPr lang="en-US" sz="1200" dirty="0"/>
          </a:p>
        </p:txBody>
      </p:sp>
      <p:sp>
        <p:nvSpPr>
          <p:cNvPr id="28" name="Text 26"/>
          <p:cNvSpPr/>
          <p:nvPr/>
        </p:nvSpPr>
        <p:spPr>
          <a:xfrm>
            <a:off x="1926580" y="2484090"/>
            <a:ext cx="1289387" cy="106710"/>
          </a:xfrm>
          <a:prstGeom prst="rect">
            <a:avLst/>
          </a:prstGeom>
          <a:noFill/>
          <a:ln/>
        </p:spPr>
        <p:txBody>
          <a:bodyPr wrap="none" lIns="0" tIns="0" rIns="0" bIns="0" rtlCol="0" anchor="t"/>
          <a:lstStyle/>
          <a:p>
            <a:pPr marL="0" indent="0" algn="l">
              <a:lnSpc>
                <a:spcPts val="840"/>
              </a:lnSpc>
              <a:buNone/>
            </a:pPr>
            <a:r>
              <a:rPr lang="en-US" sz="560" dirty="0">
                <a:solidFill>
                  <a:srgbClr val="5A6B8A"/>
                </a:solidFill>
                <a:latin typeface="Calibri" pitchFamily="34" charset="0"/>
                <a:ea typeface="Calibri" pitchFamily="34" charset="-122"/>
                <a:cs typeface="Calibri" pitchFamily="34" charset="-120"/>
              </a:rPr>
              <a:t>(3.51e-09)</a:t>
            </a:r>
            <a:endParaRPr lang="en-US" sz="1200" dirty="0"/>
          </a:p>
        </p:txBody>
      </p:sp>
      <p:sp>
        <p:nvSpPr>
          <p:cNvPr id="29" name="Text 27"/>
          <p:cNvSpPr/>
          <p:nvPr/>
        </p:nvSpPr>
        <p:spPr>
          <a:xfrm>
            <a:off x="3169890" y="2062460"/>
            <a:ext cx="1292721" cy="614660"/>
          </a:xfrm>
          <a:prstGeom prst="roundRect">
            <a:avLst>
              <a:gd name="adj" fmla="val 4752"/>
            </a:avLst>
          </a:prstGeom>
          <a:solidFill>
            <a:srgbClr val="F5F7FA"/>
          </a:solidFill>
          <a:ln/>
        </p:spPr>
        <p:txBody>
          <a:bodyPr wrap="square" rtlCol="0" anchor="t"/>
          <a:lstStyle/>
          <a:p>
            <a:pPr marL="0" indent="0">
              <a:buNone/>
            </a:pPr>
            <a:endParaRPr lang="en-US" dirty="0"/>
          </a:p>
        </p:txBody>
      </p:sp>
      <p:sp>
        <p:nvSpPr>
          <p:cNvPr id="30" name="Text 28"/>
          <p:cNvSpPr/>
          <p:nvPr/>
        </p:nvSpPr>
        <p:spPr>
          <a:xfrm>
            <a:off x="3169890" y="2062460"/>
            <a:ext cx="1292721" cy="7590"/>
          </a:xfrm>
          <a:prstGeom prst="rect">
            <a:avLst/>
          </a:prstGeom>
          <a:solidFill>
            <a:srgbClr val="C5A55A"/>
          </a:solidFill>
          <a:ln/>
        </p:spPr>
        <p:txBody>
          <a:bodyPr wrap="none" rtlCol="0" anchor="t"/>
          <a:lstStyle/>
          <a:p>
            <a:pPr marL="0" indent="0">
              <a:buNone/>
            </a:pPr>
            <a:endParaRPr lang="en-US" dirty="0"/>
          </a:p>
        </p:txBody>
      </p:sp>
      <p:sp>
        <p:nvSpPr>
          <p:cNvPr id="31" name="Text 29"/>
          <p:cNvSpPr/>
          <p:nvPr/>
        </p:nvSpPr>
        <p:spPr>
          <a:xfrm>
            <a:off x="3284190" y="2155180"/>
            <a:ext cx="1289387" cy="118170"/>
          </a:xfrm>
          <a:prstGeom prst="rect">
            <a:avLst/>
          </a:prstGeom>
          <a:noFill/>
          <a:ln/>
        </p:spPr>
        <p:txBody>
          <a:bodyPr wrap="none" lIns="0" tIns="0" rIns="0" bIns="0" rtlCol="0" anchor="t"/>
          <a:lstStyle/>
          <a:p>
            <a:pPr marL="0" indent="0" algn="l">
              <a:lnSpc>
                <a:spcPts val="930"/>
              </a:lnSpc>
              <a:buNone/>
            </a:pPr>
            <a:r>
              <a:rPr lang="en-US" sz="620" b="1" dirty="0">
                <a:solidFill>
                  <a:srgbClr val="5A6B8A"/>
                </a:solidFill>
                <a:latin typeface="Calibri" pitchFamily="34" charset="0"/>
                <a:ea typeface="Calibri" pitchFamily="34" charset="-122"/>
                <a:cs typeface="Calibri" pitchFamily="34" charset="-120"/>
              </a:rPr>
              <a:t>F-STATISTIC</a:t>
            </a:r>
            <a:endParaRPr lang="en-US" sz="1200" dirty="0"/>
          </a:p>
        </p:txBody>
      </p:sp>
      <p:sp>
        <p:nvSpPr>
          <p:cNvPr id="32" name="Text 30"/>
          <p:cNvSpPr/>
          <p:nvPr/>
        </p:nvSpPr>
        <p:spPr>
          <a:xfrm>
            <a:off x="3284190" y="2291060"/>
            <a:ext cx="1248787" cy="203895"/>
          </a:xfrm>
          <a:prstGeom prst="rect">
            <a:avLst/>
          </a:prstGeom>
          <a:noFill/>
          <a:ln/>
        </p:spPr>
        <p:txBody>
          <a:bodyPr wrap="none" lIns="0" tIns="0" rIns="0" bIns="0" rtlCol="0" anchor="t"/>
          <a:lstStyle/>
          <a:p>
            <a:pPr marL="0" indent="0" algn="l">
              <a:lnSpc>
                <a:spcPts val="1606"/>
              </a:lnSpc>
              <a:buNone/>
            </a:pPr>
            <a:r>
              <a:rPr lang="en-US" sz="1460" b="1" dirty="0">
                <a:solidFill>
                  <a:srgbClr val="1B2A4A"/>
                </a:solidFill>
                <a:latin typeface="Calibri Light" pitchFamily="34" charset="0"/>
                <a:ea typeface="Calibri Light" pitchFamily="34" charset="-122"/>
                <a:cs typeface="Calibri Light" pitchFamily="34" charset="-120"/>
              </a:rPr>
              <a:t>47.80</a:t>
            </a:r>
            <a:endParaRPr lang="en-US" sz="1200" dirty="0"/>
          </a:p>
        </p:txBody>
      </p:sp>
      <p:sp>
        <p:nvSpPr>
          <p:cNvPr id="33" name="Text 31"/>
          <p:cNvSpPr/>
          <p:nvPr/>
        </p:nvSpPr>
        <p:spPr>
          <a:xfrm>
            <a:off x="448270" y="2762250"/>
            <a:ext cx="1121271" cy="200620"/>
          </a:xfrm>
          <a:prstGeom prst="roundRect">
            <a:avLst>
              <a:gd name="adj" fmla="val 50010"/>
            </a:avLst>
          </a:prstGeom>
          <a:solidFill>
            <a:srgbClr val="F5F7FA"/>
          </a:solidFill>
          <a:ln w="9525">
            <a:solidFill>
              <a:srgbClr val="E0E4EA"/>
            </a:solidFill>
          </a:ln>
        </p:spPr>
        <p:txBody>
          <a:bodyPr wrap="none" rtlCol="0" anchor="t"/>
          <a:lstStyle/>
          <a:p>
            <a:pPr marL="0" indent="0">
              <a:buNone/>
            </a:pPr>
            <a:endParaRPr lang="en-US" dirty="0"/>
          </a:p>
        </p:txBody>
      </p:sp>
      <p:sp>
        <p:nvSpPr>
          <p:cNvPr id="34" name="Text 32"/>
          <p:cNvSpPr/>
          <p:nvPr/>
        </p:nvSpPr>
        <p:spPr>
          <a:xfrm>
            <a:off x="710952" y="2773040"/>
            <a:ext cx="1023030" cy="135880"/>
          </a:xfrm>
          <a:prstGeom prst="rect">
            <a:avLst/>
          </a:prstGeom>
          <a:noFill/>
          <a:ln/>
        </p:spPr>
        <p:txBody>
          <a:bodyPr wrap="none" lIns="0" tIns="0" rIns="0" bIns="0" rtlCol="0" anchor="t"/>
          <a:lstStyle/>
          <a:p>
            <a:pPr marL="0" indent="0" algn="l">
              <a:lnSpc>
                <a:spcPts val="1200"/>
              </a:lnSpc>
              <a:buNone/>
            </a:pPr>
            <a:r>
              <a:rPr lang="en-US" sz="680" b="1" dirty="0">
                <a:solidFill>
                  <a:srgbClr val="5A6B8A"/>
                </a:solidFill>
                <a:latin typeface="Calibri" pitchFamily="34" charset="0"/>
                <a:ea typeface="Calibri" pitchFamily="34" charset="-122"/>
                <a:cs typeface="Calibri" pitchFamily="34" charset="-120"/>
              </a:rPr>
              <a:t>n = 60 observations</a:t>
            </a:r>
            <a:endParaRPr lang="en-US" sz="1200" dirty="0"/>
          </a:p>
        </p:txBody>
      </p:sp>
      <p:pic>
        <p:nvPicPr>
          <p:cNvPr id="3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671" y="2797671"/>
            <a:ext cx="135880" cy="135880"/>
          </a:xfrm>
          <a:prstGeom prst="rect">
            <a:avLst/>
          </a:prstGeom>
        </p:spPr>
      </p:pic>
      <p:sp>
        <p:nvSpPr>
          <p:cNvPr id="37" name="Text 34"/>
          <p:cNvSpPr/>
          <p:nvPr/>
        </p:nvSpPr>
        <p:spPr>
          <a:xfrm>
            <a:off x="1654671" y="2762250"/>
            <a:ext cx="1221730" cy="200620"/>
          </a:xfrm>
          <a:prstGeom prst="roundRect">
            <a:avLst>
              <a:gd name="adj" fmla="val 50010"/>
            </a:avLst>
          </a:prstGeom>
          <a:solidFill>
            <a:srgbClr val="F5F7FA"/>
          </a:solidFill>
          <a:ln w="9525">
            <a:solidFill>
              <a:srgbClr val="E0E4EA"/>
            </a:solidFill>
          </a:ln>
        </p:spPr>
        <p:txBody>
          <a:bodyPr wrap="none" rtlCol="0" anchor="t"/>
          <a:lstStyle/>
          <a:p>
            <a:pPr marL="0" indent="0">
              <a:buNone/>
            </a:pPr>
            <a:endParaRPr lang="en-US" dirty="0"/>
          </a:p>
        </p:txBody>
      </p:sp>
      <p:sp>
        <p:nvSpPr>
          <p:cNvPr id="38" name="Text 35"/>
          <p:cNvSpPr/>
          <p:nvPr/>
        </p:nvSpPr>
        <p:spPr>
          <a:xfrm>
            <a:off x="1869430" y="2810321"/>
            <a:ext cx="793343" cy="95250"/>
          </a:xfrm>
          <a:prstGeom prst="rect">
            <a:avLst/>
          </a:prstGeom>
          <a:noFill/>
          <a:ln/>
        </p:spPr>
        <p:txBody>
          <a:bodyPr wrap="none" lIns="0" tIns="0" rIns="0" bIns="0" rtlCol="0" anchor="t"/>
          <a:lstStyle/>
          <a:p>
            <a:pPr marL="0" indent="0" algn="l">
              <a:lnSpc>
                <a:spcPts val="1200"/>
              </a:lnSpc>
              <a:buNone/>
            </a:pPr>
            <a:r>
              <a:rPr lang="en-US" sz="680" b="1" dirty="0">
                <a:solidFill>
                  <a:srgbClr val="5A6B8A"/>
                </a:solidFill>
                <a:latin typeface="Calibri" pitchFamily="34" charset="0"/>
                <a:ea typeface="Calibri" pitchFamily="34" charset="-122"/>
                <a:cs typeface="Calibri" pitchFamily="34" charset="-120"/>
              </a:rPr>
              <a:t>Durbin-Watson =</a:t>
            </a:r>
            <a:endParaRPr lang="en-US" sz="1200" dirty="0"/>
          </a:p>
        </p:txBody>
      </p:sp>
      <p:pic>
        <p:nvPicPr>
          <p:cNvPr id="3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5811" y="2797671"/>
            <a:ext cx="135880" cy="135880"/>
          </a:xfrm>
          <a:prstGeom prst="rect">
            <a:avLst/>
          </a:prstGeom>
        </p:spPr>
      </p:pic>
      <p:sp>
        <p:nvSpPr>
          <p:cNvPr id="40" name="Text 36"/>
          <p:cNvSpPr/>
          <p:nvPr/>
        </p:nvSpPr>
        <p:spPr>
          <a:xfrm>
            <a:off x="2505253" y="2815403"/>
            <a:ext cx="242650" cy="156418"/>
          </a:xfrm>
          <a:prstGeom prst="rect">
            <a:avLst/>
          </a:prstGeom>
          <a:noFill/>
          <a:ln/>
        </p:spPr>
        <p:txBody>
          <a:bodyPr wrap="none" lIns="0" tIns="0" rIns="0" bIns="0" rtlCol="0" anchor="t"/>
          <a:lstStyle/>
          <a:p>
            <a:pPr marL="0" indent="0" algn="l">
              <a:lnSpc>
                <a:spcPts val="975"/>
              </a:lnSpc>
              <a:buNone/>
            </a:pPr>
            <a:r>
              <a:rPr lang="en-US" sz="680" b="1" dirty="0">
                <a:solidFill>
                  <a:srgbClr val="1B2A4A"/>
                </a:solidFill>
                <a:latin typeface="Calibri" pitchFamily="34" charset="0"/>
                <a:ea typeface="Calibri" pitchFamily="34" charset="-122"/>
                <a:cs typeface="Calibri" pitchFamily="34" charset="-120"/>
              </a:rPr>
              <a:t>2.106</a:t>
            </a:r>
            <a:endParaRPr lang="en-US" sz="1200" dirty="0"/>
          </a:p>
        </p:txBody>
      </p:sp>
      <p:sp>
        <p:nvSpPr>
          <p:cNvPr id="41" name="Text 37"/>
          <p:cNvSpPr/>
          <p:nvPr/>
        </p:nvSpPr>
        <p:spPr>
          <a:xfrm>
            <a:off x="4634210" y="1476970"/>
            <a:ext cx="5100414" cy="129480"/>
          </a:xfrm>
          <a:prstGeom prst="rect">
            <a:avLst/>
          </a:prstGeom>
          <a:noFill/>
          <a:ln/>
        </p:spPr>
        <p:txBody>
          <a:bodyPr wrap="none" lIns="0" tIns="0" rIns="0" bIns="0" rtlCol="0" anchor="t"/>
          <a:lstStyle/>
          <a:p>
            <a:pPr marL="0" indent="0" algn="l">
              <a:lnSpc>
                <a:spcPts val="1020"/>
              </a:lnSpc>
              <a:buNone/>
            </a:pPr>
            <a:r>
              <a:rPr lang="en-US" sz="680" b="1" dirty="0">
                <a:solidFill>
                  <a:srgbClr val="5A6B8A"/>
                </a:solidFill>
                <a:latin typeface="Calibri" pitchFamily="34" charset="0"/>
                <a:ea typeface="Calibri" pitchFamily="34" charset="-122"/>
                <a:cs typeface="Calibri" pitchFamily="34" charset="-120"/>
              </a:rPr>
              <a:t>COEFFICIENT DETAILS</a:t>
            </a:r>
            <a:endParaRPr lang="en-US" sz="1200" dirty="0"/>
          </a:p>
        </p:txBody>
      </p:sp>
      <p:sp>
        <p:nvSpPr>
          <p:cNvPr id="42" name="Text 38"/>
          <p:cNvSpPr/>
          <p:nvPr/>
        </p:nvSpPr>
        <p:spPr>
          <a:xfrm>
            <a:off x="4619298" y="1595139"/>
            <a:ext cx="4215110" cy="2735461"/>
          </a:xfrm>
          <a:prstGeom prst="roundRect">
            <a:avLst>
              <a:gd name="adj" fmla="val 1579"/>
            </a:avLst>
          </a:prstGeom>
          <a:solidFill>
            <a:srgbClr val="F5F7FA"/>
          </a:solidFill>
          <a:ln/>
        </p:spPr>
        <p:txBody>
          <a:bodyPr wrap="square" rtlCol="0" anchor="t"/>
          <a:lstStyle/>
          <a:p>
            <a:pPr marL="0" indent="0">
              <a:buNone/>
            </a:pPr>
            <a:endParaRPr lang="en-US" dirty="0"/>
          </a:p>
        </p:txBody>
      </p:sp>
      <p:sp>
        <p:nvSpPr>
          <p:cNvPr id="43" name="Text 39"/>
          <p:cNvSpPr/>
          <p:nvPr/>
        </p:nvSpPr>
        <p:spPr>
          <a:xfrm>
            <a:off x="4634210" y="1662410"/>
            <a:ext cx="897621" cy="284113"/>
          </a:xfrm>
          <a:prstGeom prst="roundRect">
            <a:avLst>
              <a:gd name="adj" fmla="val 10281"/>
            </a:avLst>
          </a:prstGeom>
          <a:solidFill>
            <a:srgbClr val="1B2A4A"/>
          </a:solidFill>
          <a:ln/>
        </p:spPr>
        <p:txBody>
          <a:bodyPr wrap="none" lIns="86360" tIns="49530" rIns="86360" bIns="49530" rtlCol="0" anchor="t"/>
          <a:lstStyle/>
          <a:p>
            <a:pPr marL="0" indent="0" algn="l">
              <a:buNone/>
            </a:pPr>
            <a:r>
              <a:rPr lang="en-US" sz="62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44" name="Text 40"/>
          <p:cNvSpPr/>
          <p:nvPr/>
        </p:nvSpPr>
        <p:spPr>
          <a:xfrm>
            <a:off x="5326261" y="1662410"/>
            <a:ext cx="788777" cy="284113"/>
          </a:xfrm>
          <a:prstGeom prst="rect">
            <a:avLst/>
          </a:prstGeom>
          <a:solidFill>
            <a:srgbClr val="1B2A4A"/>
          </a:solidFill>
          <a:ln/>
        </p:spPr>
        <p:txBody>
          <a:bodyPr wrap="none" lIns="86360" tIns="49530" rIns="86360" bIns="49530" rtlCol="0" anchor="t"/>
          <a:lstStyle/>
          <a:p>
            <a:pPr marL="0" indent="0" algn="l">
              <a:buNone/>
            </a:pPr>
            <a:r>
              <a:rPr lang="en-US" sz="620" b="1" dirty="0">
                <a:solidFill>
                  <a:srgbClr val="FFFFFF"/>
                </a:solidFill>
                <a:latin typeface="Calibri" pitchFamily="34" charset="0"/>
                <a:ea typeface="Calibri" pitchFamily="34" charset="-122"/>
                <a:cs typeface="Calibri" pitchFamily="34" charset="-120"/>
              </a:rPr>
              <a:t>COEF</a:t>
            </a:r>
            <a:endParaRPr lang="en-US" sz="1200" dirty="0"/>
          </a:p>
        </p:txBody>
      </p:sp>
      <p:sp>
        <p:nvSpPr>
          <p:cNvPr id="45" name="Text 41"/>
          <p:cNvSpPr/>
          <p:nvPr/>
        </p:nvSpPr>
        <p:spPr>
          <a:xfrm>
            <a:off x="5919341" y="1662410"/>
            <a:ext cx="905363" cy="284113"/>
          </a:xfrm>
          <a:prstGeom prst="rect">
            <a:avLst/>
          </a:prstGeom>
          <a:solidFill>
            <a:srgbClr val="1B2A4A"/>
          </a:solidFill>
          <a:ln/>
        </p:spPr>
        <p:txBody>
          <a:bodyPr wrap="none" lIns="86360" tIns="49530" rIns="86360" bIns="49530" rtlCol="0" anchor="t"/>
          <a:lstStyle/>
          <a:p>
            <a:pPr marL="0" indent="0" algn="l">
              <a:buNone/>
            </a:pPr>
            <a:r>
              <a:rPr lang="en-US" sz="620" b="1" dirty="0">
                <a:solidFill>
                  <a:srgbClr val="FFFFFF"/>
                </a:solidFill>
                <a:latin typeface="Calibri" pitchFamily="34" charset="0"/>
                <a:ea typeface="Calibri" pitchFamily="34" charset="-122"/>
                <a:cs typeface="Calibri" pitchFamily="34" charset="-120"/>
              </a:rPr>
              <a:t>STD ERR</a:t>
            </a:r>
            <a:endParaRPr lang="en-US" sz="1200" dirty="0"/>
          </a:p>
        </p:txBody>
      </p:sp>
      <p:sp>
        <p:nvSpPr>
          <p:cNvPr id="46" name="Text 42"/>
          <p:cNvSpPr/>
          <p:nvPr/>
        </p:nvSpPr>
        <p:spPr>
          <a:xfrm>
            <a:off x="6620470" y="1662410"/>
            <a:ext cx="730484" cy="284113"/>
          </a:xfrm>
          <a:prstGeom prst="rect">
            <a:avLst/>
          </a:prstGeom>
          <a:solidFill>
            <a:srgbClr val="1B2A4A"/>
          </a:solidFill>
          <a:ln/>
        </p:spPr>
        <p:txBody>
          <a:bodyPr wrap="none" lIns="86360" tIns="49530" rIns="86360" bIns="49530" rtlCol="0" anchor="t"/>
          <a:lstStyle/>
          <a:p>
            <a:pPr marL="0" indent="0" algn="l">
              <a:buNone/>
            </a:pPr>
            <a:r>
              <a:rPr lang="en-US" sz="620" b="1" dirty="0">
                <a:solidFill>
                  <a:srgbClr val="FFFFFF"/>
                </a:solidFill>
                <a:latin typeface="Calibri" pitchFamily="34" charset="0"/>
                <a:ea typeface="Calibri" pitchFamily="34" charset="-122"/>
                <a:cs typeface="Calibri" pitchFamily="34" charset="-120"/>
              </a:rPr>
              <a:t>T</a:t>
            </a:r>
            <a:endParaRPr lang="en-US" sz="1200" dirty="0"/>
          </a:p>
        </p:txBody>
      </p:sp>
      <p:sp>
        <p:nvSpPr>
          <p:cNvPr id="47" name="Text 43"/>
          <p:cNvSpPr/>
          <p:nvPr/>
        </p:nvSpPr>
        <p:spPr>
          <a:xfrm>
            <a:off x="7139665" y="1662410"/>
            <a:ext cx="672191" cy="185291"/>
          </a:xfrm>
          <a:prstGeom prst="rect">
            <a:avLst/>
          </a:prstGeom>
          <a:solidFill>
            <a:srgbClr val="1B2A4A"/>
          </a:solidFill>
          <a:ln/>
        </p:spPr>
        <p:txBody>
          <a:bodyPr wrap="none" lIns="86360" tIns="49530" rIns="86360" bIns="49530" rtlCol="0" anchor="t"/>
          <a:lstStyle/>
          <a:p>
            <a:pPr marL="0" indent="0" algn="l">
              <a:buNone/>
            </a:pPr>
            <a:r>
              <a:rPr lang="en-US" sz="620" b="1" dirty="0">
                <a:solidFill>
                  <a:srgbClr val="FFFFFF"/>
                </a:solidFill>
                <a:latin typeface="Calibri" pitchFamily="34" charset="0"/>
                <a:ea typeface="Calibri" pitchFamily="34" charset="-122"/>
                <a:cs typeface="Calibri" pitchFamily="34" charset="-120"/>
              </a:rPr>
              <a:t>P&gt;|T|</a:t>
            </a:r>
            <a:endParaRPr lang="en-US" sz="1200" dirty="0"/>
          </a:p>
        </p:txBody>
      </p:sp>
      <p:sp>
        <p:nvSpPr>
          <p:cNvPr id="48" name="Text 44"/>
          <p:cNvSpPr/>
          <p:nvPr/>
        </p:nvSpPr>
        <p:spPr>
          <a:xfrm>
            <a:off x="7627590" y="1662410"/>
            <a:ext cx="1221730" cy="185291"/>
          </a:xfrm>
          <a:prstGeom prst="rect">
            <a:avLst/>
          </a:prstGeom>
          <a:solidFill>
            <a:srgbClr val="1B2A4A"/>
          </a:solidFill>
          <a:ln/>
        </p:spPr>
        <p:txBody>
          <a:bodyPr wrap="none" rtlCol="0" anchor="t"/>
          <a:lstStyle/>
          <a:p>
            <a:pPr marL="0" indent="0">
              <a:buNone/>
            </a:pPr>
            <a:endParaRPr lang="en-US" dirty="0"/>
          </a:p>
        </p:txBody>
      </p:sp>
      <p:sp>
        <p:nvSpPr>
          <p:cNvPr id="49" name="Text 45"/>
          <p:cNvSpPr/>
          <p:nvPr/>
        </p:nvSpPr>
        <p:spPr>
          <a:xfrm>
            <a:off x="7713911" y="1711821"/>
            <a:ext cx="1367641" cy="85725"/>
          </a:xfrm>
          <a:prstGeom prst="rect">
            <a:avLst/>
          </a:prstGeom>
          <a:noFill/>
          <a:ln/>
        </p:spPr>
        <p:txBody>
          <a:bodyPr wrap="none" lIns="0" tIns="0" rIns="0" bIns="0" rtlCol="0" anchor="t"/>
          <a:lstStyle/>
          <a:p>
            <a:pPr marL="0" indent="0" algn="l">
              <a:lnSpc>
                <a:spcPts val="1200"/>
              </a:lnSpc>
              <a:buNone/>
            </a:pPr>
            <a:r>
              <a:rPr lang="en-US" sz="620" b="1" dirty="0">
                <a:solidFill>
                  <a:srgbClr val="FFFFFF"/>
                </a:solidFill>
                <a:latin typeface="Calibri" pitchFamily="34" charset="0"/>
                <a:ea typeface="Calibri" pitchFamily="34" charset="-122"/>
                <a:cs typeface="Calibri" pitchFamily="34" charset="-120"/>
              </a:rPr>
              <a:t>95% CI</a:t>
            </a:r>
            <a:endParaRPr lang="en-US" sz="1200" dirty="0"/>
          </a:p>
        </p:txBody>
      </p:sp>
      <p:sp>
        <p:nvSpPr>
          <p:cNvPr id="50" name="Text 46"/>
          <p:cNvSpPr/>
          <p:nvPr/>
        </p:nvSpPr>
        <p:spPr>
          <a:xfrm>
            <a:off x="4720530" y="1905000"/>
            <a:ext cx="778118" cy="95250"/>
          </a:xfrm>
          <a:prstGeom prst="rect">
            <a:avLst/>
          </a:prstGeom>
          <a:noFill/>
          <a:ln/>
        </p:spPr>
        <p:txBody>
          <a:bodyPr wrap="none" lIns="0" tIns="0" rIns="0" bIns="0" rtlCol="0" anchor="t"/>
          <a:lstStyle/>
          <a:p>
            <a:pPr marL="0" indent="0" algn="l">
              <a:lnSpc>
                <a:spcPts val="1200"/>
              </a:lnSpc>
              <a:buNone/>
            </a:pPr>
            <a:r>
              <a:rPr lang="en-US" sz="680" b="1" dirty="0">
                <a:solidFill>
                  <a:srgbClr val="1B2A4A"/>
                </a:solidFill>
                <a:latin typeface="Calibri" pitchFamily="34" charset="0"/>
                <a:ea typeface="Calibri" pitchFamily="34" charset="-122"/>
                <a:cs typeface="Calibri" pitchFamily="34" charset="-120"/>
              </a:rPr>
              <a:t>const</a:t>
            </a:r>
            <a:endParaRPr lang="en-US" sz="1200" dirty="0"/>
          </a:p>
        </p:txBody>
      </p:sp>
      <p:sp>
        <p:nvSpPr>
          <p:cNvPr id="51" name="Text 47"/>
          <p:cNvSpPr/>
          <p:nvPr/>
        </p:nvSpPr>
        <p:spPr>
          <a:xfrm>
            <a:off x="4634210" y="2048470"/>
            <a:ext cx="693390" cy="7590"/>
          </a:xfrm>
          <a:prstGeom prst="rect">
            <a:avLst/>
          </a:prstGeom>
          <a:solidFill>
            <a:srgbClr val="E8ECF1"/>
          </a:solidFill>
          <a:ln/>
        </p:spPr>
        <p:txBody>
          <a:bodyPr wrap="none" rtlCol="0" anchor="t"/>
          <a:lstStyle/>
          <a:p>
            <a:pPr marL="0" indent="0">
              <a:buNone/>
            </a:pPr>
            <a:endParaRPr lang="en-US" dirty="0"/>
          </a:p>
        </p:txBody>
      </p:sp>
      <p:sp>
        <p:nvSpPr>
          <p:cNvPr id="52" name="Text 48"/>
          <p:cNvSpPr/>
          <p:nvPr/>
        </p:nvSpPr>
        <p:spPr>
          <a:xfrm>
            <a:off x="5412581" y="1905000"/>
            <a:ext cx="660737" cy="104775"/>
          </a:xfrm>
          <a:prstGeom prst="rect">
            <a:avLst/>
          </a:prstGeom>
          <a:noFill/>
          <a:ln/>
        </p:spPr>
        <p:txBody>
          <a:bodyPr wrap="none" lIns="0" tIns="0" rIns="0" bIns="0" rtlCol="0" anchor="t"/>
          <a:lstStyle/>
          <a:p>
            <a:pPr marL="0" indent="0" algn="l">
              <a:lnSpc>
                <a:spcPts val="1200"/>
              </a:lnSpc>
              <a:buNone/>
            </a:pPr>
            <a:r>
              <a:rPr lang="en-US" sz="680" dirty="0">
                <a:solidFill>
                  <a:srgbClr val="1B2A4A"/>
                </a:solidFill>
                <a:latin typeface="Consolas" pitchFamily="34" charset="0"/>
                <a:ea typeface="Consolas" pitchFamily="34" charset="-122"/>
                <a:cs typeface="Consolas" pitchFamily="34" charset="-120"/>
              </a:rPr>
              <a:t>99,050</a:t>
            </a:r>
            <a:endParaRPr lang="en-US" sz="1200" dirty="0"/>
          </a:p>
        </p:txBody>
      </p:sp>
      <p:sp>
        <p:nvSpPr>
          <p:cNvPr id="53" name="Text 49"/>
          <p:cNvSpPr/>
          <p:nvPr/>
        </p:nvSpPr>
        <p:spPr>
          <a:xfrm>
            <a:off x="5326261" y="2048470"/>
            <a:ext cx="593080" cy="7590"/>
          </a:xfrm>
          <a:prstGeom prst="rect">
            <a:avLst/>
          </a:prstGeom>
          <a:solidFill>
            <a:srgbClr val="E8ECF1"/>
          </a:solidFill>
          <a:ln/>
        </p:spPr>
        <p:txBody>
          <a:bodyPr wrap="none" rtlCol="0" anchor="t"/>
          <a:lstStyle/>
          <a:p>
            <a:pPr marL="0" indent="0">
              <a:buNone/>
            </a:pPr>
            <a:endParaRPr lang="en-US" dirty="0"/>
          </a:p>
        </p:txBody>
      </p:sp>
      <p:sp>
        <p:nvSpPr>
          <p:cNvPr id="54" name="Text 50"/>
          <p:cNvSpPr/>
          <p:nvPr/>
        </p:nvSpPr>
        <p:spPr>
          <a:xfrm>
            <a:off x="6005661" y="1905000"/>
            <a:ext cx="786467" cy="104775"/>
          </a:xfrm>
          <a:prstGeom prst="rect">
            <a:avLst/>
          </a:prstGeom>
          <a:noFill/>
          <a:ln/>
        </p:spPr>
        <p:txBody>
          <a:bodyPr wrap="none" lIns="0" tIns="0" rIns="0" bIns="0" rtlCol="0" anchor="t"/>
          <a:lstStyle/>
          <a:p>
            <a:pPr marL="0" indent="0" algn="l">
              <a:lnSpc>
                <a:spcPts val="1200"/>
              </a:lnSpc>
              <a:buNone/>
            </a:pPr>
            <a:r>
              <a:rPr lang="en-US" sz="680" dirty="0">
                <a:solidFill>
                  <a:srgbClr val="1B2A4A"/>
                </a:solidFill>
                <a:latin typeface="Consolas" pitchFamily="34" charset="0"/>
                <a:ea typeface="Consolas" pitchFamily="34" charset="-122"/>
                <a:cs typeface="Consolas" pitchFamily="34" charset="-120"/>
              </a:rPr>
              <a:t>8,329.327</a:t>
            </a:r>
            <a:endParaRPr lang="en-US" sz="1200" dirty="0"/>
          </a:p>
        </p:txBody>
      </p:sp>
      <p:sp>
        <p:nvSpPr>
          <p:cNvPr id="55" name="Text 51"/>
          <p:cNvSpPr/>
          <p:nvPr/>
        </p:nvSpPr>
        <p:spPr>
          <a:xfrm>
            <a:off x="5919341" y="2048470"/>
            <a:ext cx="699641" cy="7590"/>
          </a:xfrm>
          <a:prstGeom prst="rect">
            <a:avLst/>
          </a:prstGeom>
          <a:solidFill>
            <a:srgbClr val="E8ECF1"/>
          </a:solidFill>
          <a:ln/>
        </p:spPr>
        <p:txBody>
          <a:bodyPr wrap="none" rtlCol="0" anchor="t"/>
          <a:lstStyle/>
          <a:p>
            <a:pPr marL="0" indent="0">
              <a:buNone/>
            </a:pPr>
            <a:endParaRPr lang="en-US" dirty="0"/>
          </a:p>
        </p:txBody>
      </p:sp>
      <p:sp>
        <p:nvSpPr>
          <p:cNvPr id="56" name="Text 52"/>
          <p:cNvSpPr/>
          <p:nvPr/>
        </p:nvSpPr>
        <p:spPr>
          <a:xfrm>
            <a:off x="6706791" y="1905000"/>
            <a:ext cx="597872" cy="104775"/>
          </a:xfrm>
          <a:prstGeom prst="rect">
            <a:avLst/>
          </a:prstGeom>
          <a:noFill/>
          <a:ln/>
        </p:spPr>
        <p:txBody>
          <a:bodyPr wrap="none" lIns="0" tIns="0" rIns="0" bIns="0" rtlCol="0" anchor="t"/>
          <a:lstStyle/>
          <a:p>
            <a:pPr marL="0" indent="0" algn="l">
              <a:lnSpc>
                <a:spcPts val="1200"/>
              </a:lnSpc>
              <a:buNone/>
            </a:pPr>
            <a:r>
              <a:rPr lang="en-US" sz="680" dirty="0">
                <a:solidFill>
                  <a:srgbClr val="1B2A4A"/>
                </a:solidFill>
                <a:latin typeface="Consolas" pitchFamily="34" charset="0"/>
                <a:ea typeface="Consolas" pitchFamily="34" charset="-122"/>
                <a:cs typeface="Consolas" pitchFamily="34" charset="-120"/>
              </a:rPr>
              <a:t>11.478</a:t>
            </a:r>
            <a:endParaRPr lang="en-US" sz="1200" dirty="0"/>
          </a:p>
        </p:txBody>
      </p:sp>
      <p:sp>
        <p:nvSpPr>
          <p:cNvPr id="57" name="Text 53"/>
          <p:cNvSpPr/>
          <p:nvPr/>
        </p:nvSpPr>
        <p:spPr>
          <a:xfrm>
            <a:off x="6620470" y="2048470"/>
            <a:ext cx="535930" cy="7590"/>
          </a:xfrm>
          <a:prstGeom prst="rect">
            <a:avLst/>
          </a:prstGeom>
          <a:solidFill>
            <a:srgbClr val="E8ECF1"/>
          </a:solidFill>
          <a:ln/>
        </p:spPr>
        <p:txBody>
          <a:bodyPr wrap="none" rtlCol="0" anchor="t"/>
          <a:lstStyle/>
          <a:p>
            <a:pPr marL="0" indent="0">
              <a:buNone/>
            </a:pPr>
            <a:endParaRPr lang="en-US" dirty="0"/>
          </a:p>
        </p:txBody>
      </p:sp>
      <p:sp>
        <p:nvSpPr>
          <p:cNvPr id="58" name="Text 54"/>
          <p:cNvSpPr/>
          <p:nvPr/>
        </p:nvSpPr>
        <p:spPr>
          <a:xfrm>
            <a:off x="7241381" y="1905000"/>
            <a:ext cx="535007" cy="104775"/>
          </a:xfrm>
          <a:prstGeom prst="rect">
            <a:avLst/>
          </a:prstGeom>
          <a:noFill/>
          <a:ln/>
        </p:spPr>
        <p:txBody>
          <a:bodyPr wrap="none" lIns="0" tIns="0" rIns="0" bIns="0" rtlCol="0" anchor="t"/>
          <a:lstStyle/>
          <a:p>
            <a:pPr marL="0" indent="0" algn="l">
              <a:lnSpc>
                <a:spcPts val="1200"/>
              </a:lnSpc>
              <a:buNone/>
            </a:pPr>
            <a:r>
              <a:rPr lang="en-US" sz="680" dirty="0">
                <a:solidFill>
                  <a:srgbClr val="1B2A4A"/>
                </a:solidFill>
                <a:latin typeface="Consolas" pitchFamily="34" charset="0"/>
                <a:ea typeface="Consolas" pitchFamily="34" charset="-122"/>
                <a:cs typeface="Consolas" pitchFamily="34" charset="-120"/>
              </a:rPr>
              <a:t>0.000</a:t>
            </a:r>
            <a:endParaRPr lang="en-US" sz="1200" dirty="0"/>
          </a:p>
        </p:txBody>
      </p:sp>
      <p:sp>
        <p:nvSpPr>
          <p:cNvPr id="59" name="Text 55"/>
          <p:cNvSpPr/>
          <p:nvPr/>
        </p:nvSpPr>
        <p:spPr>
          <a:xfrm>
            <a:off x="7155061" y="2048470"/>
            <a:ext cx="478780" cy="7590"/>
          </a:xfrm>
          <a:prstGeom prst="rect">
            <a:avLst/>
          </a:prstGeom>
          <a:solidFill>
            <a:srgbClr val="E8ECF1"/>
          </a:solidFill>
          <a:ln/>
        </p:spPr>
        <p:txBody>
          <a:bodyPr wrap="none" rtlCol="0" anchor="t"/>
          <a:lstStyle/>
          <a:p>
            <a:pPr marL="0" indent="0">
              <a:buNone/>
            </a:pPr>
            <a:endParaRPr lang="en-US" dirty="0"/>
          </a:p>
        </p:txBody>
      </p:sp>
      <p:sp>
        <p:nvSpPr>
          <p:cNvPr id="60" name="Text 56"/>
          <p:cNvSpPr/>
          <p:nvPr/>
        </p:nvSpPr>
        <p:spPr>
          <a:xfrm>
            <a:off x="7713911" y="1905000"/>
            <a:ext cx="1367641" cy="104775"/>
          </a:xfrm>
          <a:prstGeom prst="rect">
            <a:avLst/>
          </a:prstGeom>
          <a:noFill/>
          <a:ln/>
        </p:spPr>
        <p:txBody>
          <a:bodyPr wrap="none" lIns="0" tIns="0" rIns="0" bIns="0" rtlCol="0" anchor="t"/>
          <a:lstStyle/>
          <a:p>
            <a:pPr marL="0" indent="0" algn="l">
              <a:lnSpc>
                <a:spcPts val="1200"/>
              </a:lnSpc>
              <a:buNone/>
            </a:pPr>
            <a:r>
              <a:rPr lang="en-US" sz="680" dirty="0">
                <a:solidFill>
                  <a:srgbClr val="1B2A4A"/>
                </a:solidFill>
                <a:latin typeface="Consolas" pitchFamily="34" charset="0"/>
                <a:ea typeface="Consolas" pitchFamily="34" charset="-122"/>
                <a:cs typeface="Consolas" pitchFamily="34" charset="-120"/>
              </a:rPr>
              <a:t>[78,900 – 112,000]</a:t>
            </a:r>
            <a:endParaRPr lang="en-US" sz="1200" dirty="0"/>
          </a:p>
        </p:txBody>
      </p:sp>
      <p:sp>
        <p:nvSpPr>
          <p:cNvPr id="61" name="Text 57"/>
          <p:cNvSpPr/>
          <p:nvPr/>
        </p:nvSpPr>
        <p:spPr>
          <a:xfrm>
            <a:off x="7627590" y="2048470"/>
            <a:ext cx="1221730" cy="7590"/>
          </a:xfrm>
          <a:prstGeom prst="rect">
            <a:avLst/>
          </a:prstGeom>
          <a:solidFill>
            <a:srgbClr val="E8ECF1"/>
          </a:solidFill>
          <a:ln/>
        </p:spPr>
        <p:txBody>
          <a:bodyPr wrap="none" rtlCol="0" anchor="t"/>
          <a:lstStyle/>
          <a:p>
            <a:pPr marL="0" indent="0">
              <a:buNone/>
            </a:pPr>
            <a:endParaRPr lang="en-US" dirty="0"/>
          </a:p>
        </p:txBody>
      </p:sp>
      <p:sp>
        <p:nvSpPr>
          <p:cNvPr id="62" name="Text 58"/>
          <p:cNvSpPr/>
          <p:nvPr/>
        </p:nvSpPr>
        <p:spPr>
          <a:xfrm>
            <a:off x="4720530" y="2119610"/>
            <a:ext cx="778118" cy="86320"/>
          </a:xfrm>
          <a:prstGeom prst="rect">
            <a:avLst/>
          </a:prstGeom>
          <a:noFill/>
          <a:ln/>
        </p:spPr>
        <p:txBody>
          <a:bodyPr wrap="none" lIns="0" tIns="0" rIns="0" bIns="0" rtlCol="0" anchor="t"/>
          <a:lstStyle/>
          <a:p>
            <a:pPr marL="0" indent="0" algn="l">
              <a:lnSpc>
                <a:spcPts val="680"/>
              </a:lnSpc>
              <a:buNone/>
            </a:pPr>
            <a:r>
              <a:rPr lang="en-US" sz="680" b="1" dirty="0">
                <a:solidFill>
                  <a:srgbClr val="1B2A4A"/>
                </a:solidFill>
                <a:latin typeface="Calibri" pitchFamily="34" charset="0"/>
                <a:ea typeface="Calibri" pitchFamily="34" charset="-122"/>
                <a:cs typeface="Calibri" pitchFamily="34" charset="-120"/>
              </a:rPr>
              <a:t>msb_count</a:t>
            </a:r>
            <a:endParaRPr lang="en-US" sz="1200" dirty="0"/>
          </a:p>
        </p:txBody>
      </p:sp>
      <p:sp>
        <p:nvSpPr>
          <p:cNvPr id="63" name="Text 59"/>
          <p:cNvSpPr/>
          <p:nvPr/>
        </p:nvSpPr>
        <p:spPr>
          <a:xfrm>
            <a:off x="5412581" y="2119610"/>
            <a:ext cx="660737" cy="86320"/>
          </a:xfrm>
          <a:prstGeom prst="rect">
            <a:avLst/>
          </a:prstGeom>
          <a:noFill/>
          <a:ln/>
        </p:spPr>
        <p:txBody>
          <a:bodyPr wrap="none" lIns="0" tIns="0" rIns="0" bIns="0" rtlCol="0" anchor="t"/>
          <a:lstStyle/>
          <a:p>
            <a:pPr marL="0" indent="0" algn="l">
              <a:lnSpc>
                <a:spcPts val="680"/>
              </a:lnSpc>
              <a:buNone/>
            </a:pPr>
            <a:r>
              <a:rPr lang="en-US" sz="680" dirty="0">
                <a:solidFill>
                  <a:srgbClr val="1B2A4A"/>
                </a:solidFill>
                <a:latin typeface="Consolas" pitchFamily="34" charset="0"/>
                <a:ea typeface="Consolas" pitchFamily="34" charset="-122"/>
                <a:cs typeface="Consolas" pitchFamily="34" charset="-120"/>
              </a:rPr>
              <a:t>46.4179</a:t>
            </a:r>
            <a:endParaRPr lang="en-US" sz="1200" dirty="0"/>
          </a:p>
        </p:txBody>
      </p:sp>
      <p:sp>
        <p:nvSpPr>
          <p:cNvPr id="64" name="Text 60"/>
          <p:cNvSpPr/>
          <p:nvPr/>
        </p:nvSpPr>
        <p:spPr>
          <a:xfrm>
            <a:off x="6005661" y="2119610"/>
            <a:ext cx="786467" cy="86320"/>
          </a:xfrm>
          <a:prstGeom prst="rect">
            <a:avLst/>
          </a:prstGeom>
          <a:noFill/>
          <a:ln/>
        </p:spPr>
        <p:txBody>
          <a:bodyPr wrap="none" lIns="0" tIns="0" rIns="0" bIns="0" rtlCol="0" anchor="t"/>
          <a:lstStyle/>
          <a:p>
            <a:pPr marL="0" indent="0" algn="l">
              <a:lnSpc>
                <a:spcPts val="680"/>
              </a:lnSpc>
              <a:buNone/>
            </a:pPr>
            <a:r>
              <a:rPr lang="en-US" sz="680" dirty="0">
                <a:solidFill>
                  <a:srgbClr val="1B2A4A"/>
                </a:solidFill>
                <a:latin typeface="Consolas" pitchFamily="34" charset="0"/>
                <a:ea typeface="Consolas" pitchFamily="34" charset="-122"/>
                <a:cs typeface="Consolas" pitchFamily="34" charset="-120"/>
              </a:rPr>
              <a:t>6.909</a:t>
            </a:r>
            <a:endParaRPr lang="en-US" sz="1200" dirty="0"/>
          </a:p>
        </p:txBody>
      </p:sp>
      <p:sp>
        <p:nvSpPr>
          <p:cNvPr id="65" name="Text 61"/>
          <p:cNvSpPr/>
          <p:nvPr/>
        </p:nvSpPr>
        <p:spPr>
          <a:xfrm>
            <a:off x="6706791" y="2119610"/>
            <a:ext cx="597872" cy="86320"/>
          </a:xfrm>
          <a:prstGeom prst="rect">
            <a:avLst/>
          </a:prstGeom>
          <a:noFill/>
          <a:ln/>
        </p:spPr>
        <p:txBody>
          <a:bodyPr wrap="none" lIns="0" tIns="0" rIns="0" bIns="0" rtlCol="0" anchor="t"/>
          <a:lstStyle/>
          <a:p>
            <a:pPr marL="0" indent="0" algn="l">
              <a:lnSpc>
                <a:spcPts val="680"/>
              </a:lnSpc>
              <a:buNone/>
            </a:pPr>
            <a:r>
              <a:rPr lang="en-US" sz="680" dirty="0">
                <a:solidFill>
                  <a:srgbClr val="1B2A4A"/>
                </a:solidFill>
                <a:latin typeface="Consolas" pitchFamily="34" charset="0"/>
                <a:ea typeface="Consolas" pitchFamily="34" charset="-122"/>
                <a:cs typeface="Consolas" pitchFamily="34" charset="-120"/>
              </a:rPr>
              <a:t>6.914</a:t>
            </a:r>
            <a:endParaRPr lang="en-US" sz="1200" dirty="0"/>
          </a:p>
        </p:txBody>
      </p:sp>
      <p:sp>
        <p:nvSpPr>
          <p:cNvPr id="66" name="Text 62"/>
          <p:cNvSpPr/>
          <p:nvPr/>
        </p:nvSpPr>
        <p:spPr>
          <a:xfrm>
            <a:off x="7241381" y="2119610"/>
            <a:ext cx="535007" cy="86320"/>
          </a:xfrm>
          <a:prstGeom prst="rect">
            <a:avLst/>
          </a:prstGeom>
          <a:noFill/>
          <a:ln/>
        </p:spPr>
        <p:txBody>
          <a:bodyPr wrap="none" lIns="0" tIns="0" rIns="0" bIns="0" rtlCol="0" anchor="t"/>
          <a:lstStyle/>
          <a:p>
            <a:pPr marL="0" indent="0" algn="l">
              <a:lnSpc>
                <a:spcPts val="680"/>
              </a:lnSpc>
              <a:buNone/>
            </a:pPr>
            <a:r>
              <a:rPr lang="en-US" sz="680" dirty="0">
                <a:solidFill>
                  <a:srgbClr val="1B2A4A"/>
                </a:solidFill>
                <a:latin typeface="Consolas" pitchFamily="34" charset="0"/>
                <a:ea typeface="Consolas" pitchFamily="34" charset="-122"/>
                <a:cs typeface="Consolas" pitchFamily="34" charset="-120"/>
              </a:rPr>
              <a:t>0.000</a:t>
            </a:r>
            <a:endParaRPr lang="en-US" sz="1200" dirty="0"/>
          </a:p>
        </p:txBody>
      </p:sp>
      <p:sp>
        <p:nvSpPr>
          <p:cNvPr id="67" name="Text 63"/>
          <p:cNvSpPr/>
          <p:nvPr/>
        </p:nvSpPr>
        <p:spPr>
          <a:xfrm>
            <a:off x="7713911" y="2119610"/>
            <a:ext cx="1367641" cy="86320"/>
          </a:xfrm>
          <a:prstGeom prst="rect">
            <a:avLst/>
          </a:prstGeom>
          <a:noFill/>
          <a:ln/>
        </p:spPr>
        <p:txBody>
          <a:bodyPr wrap="none" lIns="0" tIns="0" rIns="0" bIns="0" rtlCol="0" anchor="t"/>
          <a:lstStyle/>
          <a:p>
            <a:pPr marL="0" indent="0" algn="l">
              <a:lnSpc>
                <a:spcPts val="680"/>
              </a:lnSpc>
              <a:buNone/>
            </a:pPr>
            <a:r>
              <a:rPr lang="en-US" sz="680" dirty="0">
                <a:solidFill>
                  <a:srgbClr val="1B2A4A"/>
                </a:solidFill>
                <a:latin typeface="Consolas" pitchFamily="34" charset="0"/>
                <a:ea typeface="Consolas" pitchFamily="34" charset="-122"/>
                <a:cs typeface="Consolas" pitchFamily="34" charset="-120"/>
              </a:rPr>
              <a:t>[33.946 – 61.586]</a:t>
            </a:r>
            <a:endParaRPr lang="en-US" sz="1200" dirty="0"/>
          </a:p>
        </p:txBody>
      </p:sp>
      <p:sp>
        <p:nvSpPr>
          <p:cNvPr id="68" name="Text 64"/>
          <p:cNvSpPr/>
          <p:nvPr/>
        </p:nvSpPr>
        <p:spPr>
          <a:xfrm>
            <a:off x="4634210" y="4498330"/>
            <a:ext cx="57150" cy="57150"/>
          </a:xfrm>
          <a:prstGeom prst="ellipse">
            <a:avLst/>
          </a:prstGeom>
          <a:solidFill>
            <a:srgbClr val="22C55E"/>
          </a:solidFill>
          <a:ln/>
        </p:spPr>
        <p:txBody>
          <a:bodyPr wrap="none" rtlCol="0" anchor="t"/>
          <a:lstStyle/>
          <a:p>
            <a:pPr marL="0" indent="0">
              <a:buNone/>
            </a:pPr>
            <a:endParaRPr lang="en-US" dirty="0"/>
          </a:p>
        </p:txBody>
      </p:sp>
      <p:sp>
        <p:nvSpPr>
          <p:cNvPr id="69" name="Text 65"/>
          <p:cNvSpPr/>
          <p:nvPr/>
        </p:nvSpPr>
        <p:spPr>
          <a:xfrm>
            <a:off x="4719191" y="4470797"/>
            <a:ext cx="1272525" cy="118170"/>
          </a:xfrm>
          <a:prstGeom prst="rect">
            <a:avLst/>
          </a:prstGeom>
          <a:noFill/>
          <a:ln/>
        </p:spPr>
        <p:txBody>
          <a:bodyPr wrap="none" lIns="0" tIns="0" rIns="0" bIns="0" rtlCol="0" anchor="t"/>
          <a:lstStyle/>
          <a:p>
            <a:pPr marL="0" indent="0" algn="l">
              <a:lnSpc>
                <a:spcPts val="930"/>
              </a:lnSpc>
              <a:buNone/>
            </a:pPr>
            <a:r>
              <a:rPr lang="en-US" sz="620" dirty="0">
                <a:solidFill>
                  <a:srgbClr val="5A6B8A"/>
                </a:solidFill>
                <a:latin typeface="Calibri" pitchFamily="34" charset="0"/>
                <a:ea typeface="Calibri" pitchFamily="34" charset="-122"/>
                <a:cs typeface="Calibri" pitchFamily="34" charset="-120"/>
              </a:rPr>
              <a:t>p &lt; 0.001 — Highly Significant</a:t>
            </a:r>
            <a:endParaRPr lang="en-US" sz="1200" dirty="0"/>
          </a:p>
        </p:txBody>
      </p:sp>
      <p:sp>
        <p:nvSpPr>
          <p:cNvPr id="70" name="Text 66"/>
          <p:cNvSpPr/>
          <p:nvPr/>
        </p:nvSpPr>
        <p:spPr>
          <a:xfrm>
            <a:off x="5834360" y="4526161"/>
            <a:ext cx="1800820" cy="7590"/>
          </a:xfrm>
          <a:prstGeom prst="rect">
            <a:avLst/>
          </a:prstGeom>
          <a:solidFill>
            <a:srgbClr val="E0E4EA"/>
          </a:solidFill>
          <a:ln/>
        </p:spPr>
        <p:txBody>
          <a:bodyPr wrap="none" rtlCol="0" anchor="t"/>
          <a:lstStyle/>
          <a:p>
            <a:pPr marL="0" indent="0">
              <a:buNone/>
            </a:pPr>
            <a:endParaRPr lang="en-US" dirty="0"/>
          </a:p>
        </p:txBody>
      </p:sp>
      <p:sp>
        <p:nvSpPr>
          <p:cNvPr id="71" name="Text 67"/>
          <p:cNvSpPr/>
          <p:nvPr/>
        </p:nvSpPr>
        <p:spPr>
          <a:xfrm>
            <a:off x="7690991" y="4498330"/>
            <a:ext cx="57150" cy="57150"/>
          </a:xfrm>
          <a:prstGeom prst="ellipse">
            <a:avLst/>
          </a:prstGeom>
          <a:solidFill>
            <a:srgbClr val="C5A55A"/>
          </a:solidFill>
          <a:ln/>
        </p:spPr>
        <p:txBody>
          <a:bodyPr wrap="none" rtlCol="0" anchor="t"/>
          <a:lstStyle/>
          <a:p>
            <a:pPr marL="0" indent="0">
              <a:buNone/>
            </a:pPr>
            <a:endParaRPr lang="en-US" dirty="0"/>
          </a:p>
        </p:txBody>
      </p:sp>
      <p:sp>
        <p:nvSpPr>
          <p:cNvPr id="72" name="Text 68"/>
          <p:cNvSpPr/>
          <p:nvPr/>
        </p:nvSpPr>
        <p:spPr>
          <a:xfrm>
            <a:off x="7777460" y="4470797"/>
            <a:ext cx="1296263" cy="118170"/>
          </a:xfrm>
          <a:prstGeom prst="rect">
            <a:avLst/>
          </a:prstGeom>
          <a:noFill/>
          <a:ln/>
        </p:spPr>
        <p:txBody>
          <a:bodyPr wrap="none" lIns="0" tIns="0" rIns="0" bIns="0" rtlCol="0" anchor="t"/>
          <a:lstStyle/>
          <a:p>
            <a:pPr marL="0" indent="0" algn="l">
              <a:lnSpc>
                <a:spcPts val="930"/>
              </a:lnSpc>
              <a:buNone/>
            </a:pPr>
            <a:r>
              <a:rPr lang="en-US" sz="620" dirty="0">
                <a:solidFill>
                  <a:srgbClr val="5A6B8A"/>
                </a:solidFill>
                <a:latin typeface="Calibri" pitchFamily="34" charset="0"/>
                <a:ea typeface="Calibri" pitchFamily="34" charset="-122"/>
                <a:cs typeface="Calibri" pitchFamily="34" charset="-120"/>
              </a:rPr>
              <a:t>R² = 44.3% variance explained</a:t>
            </a:r>
            <a:endParaRPr lang="en-US" sz="1200" dirty="0"/>
          </a:p>
        </p:txBody>
      </p:sp>
      <p:sp>
        <p:nvSpPr>
          <p:cNvPr id="73" name="Text 69"/>
          <p:cNvSpPr/>
          <p:nvPr/>
        </p:nvSpPr>
        <p:spPr>
          <a:xfrm>
            <a:off x="208954" y="4617500"/>
            <a:ext cx="8907661" cy="502188"/>
          </a:xfrm>
          <a:prstGeom prst="roundRect">
            <a:avLst>
              <a:gd name="adj" fmla="val 5817"/>
            </a:avLst>
          </a:prstGeom>
          <a:gradFill rotWithShape="1">
            <a:gsLst>
              <a:gs pos="0">
                <a:srgbClr val="1B2A4A"/>
              </a:gs>
              <a:gs pos="100000">
                <a:srgbClr val="2A3F6A"/>
              </a:gs>
            </a:gsLst>
            <a:lin ang="2700000" scaled="1"/>
          </a:gradFill>
          <a:ln/>
        </p:spPr>
        <p:txBody>
          <a:bodyPr wrap="square" lIns="171450" tIns="86360" rIns="171450" bIns="86360" rtlCol="0" anchor="t"/>
          <a:lstStyle/>
          <a:p>
            <a:pPr marL="0" indent="0" algn="l">
              <a:buNone/>
            </a:pPr>
            <a:r>
              <a:rPr lang="en-US" sz="790" b="1" dirty="0">
                <a:solidFill>
                  <a:srgbClr val="C5A55A"/>
                </a:solidFill>
                <a:latin typeface="Calibri" pitchFamily="34" charset="0"/>
                <a:ea typeface="Calibri" pitchFamily="34" charset="-122"/>
                <a:cs typeface="Calibri" pitchFamily="34" charset="-120"/>
              </a:rPr>
              <a:t>Key Finding:</a:t>
            </a:r>
            <a:r>
              <a:rPr lang="en-US" sz="790" dirty="0">
                <a:solidFill>
                  <a:srgbClr val="FFFFFF"/>
                </a:solidFill>
                <a:latin typeface="Calibri" pitchFamily="34" charset="0"/>
                <a:ea typeface="Calibri" pitchFamily="34" charset="-122"/>
                <a:cs typeface="Calibri" pitchFamily="34" charset="-120"/>
              </a:rPr>
              <a:t> Each additional MSB is associated with</a:t>
            </a:r>
            <a:r>
              <a:rPr lang="en-US" sz="790" b="1" dirty="0">
                <a:solidFill>
                  <a:srgbClr val="C5A55A"/>
                </a:solidFill>
                <a:latin typeface="Calibri" pitchFamily="34" charset="0"/>
                <a:ea typeface="Calibri" pitchFamily="34" charset="-122"/>
                <a:cs typeface="Calibri" pitchFamily="34" charset="-120"/>
              </a:rPr>
              <a:t>~46 additional SAR filings</a:t>
            </a:r>
            <a:r>
              <a:rPr lang="en-US" sz="790" dirty="0">
                <a:solidFill>
                  <a:srgbClr val="FFFFFF"/>
                </a:solidFill>
                <a:latin typeface="Calibri" pitchFamily="34" charset="0"/>
                <a:ea typeface="Calibri" pitchFamily="34" charset="-122"/>
                <a:cs typeface="Calibri" pitchFamily="34" charset="-120"/>
              </a:rPr>
              <a:t>. MSB density alone explains</a:t>
            </a:r>
            <a:r>
              <a:rPr lang="en-US" sz="790" b="1" dirty="0">
                <a:solidFill>
                  <a:srgbClr val="C5A55A"/>
                </a:solidFill>
                <a:latin typeface="Calibri" pitchFamily="34" charset="0"/>
                <a:ea typeface="Calibri" pitchFamily="34" charset="-122"/>
                <a:cs typeface="Calibri" pitchFamily="34" charset="-120"/>
              </a:rPr>
              <a:t>44%</a:t>
            </a:r>
            <a:r>
              <a:rPr lang="en-US" sz="790" dirty="0">
                <a:solidFill>
                  <a:srgbClr val="FFFFFF"/>
                </a:solidFill>
                <a:latin typeface="Calibri" pitchFamily="34" charset="0"/>
                <a:ea typeface="Calibri" pitchFamily="34" charset="-122"/>
                <a:cs typeface="Calibri" pitchFamily="34" charset="-120"/>
              </a:rPr>
              <a:t> of cross-state SAR variation.</a:t>
            </a:r>
            <a:endParaRPr lang="en-US" sz="1200" dirty="0"/>
          </a:p>
        </p:txBody>
      </p:sp>
      <p:sp>
        <p:nvSpPr>
          <p:cNvPr id="74" name="Text 70"/>
          <p:cNvSpPr/>
          <p:nvPr/>
        </p:nvSpPr>
        <p:spPr>
          <a:xfrm>
            <a:off x="448270" y="4697611"/>
            <a:ext cx="21580" cy="314920"/>
          </a:xfrm>
          <a:prstGeom prst="rect">
            <a:avLst/>
          </a:prstGeom>
          <a:solidFill>
            <a:srgbClr val="C5A55A"/>
          </a:solidFill>
          <a:ln/>
        </p:spPr>
        <p:txBody>
          <a:bodyPr wrap="squar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76200" y="76200"/>
            <a:ext cx="10058400" cy="574235"/>
          </a:xfrm>
          <a:prstGeom prst="rect">
            <a:avLst/>
          </a:prstGeom>
          <a:gradFill rotWithShape="1">
            <a:gsLst>
              <a:gs pos="0">
                <a:srgbClr val="C5A55A"/>
              </a:gs>
              <a:gs pos="50000">
                <a:srgbClr val="D4B96A"/>
              </a:gs>
              <a:gs pos="100000">
                <a:srgbClr val="C5A55A"/>
              </a:gs>
            </a:gsLst>
            <a:lin ang="2700000" scaled="1"/>
          </a:gradFill>
          <a:ln/>
          <a:effectLst>
            <a:outerShdw blurRad="86360" dist="50800" dir="16200000" algn="bl" rotWithShape="0">
              <a:srgbClr val="000000">
                <a:alpha val="25000"/>
              </a:srgbClr>
            </a:outerShdw>
          </a:effectLst>
        </p:spPr>
        <p:txBody>
          <a:bodyPr wrap="square" lIns="457200" tIns="0" rIns="457200" bIns="0" rtlCol="0" anchor="ctr"/>
          <a:lstStyle/>
          <a:p>
            <a:pPr marL="0" indent="0" algn="l">
              <a:buNone/>
            </a:pPr>
            <a:r>
              <a:rPr lang="en-US" sz="2030" b="1" dirty="0">
                <a:solidFill>
                  <a:srgbClr val="FFFFFF"/>
                </a:solidFill>
                <a:latin typeface="Calibri Light" pitchFamily="34" charset="0"/>
                <a:ea typeface="Calibri Light" pitchFamily="34" charset="-122"/>
                <a:cs typeface="Calibri Light" pitchFamily="34" charset="-120"/>
              </a:rPr>
              <a:t>INTERPRETATION</a:t>
            </a:r>
            <a:endParaRPr lang="en-US" sz="1200" dirty="0"/>
          </a:p>
        </p:txBody>
      </p:sp>
      <p:sp>
        <p:nvSpPr>
          <p:cNvPr id="4" name="Text 2"/>
          <p:cNvSpPr/>
          <p:nvPr/>
        </p:nvSpPr>
        <p:spPr>
          <a:xfrm>
            <a:off x="448270" y="734020"/>
            <a:ext cx="8850511" cy="771370"/>
          </a:xfrm>
          <a:prstGeom prst="roundRect">
            <a:avLst>
              <a:gd name="adj" fmla="val 5598"/>
            </a:avLst>
          </a:prstGeom>
          <a:solidFill>
            <a:srgbClr val="FFFFFF"/>
          </a:solidFill>
          <a:ln/>
          <a:effectLst>
            <a:outerShdw blurRad="71120" dist="50800" dir="16200000" algn="bl" rotWithShape="0">
              <a:srgbClr val="000000">
                <a:alpha val="6000"/>
              </a:srgbClr>
            </a:outerShdw>
          </a:effectLst>
        </p:spPr>
        <p:txBody>
          <a:bodyPr wrap="square" lIns="228600" tIns="128270" rIns="228600" bIns="128270" rtlCol="0" anchor="t"/>
          <a:lstStyle/>
          <a:p>
            <a:pPr marL="0" indent="0" algn="ctr">
              <a:buNone/>
            </a:pPr>
            <a:r>
              <a:rPr lang="en-US" sz="1240" b="1" dirty="0">
                <a:solidFill>
                  <a:srgbClr val="1B2A4A"/>
                </a:solidFill>
                <a:latin typeface="Cambria Math" pitchFamily="34" charset="0"/>
                <a:ea typeface="Cambria Math" pitchFamily="34" charset="-122"/>
                <a:cs typeface="Cambria Math" pitchFamily="34" charset="-120"/>
              </a:rPr>
              <a:t>SAR Count = β₀ + β₁ × MSB Count + ε</a:t>
            </a:r>
            <a:endParaRPr lang="en-US" sz="1200" dirty="0"/>
          </a:p>
        </p:txBody>
      </p:sp>
      <p:sp>
        <p:nvSpPr>
          <p:cNvPr id="5" name="Text 3"/>
          <p:cNvSpPr/>
          <p:nvPr/>
        </p:nvSpPr>
        <p:spPr>
          <a:xfrm>
            <a:off x="533400" y="734020"/>
            <a:ext cx="29170" cy="492621"/>
          </a:xfrm>
          <a:prstGeom prst="rect">
            <a:avLst/>
          </a:prstGeom>
          <a:solidFill>
            <a:srgbClr val="C5A55A"/>
          </a:solidFill>
          <a:ln/>
        </p:spPr>
        <p:txBody>
          <a:bodyPr wrap="square" rtlCol="0" anchor="t"/>
          <a:lstStyle/>
          <a:p>
            <a:pPr marL="0" indent="0">
              <a:buNone/>
            </a:pPr>
            <a:endParaRPr lang="en-US" dirty="0"/>
          </a:p>
        </p:txBody>
      </p:sp>
      <p:sp>
        <p:nvSpPr>
          <p:cNvPr id="6" name="Text 4"/>
          <p:cNvSpPr/>
          <p:nvPr/>
        </p:nvSpPr>
        <p:spPr>
          <a:xfrm>
            <a:off x="533400" y="1311771"/>
            <a:ext cx="8229600" cy="7590"/>
          </a:xfrm>
          <a:prstGeom prst="rect">
            <a:avLst/>
          </a:prstGeom>
          <a:gradFill rotWithShape="1">
            <a:gsLst>
              <a:gs pos="0">
                <a:srgbClr val="000000">
                  <a:alpha val="0"/>
                </a:srgbClr>
              </a:gs>
              <a:gs pos="20000">
                <a:srgbClr val="C5A55A">
                  <a:alpha val="35000"/>
                </a:srgbClr>
              </a:gs>
              <a:gs pos="80000">
                <a:srgbClr val="C5A55A">
                  <a:alpha val="35000"/>
                </a:srgbClr>
              </a:gs>
              <a:gs pos="100000">
                <a:srgbClr val="000000">
                  <a:alpha val="0"/>
                </a:srgbClr>
              </a:gs>
            </a:gsLst>
            <a:lin ang="0" scaled="1"/>
          </a:gradFill>
          <a:ln/>
        </p:spPr>
        <p:txBody>
          <a:bodyPr wrap="none" rtlCol="0" anchor="t"/>
          <a:lstStyle/>
          <a:p>
            <a:pPr marL="0" indent="0">
              <a:buNone/>
            </a:pPr>
            <a:endParaRPr lang="en-US" dirty="0"/>
          </a:p>
        </p:txBody>
      </p:sp>
      <p:sp>
        <p:nvSpPr>
          <p:cNvPr id="7" name="Text 5"/>
          <p:cNvSpPr/>
          <p:nvPr/>
        </p:nvSpPr>
        <p:spPr>
          <a:xfrm>
            <a:off x="533400" y="1390650"/>
            <a:ext cx="4071491" cy="642491"/>
          </a:xfrm>
          <a:prstGeom prst="roundRect">
            <a:avLst>
              <a:gd name="adj" fmla="val 6721"/>
            </a:avLst>
          </a:prstGeom>
          <a:solidFill>
            <a:srgbClr val="FFFFFF"/>
          </a:solidFill>
          <a:ln/>
          <a:effectLst>
            <a:outerShdw blurRad="57150" dist="50800" dir="16200000" algn="bl" rotWithShape="0">
              <a:srgbClr val="000000">
                <a:alpha val="5000"/>
              </a:srgbClr>
            </a:outerShdw>
          </a:effectLst>
        </p:spPr>
        <p:txBody>
          <a:bodyPr wrap="square" rtlCol="0" anchor="t"/>
          <a:lstStyle/>
          <a:p>
            <a:pPr marL="0" indent="0">
              <a:buNone/>
            </a:pPr>
            <a:endParaRPr lang="en-US" dirty="0"/>
          </a:p>
        </p:txBody>
      </p:sp>
      <p:sp>
        <p:nvSpPr>
          <p:cNvPr id="8" name="Text 6"/>
          <p:cNvSpPr/>
          <p:nvPr/>
        </p:nvSpPr>
        <p:spPr>
          <a:xfrm>
            <a:off x="533400" y="1390650"/>
            <a:ext cx="29170" cy="642491"/>
          </a:xfrm>
          <a:prstGeom prst="rect">
            <a:avLst/>
          </a:prstGeom>
          <a:solidFill>
            <a:srgbClr val="C5A55A"/>
          </a:solidFill>
          <a:ln/>
        </p:spPr>
        <p:txBody>
          <a:bodyPr wrap="square" rtlCol="0" anchor="t"/>
          <a:lstStyle/>
          <a:p>
            <a:pPr marL="0" indent="0">
              <a:buNone/>
            </a:pPr>
            <a:endParaRPr lang="en-US" dirty="0"/>
          </a:p>
        </p:txBody>
      </p:sp>
      <p:sp>
        <p:nvSpPr>
          <p:cNvPr id="9" name="Text 7"/>
          <p:cNvSpPr/>
          <p:nvPr/>
        </p:nvSpPr>
        <p:spPr>
          <a:xfrm>
            <a:off x="661541" y="1504950"/>
            <a:ext cx="257770" cy="257770"/>
          </a:xfrm>
          <a:prstGeom prst="roundRect">
            <a:avLst>
              <a:gd name="adj" fmla="val 22171"/>
            </a:avLst>
          </a:prstGeom>
          <a:solidFill>
            <a:srgbClr val="C5A55A">
              <a:alpha val="12000"/>
            </a:srgbClr>
          </a:solidFill>
          <a:ln/>
        </p:spPr>
        <p:txBody>
          <a:bodyPr wrap="non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30" y="1569690"/>
            <a:ext cx="135880" cy="135880"/>
          </a:xfrm>
          <a:prstGeom prst="rect">
            <a:avLst/>
          </a:prstGeom>
        </p:spPr>
      </p:pic>
      <p:sp>
        <p:nvSpPr>
          <p:cNvPr id="11" name="Text 8"/>
          <p:cNvSpPr/>
          <p:nvPr/>
        </p:nvSpPr>
        <p:spPr>
          <a:xfrm>
            <a:off x="1004441" y="1490960"/>
            <a:ext cx="4220304" cy="133350"/>
          </a:xfrm>
          <a:prstGeom prst="rect">
            <a:avLst/>
          </a:prstGeom>
          <a:noFill/>
          <a:ln/>
        </p:spPr>
        <p:txBody>
          <a:bodyPr wrap="none" lIns="0" tIns="0" rIns="0" bIns="0" rtlCol="0" anchor="t"/>
          <a:lstStyle/>
          <a:p>
            <a:pPr marL="0" indent="0" algn="l">
              <a:lnSpc>
                <a:spcPts val="1050"/>
              </a:lnSpc>
              <a:spcAft>
                <a:spcPts val="230"/>
              </a:spcAft>
              <a:buNone/>
            </a:pPr>
            <a:r>
              <a:rPr lang="en-US" sz="840" b="1" dirty="0">
                <a:solidFill>
                  <a:srgbClr val="1B2A4A"/>
                </a:solidFill>
                <a:latin typeface="Calibri Light" pitchFamily="34" charset="0"/>
                <a:ea typeface="Calibri Light" pitchFamily="34" charset="-122"/>
                <a:cs typeface="Calibri Light" pitchFamily="34" charset="-120"/>
              </a:rPr>
              <a:t>Positive &amp; Significant Relationship</a:t>
            </a:r>
            <a:endParaRPr lang="en-US" sz="1200" dirty="0"/>
          </a:p>
        </p:txBody>
      </p:sp>
      <p:sp>
        <p:nvSpPr>
          <p:cNvPr id="12" name="Text 9"/>
          <p:cNvSpPr/>
          <p:nvPr/>
        </p:nvSpPr>
        <p:spPr>
          <a:xfrm>
            <a:off x="1004441" y="1654671"/>
            <a:ext cx="3628284" cy="291911"/>
          </a:xfrm>
          <a:prstGeom prst="rect">
            <a:avLst/>
          </a:prstGeom>
          <a:noFill/>
          <a:ln/>
        </p:spPr>
        <p:txBody>
          <a:bodyPr wrap="square" lIns="0" tIns="0" rIns="0" bIns="0" rtlCol="0" anchor="t"/>
          <a:lstStyle/>
          <a:p>
            <a:pPr marL="0" indent="0" algn="l">
              <a:lnSpc>
                <a:spcPts val="1095"/>
              </a:lnSpc>
              <a:buNone/>
            </a:pPr>
            <a:r>
              <a:rPr lang="en-US" sz="730" dirty="0">
                <a:solidFill>
                  <a:srgbClr val="5A6A8A"/>
                </a:solidFill>
                <a:latin typeface="Calibri" pitchFamily="34" charset="0"/>
                <a:ea typeface="Calibri" pitchFamily="34" charset="-122"/>
                <a:cs typeface="Calibri" pitchFamily="34" charset="-120"/>
              </a:rPr>
              <a:t>The estimated coefficient on msb_count is positive and statistically significant, indicating that states with more MSBs tend to file more SARs.</a:t>
            </a:r>
            <a:endParaRPr lang="en-US" sz="1200" dirty="0"/>
          </a:p>
        </p:txBody>
      </p:sp>
      <p:sp>
        <p:nvSpPr>
          <p:cNvPr id="13" name="Text 10"/>
          <p:cNvSpPr/>
          <p:nvPr/>
        </p:nvSpPr>
        <p:spPr>
          <a:xfrm>
            <a:off x="4691360" y="1390650"/>
            <a:ext cx="4071491" cy="642491"/>
          </a:xfrm>
          <a:prstGeom prst="roundRect">
            <a:avLst>
              <a:gd name="adj" fmla="val 6721"/>
            </a:avLst>
          </a:prstGeom>
          <a:solidFill>
            <a:srgbClr val="FFFFFF"/>
          </a:solidFill>
          <a:ln/>
          <a:effectLst>
            <a:outerShdw blurRad="57150" dist="50800" dir="16200000" algn="bl" rotWithShape="0">
              <a:srgbClr val="000000">
                <a:alpha val="5000"/>
              </a:srgbClr>
            </a:outerShdw>
          </a:effectLst>
        </p:spPr>
        <p:txBody>
          <a:bodyPr wrap="square" rtlCol="0" anchor="t"/>
          <a:lstStyle/>
          <a:p>
            <a:pPr marL="0" indent="0">
              <a:buNone/>
            </a:pPr>
            <a:endParaRPr lang="en-US" dirty="0"/>
          </a:p>
        </p:txBody>
      </p:sp>
      <p:sp>
        <p:nvSpPr>
          <p:cNvPr id="14" name="Text 11"/>
          <p:cNvSpPr/>
          <p:nvPr/>
        </p:nvSpPr>
        <p:spPr>
          <a:xfrm>
            <a:off x="4691360" y="1390650"/>
            <a:ext cx="29170" cy="642491"/>
          </a:xfrm>
          <a:prstGeom prst="rect">
            <a:avLst/>
          </a:prstGeom>
          <a:solidFill>
            <a:srgbClr val="C5A55A"/>
          </a:solidFill>
          <a:ln/>
        </p:spPr>
        <p:txBody>
          <a:bodyPr wrap="square" rtlCol="0" anchor="t"/>
          <a:lstStyle/>
          <a:p>
            <a:pPr marL="0" indent="0">
              <a:buNone/>
            </a:pPr>
            <a:endParaRPr lang="en-US" dirty="0"/>
          </a:p>
        </p:txBody>
      </p:sp>
      <p:sp>
        <p:nvSpPr>
          <p:cNvPr id="15" name="Text 12"/>
          <p:cNvSpPr/>
          <p:nvPr/>
        </p:nvSpPr>
        <p:spPr>
          <a:xfrm>
            <a:off x="4819650" y="1504950"/>
            <a:ext cx="257770" cy="257770"/>
          </a:xfrm>
          <a:prstGeom prst="roundRect">
            <a:avLst>
              <a:gd name="adj" fmla="val 22171"/>
            </a:avLst>
          </a:prstGeom>
          <a:solidFill>
            <a:srgbClr val="C5A55A">
              <a:alpha val="12000"/>
            </a:srgbClr>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4390" y="1569690"/>
            <a:ext cx="135880" cy="135880"/>
          </a:xfrm>
          <a:prstGeom prst="rect">
            <a:avLst/>
          </a:prstGeom>
        </p:spPr>
      </p:pic>
      <p:sp>
        <p:nvSpPr>
          <p:cNvPr id="17" name="Text 13"/>
          <p:cNvSpPr/>
          <p:nvPr/>
        </p:nvSpPr>
        <p:spPr>
          <a:xfrm>
            <a:off x="5162550" y="1490960"/>
            <a:ext cx="4220304" cy="133350"/>
          </a:xfrm>
          <a:prstGeom prst="rect">
            <a:avLst/>
          </a:prstGeom>
          <a:noFill/>
          <a:ln/>
        </p:spPr>
        <p:txBody>
          <a:bodyPr wrap="none" lIns="0" tIns="0" rIns="0" bIns="0" rtlCol="0" anchor="t"/>
          <a:lstStyle/>
          <a:p>
            <a:pPr marL="0" indent="0" algn="l">
              <a:lnSpc>
                <a:spcPts val="1050"/>
              </a:lnSpc>
              <a:spcAft>
                <a:spcPts val="230"/>
              </a:spcAft>
              <a:buNone/>
            </a:pPr>
            <a:r>
              <a:rPr lang="en-US" sz="840" b="1" dirty="0">
                <a:solidFill>
                  <a:srgbClr val="1B2A4A"/>
                </a:solidFill>
                <a:latin typeface="Calibri Light" pitchFamily="34" charset="0"/>
                <a:ea typeface="Calibri Light" pitchFamily="34" charset="-122"/>
                <a:cs typeface="Calibri Light" pitchFamily="34" charset="-120"/>
              </a:rPr>
              <a:t>Magnitude</a:t>
            </a:r>
            <a:endParaRPr lang="en-US" sz="1200" dirty="0"/>
          </a:p>
        </p:txBody>
      </p:sp>
      <p:sp>
        <p:nvSpPr>
          <p:cNvPr id="18" name="Text 14"/>
          <p:cNvSpPr/>
          <p:nvPr/>
        </p:nvSpPr>
        <p:spPr>
          <a:xfrm>
            <a:off x="5162550" y="1654671"/>
            <a:ext cx="3628284" cy="291911"/>
          </a:xfrm>
          <a:prstGeom prst="rect">
            <a:avLst/>
          </a:prstGeom>
          <a:noFill/>
          <a:ln/>
        </p:spPr>
        <p:txBody>
          <a:bodyPr wrap="square" lIns="0" tIns="0" rIns="0" bIns="0" rtlCol="0" anchor="t"/>
          <a:lstStyle/>
          <a:p>
            <a:pPr marL="0" indent="0" algn="l">
              <a:lnSpc>
                <a:spcPts val="1095"/>
              </a:lnSpc>
              <a:buNone/>
            </a:pPr>
            <a:r>
              <a:rPr lang="en-US" sz="730" dirty="0">
                <a:solidFill>
                  <a:srgbClr val="5A6A8A"/>
                </a:solidFill>
                <a:latin typeface="Calibri" pitchFamily="34" charset="0"/>
                <a:ea typeface="Calibri" pitchFamily="34" charset="-122"/>
                <a:cs typeface="Calibri" pitchFamily="34" charset="-120"/>
              </a:rPr>
              <a:t>Each additional MSB is associated with an increase of approximately 47-48 SAR filings, holding all else constant.</a:t>
            </a:r>
            <a:endParaRPr lang="en-US" sz="1200" dirty="0"/>
          </a:p>
        </p:txBody>
      </p:sp>
      <p:sp>
        <p:nvSpPr>
          <p:cNvPr id="19" name="Text 15"/>
          <p:cNvSpPr/>
          <p:nvPr/>
        </p:nvSpPr>
        <p:spPr>
          <a:xfrm>
            <a:off x="533400" y="2119610"/>
            <a:ext cx="4071491" cy="778371"/>
          </a:xfrm>
          <a:prstGeom prst="roundRect">
            <a:avLst>
              <a:gd name="adj" fmla="val 5547"/>
            </a:avLst>
          </a:prstGeom>
          <a:solidFill>
            <a:srgbClr val="FFFFFF"/>
          </a:solidFill>
          <a:ln/>
          <a:effectLst>
            <a:outerShdw blurRad="57150" dist="50800" dir="16200000" algn="bl" rotWithShape="0">
              <a:srgbClr val="000000">
                <a:alpha val="5000"/>
              </a:srgbClr>
            </a:outerShdw>
          </a:effectLst>
        </p:spPr>
        <p:txBody>
          <a:bodyPr wrap="square" rtlCol="0" anchor="t"/>
          <a:lstStyle/>
          <a:p>
            <a:pPr marL="0" indent="0">
              <a:buNone/>
            </a:pPr>
            <a:endParaRPr lang="en-US" dirty="0"/>
          </a:p>
        </p:txBody>
      </p:sp>
      <p:sp>
        <p:nvSpPr>
          <p:cNvPr id="20" name="Text 16"/>
          <p:cNvSpPr/>
          <p:nvPr/>
        </p:nvSpPr>
        <p:spPr>
          <a:xfrm>
            <a:off x="533400" y="2119610"/>
            <a:ext cx="29170" cy="778371"/>
          </a:xfrm>
          <a:prstGeom prst="rect">
            <a:avLst/>
          </a:prstGeom>
          <a:solidFill>
            <a:srgbClr val="C5A55A"/>
          </a:solidFill>
          <a:ln/>
        </p:spPr>
        <p:txBody>
          <a:bodyPr wrap="square" rtlCol="0" anchor="t"/>
          <a:lstStyle/>
          <a:p>
            <a:pPr marL="0" indent="0">
              <a:buNone/>
            </a:pPr>
            <a:endParaRPr lang="en-US" dirty="0"/>
          </a:p>
        </p:txBody>
      </p:sp>
      <p:sp>
        <p:nvSpPr>
          <p:cNvPr id="21" name="Text 17"/>
          <p:cNvSpPr/>
          <p:nvPr/>
        </p:nvSpPr>
        <p:spPr>
          <a:xfrm>
            <a:off x="661541" y="2233910"/>
            <a:ext cx="257770" cy="257770"/>
          </a:xfrm>
          <a:prstGeom prst="roundRect">
            <a:avLst>
              <a:gd name="adj" fmla="val 22171"/>
            </a:avLst>
          </a:prstGeom>
          <a:solidFill>
            <a:srgbClr val="C5A55A">
              <a:alpha val="12000"/>
            </a:srgbClr>
          </a:solidFill>
          <a:ln/>
        </p:spPr>
        <p:txBody>
          <a:bodyPr wrap="non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6430" y="2297311"/>
            <a:ext cx="135880" cy="135880"/>
          </a:xfrm>
          <a:prstGeom prst="rect">
            <a:avLst/>
          </a:prstGeom>
        </p:spPr>
      </p:pic>
      <p:sp>
        <p:nvSpPr>
          <p:cNvPr id="23" name="Text 18"/>
          <p:cNvSpPr/>
          <p:nvPr/>
        </p:nvSpPr>
        <p:spPr>
          <a:xfrm>
            <a:off x="1004441" y="2219920"/>
            <a:ext cx="4220304" cy="133350"/>
          </a:xfrm>
          <a:prstGeom prst="rect">
            <a:avLst/>
          </a:prstGeom>
          <a:noFill/>
          <a:ln/>
        </p:spPr>
        <p:txBody>
          <a:bodyPr wrap="none" lIns="0" tIns="0" rIns="0" bIns="0" rtlCol="0" anchor="t"/>
          <a:lstStyle/>
          <a:p>
            <a:pPr marL="0" indent="0" algn="l">
              <a:lnSpc>
                <a:spcPts val="1050"/>
              </a:lnSpc>
              <a:spcAft>
                <a:spcPts val="230"/>
              </a:spcAft>
              <a:buNone/>
            </a:pPr>
            <a:r>
              <a:rPr lang="en-US" sz="840" b="1" dirty="0">
                <a:solidFill>
                  <a:srgbClr val="1B2A4A"/>
                </a:solidFill>
                <a:latin typeface="Calibri Light" pitchFamily="34" charset="0"/>
                <a:ea typeface="Calibri Light" pitchFamily="34" charset="-122"/>
                <a:cs typeface="Calibri Light" pitchFamily="34" charset="-120"/>
              </a:rPr>
              <a:t>Explanatory Power</a:t>
            </a:r>
            <a:endParaRPr lang="en-US" sz="1200" dirty="0"/>
          </a:p>
        </p:txBody>
      </p:sp>
      <p:sp>
        <p:nvSpPr>
          <p:cNvPr id="24" name="Text 19"/>
          <p:cNvSpPr/>
          <p:nvPr/>
        </p:nvSpPr>
        <p:spPr>
          <a:xfrm>
            <a:off x="1004441" y="2383780"/>
            <a:ext cx="3628284" cy="437867"/>
          </a:xfrm>
          <a:prstGeom prst="rect">
            <a:avLst/>
          </a:prstGeom>
          <a:noFill/>
          <a:ln/>
        </p:spPr>
        <p:txBody>
          <a:bodyPr wrap="square" lIns="0" tIns="0" rIns="0" bIns="0" rtlCol="0" anchor="t"/>
          <a:lstStyle/>
          <a:p>
            <a:pPr marL="0" indent="0" algn="l">
              <a:lnSpc>
                <a:spcPts val="1095"/>
              </a:lnSpc>
              <a:buNone/>
            </a:pPr>
            <a:r>
              <a:rPr lang="en-US" sz="730" dirty="0">
                <a:solidFill>
                  <a:srgbClr val="5A6A8A"/>
                </a:solidFill>
                <a:latin typeface="Calibri" pitchFamily="34" charset="0"/>
                <a:ea typeface="Calibri" pitchFamily="34" charset="-122"/>
                <a:cs typeface="Calibri" pitchFamily="34" charset="-120"/>
              </a:rPr>
              <a:t>The R-squared value of 0.44 indicates that MSB density alone explains about 44% of the variation in SAR filings across states. This is meaningful for a single-variable model.</a:t>
            </a:r>
            <a:endParaRPr lang="en-US" sz="1200" dirty="0"/>
          </a:p>
        </p:txBody>
      </p:sp>
      <p:sp>
        <p:nvSpPr>
          <p:cNvPr id="25" name="Text 20"/>
          <p:cNvSpPr/>
          <p:nvPr/>
        </p:nvSpPr>
        <p:spPr>
          <a:xfrm>
            <a:off x="4691360" y="2119610"/>
            <a:ext cx="4071491" cy="778371"/>
          </a:xfrm>
          <a:prstGeom prst="roundRect">
            <a:avLst>
              <a:gd name="adj" fmla="val 5547"/>
            </a:avLst>
          </a:prstGeom>
          <a:solidFill>
            <a:srgbClr val="FFFFFF"/>
          </a:solidFill>
          <a:ln/>
          <a:effectLst>
            <a:outerShdw blurRad="57150" dist="50800" dir="16200000" algn="bl" rotWithShape="0">
              <a:srgbClr val="000000">
                <a:alpha val="5000"/>
              </a:srgbClr>
            </a:outerShdw>
          </a:effectLst>
        </p:spPr>
        <p:txBody>
          <a:bodyPr wrap="square" rtlCol="0" anchor="t"/>
          <a:lstStyle/>
          <a:p>
            <a:pPr marL="0" indent="0">
              <a:buNone/>
            </a:pPr>
            <a:endParaRPr lang="en-US" dirty="0"/>
          </a:p>
        </p:txBody>
      </p:sp>
      <p:sp>
        <p:nvSpPr>
          <p:cNvPr id="26" name="Text 21"/>
          <p:cNvSpPr/>
          <p:nvPr/>
        </p:nvSpPr>
        <p:spPr>
          <a:xfrm>
            <a:off x="4691360" y="2119610"/>
            <a:ext cx="29170" cy="778371"/>
          </a:xfrm>
          <a:prstGeom prst="rect">
            <a:avLst/>
          </a:prstGeom>
          <a:solidFill>
            <a:srgbClr val="C5A55A"/>
          </a:solidFill>
          <a:ln/>
        </p:spPr>
        <p:txBody>
          <a:bodyPr wrap="square" rtlCol="0" anchor="t"/>
          <a:lstStyle/>
          <a:p>
            <a:pPr marL="0" indent="0">
              <a:buNone/>
            </a:pPr>
            <a:endParaRPr lang="en-US" dirty="0"/>
          </a:p>
        </p:txBody>
      </p:sp>
      <p:sp>
        <p:nvSpPr>
          <p:cNvPr id="27" name="Text 22"/>
          <p:cNvSpPr/>
          <p:nvPr/>
        </p:nvSpPr>
        <p:spPr>
          <a:xfrm>
            <a:off x="4819650" y="2233910"/>
            <a:ext cx="257770" cy="257770"/>
          </a:xfrm>
          <a:prstGeom prst="roundRect">
            <a:avLst>
              <a:gd name="adj" fmla="val 22171"/>
            </a:avLst>
          </a:prstGeom>
          <a:solidFill>
            <a:srgbClr val="C5A55A">
              <a:alpha val="12000"/>
            </a:srgbClr>
          </a:solidFill>
          <a:ln/>
        </p:spPr>
        <p:txBody>
          <a:bodyPr wrap="none" rtlCol="0" anchor="t"/>
          <a:lstStyle/>
          <a:p>
            <a:pPr marL="0" indent="0">
              <a:buNone/>
            </a:pPr>
            <a:endParaRPr lang="en-US"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84390" y="2297311"/>
            <a:ext cx="135880" cy="135880"/>
          </a:xfrm>
          <a:prstGeom prst="rect">
            <a:avLst/>
          </a:prstGeom>
        </p:spPr>
      </p:pic>
      <p:sp>
        <p:nvSpPr>
          <p:cNvPr id="29" name="Text 23"/>
          <p:cNvSpPr/>
          <p:nvPr/>
        </p:nvSpPr>
        <p:spPr>
          <a:xfrm>
            <a:off x="5162550" y="2219920"/>
            <a:ext cx="4220304" cy="133350"/>
          </a:xfrm>
          <a:prstGeom prst="rect">
            <a:avLst/>
          </a:prstGeom>
          <a:noFill/>
          <a:ln/>
        </p:spPr>
        <p:txBody>
          <a:bodyPr wrap="none" lIns="0" tIns="0" rIns="0" bIns="0" rtlCol="0" anchor="t"/>
          <a:lstStyle/>
          <a:p>
            <a:pPr marL="0" indent="0" algn="l">
              <a:lnSpc>
                <a:spcPts val="1050"/>
              </a:lnSpc>
              <a:spcAft>
                <a:spcPts val="230"/>
              </a:spcAft>
              <a:buNone/>
            </a:pPr>
            <a:r>
              <a:rPr lang="en-US" sz="840" b="1" dirty="0">
                <a:solidFill>
                  <a:srgbClr val="1B2A4A"/>
                </a:solidFill>
                <a:latin typeface="Calibri Light" pitchFamily="34" charset="0"/>
                <a:ea typeface="Calibri Light" pitchFamily="34" charset="-122"/>
                <a:cs typeface="Calibri Light" pitchFamily="34" charset="-120"/>
              </a:rPr>
              <a:t>Association, Not Causation</a:t>
            </a:r>
            <a:endParaRPr lang="en-US" sz="1200" dirty="0"/>
          </a:p>
        </p:txBody>
      </p:sp>
      <p:sp>
        <p:nvSpPr>
          <p:cNvPr id="30" name="Text 24"/>
          <p:cNvSpPr/>
          <p:nvPr/>
        </p:nvSpPr>
        <p:spPr>
          <a:xfrm>
            <a:off x="5162550" y="2383780"/>
            <a:ext cx="3628284" cy="437867"/>
          </a:xfrm>
          <a:prstGeom prst="rect">
            <a:avLst/>
          </a:prstGeom>
          <a:noFill/>
          <a:ln/>
        </p:spPr>
        <p:txBody>
          <a:bodyPr wrap="square" lIns="0" tIns="0" rIns="0" bIns="0" rtlCol="0" anchor="t"/>
          <a:lstStyle/>
          <a:p>
            <a:pPr marL="0" indent="0" algn="l">
              <a:lnSpc>
                <a:spcPts val="1095"/>
              </a:lnSpc>
              <a:buNone/>
            </a:pPr>
            <a:r>
              <a:rPr lang="en-US" sz="730" dirty="0">
                <a:solidFill>
                  <a:srgbClr val="5A6A8A"/>
                </a:solidFill>
                <a:latin typeface="Calibri" pitchFamily="34" charset="0"/>
                <a:ea typeface="Calibri" pitchFamily="34" charset="-122"/>
                <a:cs typeface="Calibri" pitchFamily="34" charset="-120"/>
              </a:rPr>
              <a:t>The results align with intuition: more MSBs leads to more financial activity leads to more opportunities for suspicious activity detection. However, the model does not establish causality.</a:t>
            </a:r>
            <a:endParaRPr lang="en-US" sz="1200" dirty="0"/>
          </a:p>
        </p:txBody>
      </p:sp>
      <p:sp>
        <p:nvSpPr>
          <p:cNvPr id="31" name="Text 25"/>
          <p:cNvSpPr/>
          <p:nvPr/>
        </p:nvSpPr>
        <p:spPr>
          <a:xfrm>
            <a:off x="533400" y="2969121"/>
            <a:ext cx="8229600" cy="7590"/>
          </a:xfrm>
          <a:prstGeom prst="rect">
            <a:avLst/>
          </a:prstGeom>
          <a:gradFill rotWithShape="1">
            <a:gsLst>
              <a:gs pos="0">
                <a:srgbClr val="000000">
                  <a:alpha val="0"/>
                </a:srgbClr>
              </a:gs>
              <a:gs pos="20000">
                <a:srgbClr val="C5A55A">
                  <a:alpha val="35000"/>
                </a:srgbClr>
              </a:gs>
              <a:gs pos="80000">
                <a:srgbClr val="C5A55A">
                  <a:alpha val="35000"/>
                </a:srgbClr>
              </a:gs>
              <a:gs pos="100000">
                <a:srgbClr val="000000">
                  <a:alpha val="0"/>
                </a:srgbClr>
              </a:gs>
            </a:gsLst>
            <a:lin ang="0" scaled="1"/>
          </a:gradFill>
          <a:ln/>
        </p:spPr>
        <p:txBody>
          <a:bodyPr wrap="none" rtlCol="0" anchor="t"/>
          <a:lstStyle/>
          <a:p>
            <a:pPr marL="0" indent="0">
              <a:buNone/>
            </a:pPr>
            <a:endParaRPr lang="en-US" dirty="0"/>
          </a:p>
        </p:txBody>
      </p:sp>
      <p:sp>
        <p:nvSpPr>
          <p:cNvPr id="32" name="Text 26"/>
          <p:cNvSpPr/>
          <p:nvPr/>
        </p:nvSpPr>
        <p:spPr>
          <a:xfrm>
            <a:off x="533400" y="3061841"/>
            <a:ext cx="8229600" cy="457200"/>
          </a:xfrm>
          <a:prstGeom prst="roundRect">
            <a:avLst>
              <a:gd name="adj" fmla="val 9444"/>
            </a:avLst>
          </a:prstGeom>
          <a:gradFill rotWithShape="1">
            <a:gsLst>
              <a:gs pos="0">
                <a:srgbClr val="C5A55A">
                  <a:alpha val="10000"/>
                </a:srgbClr>
              </a:gs>
              <a:gs pos="100000">
                <a:srgbClr val="C5A55A">
                  <a:alpha val="4000"/>
                </a:srgbClr>
              </a:gs>
            </a:gsLst>
            <a:lin ang="0" scaled="1"/>
          </a:gradFill>
          <a:ln/>
        </p:spPr>
        <p:txBody>
          <a:bodyPr wrap="square" rtlCol="0" anchor="t"/>
          <a:lstStyle/>
          <a:p>
            <a:pPr marL="0" indent="0">
              <a:buNone/>
            </a:pPr>
            <a:endParaRPr lang="en-US" dirty="0"/>
          </a:p>
        </p:txBody>
      </p:sp>
      <p:sp>
        <p:nvSpPr>
          <p:cNvPr id="33" name="Text 27"/>
          <p:cNvSpPr/>
          <p:nvPr/>
        </p:nvSpPr>
        <p:spPr>
          <a:xfrm>
            <a:off x="533400" y="3061841"/>
            <a:ext cx="29170" cy="457200"/>
          </a:xfrm>
          <a:prstGeom prst="rect">
            <a:avLst/>
          </a:prstGeom>
          <a:solidFill>
            <a:srgbClr val="C5A55A"/>
          </a:solidFill>
          <a:ln/>
        </p:spPr>
        <p:txBody>
          <a:bodyPr wrap="square" rtlCol="0" anchor="t"/>
          <a:lstStyle/>
          <a:p>
            <a:pPr marL="0" indent="0">
              <a:buNone/>
            </a:pPr>
            <a:endParaRPr lang="en-US" dirty="0"/>
          </a:p>
        </p:txBody>
      </p:sp>
      <p:pic>
        <p:nvPicPr>
          <p:cNvPr id="3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0860" y="3140571"/>
            <a:ext cx="135880" cy="135880"/>
          </a:xfrm>
          <a:prstGeom prst="rect">
            <a:avLst/>
          </a:prstGeom>
        </p:spPr>
      </p:pic>
      <p:sp>
        <p:nvSpPr>
          <p:cNvPr id="35" name="Text 28"/>
          <p:cNvSpPr/>
          <p:nvPr/>
        </p:nvSpPr>
        <p:spPr>
          <a:xfrm>
            <a:off x="890141" y="3148310"/>
            <a:ext cx="8044434" cy="301913"/>
          </a:xfrm>
          <a:prstGeom prst="rect">
            <a:avLst/>
          </a:prstGeom>
          <a:noFill/>
          <a:ln/>
        </p:spPr>
        <p:txBody>
          <a:bodyPr wrap="square" lIns="0" tIns="0" rIns="0" bIns="0" rtlCol="0" anchor="t"/>
          <a:lstStyle/>
          <a:p>
            <a:pPr marL="0" indent="0" algn="l">
              <a:lnSpc>
                <a:spcPts val="1132"/>
              </a:lnSpc>
              <a:buNone/>
            </a:pPr>
            <a:r>
              <a:rPr lang="en-US" sz="730" i="1" dirty="0">
                <a:solidFill>
                  <a:srgbClr val="1B2A4A"/>
                </a:solidFill>
                <a:latin typeface="Calibri" pitchFamily="34" charset="0"/>
                <a:ea typeface="Calibri" pitchFamily="34" charset="-122"/>
                <a:cs typeface="Calibri" pitchFamily="34" charset="-120"/>
              </a:rPr>
              <a:t>More than half of the variation in SAR filings is driven by other factors not included in this model, such as population size, economic activity, banking sector density, or state-level regulatory environments.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76200" y="76200"/>
            <a:ext cx="9067800" cy="543520"/>
          </a:xfrm>
          <a:prstGeom prst="rect">
            <a:avLst/>
          </a:prstGeom>
          <a:gradFill rotWithShape="1">
            <a:gsLst>
              <a:gs pos="0">
                <a:srgbClr val="C5A55A"/>
              </a:gs>
              <a:gs pos="50000">
                <a:srgbClr val="D4B86A"/>
              </a:gs>
              <a:gs pos="100000">
                <a:srgbClr val="B8963E"/>
              </a:gs>
            </a:gsLst>
            <a:lin ang="2700000" scaled="1"/>
          </a:gradFill>
          <a:ln/>
          <a:effectLst>
            <a:outerShdw blurRad="86360" dist="50800" dir="16200000" algn="bl" rotWithShape="0">
              <a:srgbClr val="000000">
                <a:alpha val="30000"/>
              </a:srgbClr>
            </a:outerShdw>
          </a:effectLst>
        </p:spPr>
        <p:txBody>
          <a:bodyPr wrap="squar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400" y="269230"/>
            <a:ext cx="149721" cy="149721"/>
          </a:xfrm>
          <a:prstGeom prst="rect">
            <a:avLst/>
          </a:prstGeom>
        </p:spPr>
      </p:pic>
      <p:sp>
        <p:nvSpPr>
          <p:cNvPr id="5" name="Text 2"/>
          <p:cNvSpPr/>
          <p:nvPr/>
        </p:nvSpPr>
        <p:spPr>
          <a:xfrm>
            <a:off x="783580" y="169069"/>
            <a:ext cx="1909688" cy="363885"/>
          </a:xfrm>
          <a:prstGeom prst="rect">
            <a:avLst/>
          </a:prstGeom>
          <a:noFill/>
          <a:ln/>
        </p:spPr>
        <p:txBody>
          <a:bodyPr wrap="none" lIns="0" tIns="0" rIns="0" bIns="0" rtlCol="0" anchor="t"/>
          <a:lstStyle/>
          <a:p>
            <a:pPr marL="0" indent="0" algn="l">
              <a:lnSpc>
                <a:spcPts val="2865"/>
              </a:lnSpc>
              <a:buNone/>
            </a:pPr>
            <a:r>
              <a:rPr lang="en-US" sz="1910" b="1" dirty="0">
                <a:solidFill>
                  <a:srgbClr val="FFFFFF"/>
                </a:solidFill>
                <a:latin typeface="Calibri Light" pitchFamily="34" charset="0"/>
                <a:ea typeface="Calibri Light" pitchFamily="34" charset="-122"/>
                <a:cs typeface="Calibri Light" pitchFamily="34" charset="-120"/>
              </a:rPr>
              <a:t>LIMITATIONS</a:t>
            </a:r>
            <a:endParaRPr lang="en-US" sz="1200" dirty="0"/>
          </a:p>
        </p:txBody>
      </p:sp>
      <p:sp>
        <p:nvSpPr>
          <p:cNvPr id="6" name="Text 3"/>
          <p:cNvSpPr/>
          <p:nvPr/>
        </p:nvSpPr>
        <p:spPr>
          <a:xfrm>
            <a:off x="533400" y="775841"/>
            <a:ext cx="8229600" cy="800100"/>
          </a:xfrm>
          <a:prstGeom prst="roundRect">
            <a:avLst>
              <a:gd name="adj" fmla="val 5397"/>
            </a:avLst>
          </a:prstGeom>
          <a:solidFill>
            <a:srgbClr val="FFFFFF"/>
          </a:solidFill>
          <a:ln/>
          <a:effectLst>
            <a:outerShdw blurRad="29210" dist="50800" dir="16200000" algn="bl" rotWithShape="0">
              <a:srgbClr val="000000">
                <a:alpha val="7000"/>
              </a:srgbClr>
            </a:outerShdw>
          </a:effectLst>
        </p:spPr>
        <p:txBody>
          <a:bodyPr wrap="square" rtlCol="0" anchor="t"/>
          <a:lstStyle/>
          <a:p>
            <a:pPr marL="0" indent="0">
              <a:buNone/>
            </a:pPr>
            <a:endParaRPr lang="en-US" dirty="0"/>
          </a:p>
        </p:txBody>
      </p:sp>
      <p:sp>
        <p:nvSpPr>
          <p:cNvPr id="7" name="Text 4"/>
          <p:cNvSpPr/>
          <p:nvPr/>
        </p:nvSpPr>
        <p:spPr>
          <a:xfrm>
            <a:off x="533400" y="775841"/>
            <a:ext cx="29170" cy="800100"/>
          </a:xfrm>
          <a:prstGeom prst="rect">
            <a:avLst/>
          </a:prstGeom>
          <a:solidFill>
            <a:srgbClr val="C5A55A"/>
          </a:solidFill>
          <a:ln/>
        </p:spPr>
        <p:txBody>
          <a:bodyPr wrap="square" rtlCol="0" anchor="t"/>
          <a:lstStyle/>
          <a:p>
            <a:pPr marL="0" indent="0">
              <a:buNone/>
            </a:pPr>
            <a:endParaRPr lang="en-US" dirty="0"/>
          </a:p>
        </p:txBody>
      </p:sp>
      <p:sp>
        <p:nvSpPr>
          <p:cNvPr id="8" name="Text 5"/>
          <p:cNvSpPr/>
          <p:nvPr/>
        </p:nvSpPr>
        <p:spPr>
          <a:xfrm>
            <a:off x="676870" y="876300"/>
            <a:ext cx="214610" cy="214610"/>
          </a:xfrm>
          <a:prstGeom prst="ellipse">
            <a:avLst/>
          </a:prstGeom>
          <a:solidFill>
            <a:srgbClr val="C5A55A">
              <a:alpha val="12000"/>
            </a:srgbClr>
          </a:solidFill>
          <a:ln/>
        </p:spPr>
        <p:txBody>
          <a:bodyPr wrap="none" rtlCol="0" anchor="t"/>
          <a:lstStyle/>
          <a:p>
            <a:pPr marL="0" indent="0">
              <a:buNone/>
            </a:pPr>
            <a:endParaRPr lang="en-US"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8691" y="919460"/>
            <a:ext cx="135880" cy="135880"/>
          </a:xfrm>
          <a:prstGeom prst="rect">
            <a:avLst/>
          </a:prstGeom>
        </p:spPr>
      </p:pic>
      <p:sp>
        <p:nvSpPr>
          <p:cNvPr id="10" name="Text 6"/>
          <p:cNvSpPr/>
          <p:nvPr/>
        </p:nvSpPr>
        <p:spPr>
          <a:xfrm>
            <a:off x="990600" y="862310"/>
            <a:ext cx="9249504" cy="171450"/>
          </a:xfrm>
          <a:prstGeom prst="rect">
            <a:avLst/>
          </a:prstGeom>
          <a:noFill/>
          <a:ln/>
        </p:spPr>
        <p:txBody>
          <a:bodyPr wrap="none" lIns="0" tIns="0" rIns="0" bIns="0" rtlCol="0" anchor="t"/>
          <a:lstStyle/>
          <a:p>
            <a:pPr marL="0" indent="0" algn="l">
              <a:lnSpc>
                <a:spcPts val="1350"/>
              </a:lnSpc>
              <a:spcAft>
                <a:spcPts val="170"/>
              </a:spcAft>
              <a:buNone/>
            </a:pPr>
            <a:r>
              <a:rPr lang="en-US" sz="900" b="1" dirty="0">
                <a:solidFill>
                  <a:srgbClr val="C5A55A"/>
                </a:solidFill>
                <a:latin typeface="Calibri Light" pitchFamily="34" charset="0"/>
                <a:ea typeface="Calibri Light" pitchFamily="34" charset="-122"/>
                <a:cs typeface="Calibri Light" pitchFamily="34" charset="-120"/>
              </a:rPr>
              <a:t>1 Single Predictor / Omitted Variable Bias</a:t>
            </a:r>
            <a:endParaRPr lang="en-US" sz="1200" dirty="0"/>
          </a:p>
        </p:txBody>
      </p:sp>
      <p:sp>
        <p:nvSpPr>
          <p:cNvPr id="11" name="Text 7"/>
          <p:cNvSpPr/>
          <p:nvPr/>
        </p:nvSpPr>
        <p:spPr>
          <a:xfrm>
            <a:off x="990600" y="1055340"/>
            <a:ext cx="7949860" cy="456151"/>
          </a:xfrm>
          <a:prstGeom prst="rect">
            <a:avLst/>
          </a:prstGeom>
          <a:noFill/>
          <a:ln/>
        </p:spPr>
        <p:txBody>
          <a:bodyPr wrap="square" lIns="0" tIns="0" rIns="0" bIns="0" rtlCol="0" anchor="t"/>
          <a:lstStyle/>
          <a:p>
            <a:pPr marL="0" indent="0" algn="l">
              <a:lnSpc>
                <a:spcPts val="1140"/>
              </a:lnSpc>
              <a:buNone/>
            </a:pPr>
            <a:r>
              <a:rPr lang="en-US" sz="790" dirty="0">
                <a:solidFill>
                  <a:srgbClr val="1B2A4A"/>
                </a:solidFill>
                <a:latin typeface="Calibri" pitchFamily="34" charset="0"/>
                <a:ea typeface="Calibri" pitchFamily="34" charset="-122"/>
                <a:cs typeface="Calibri" pitchFamily="34" charset="-120"/>
              </a:rPr>
              <a:t>The model includes only a single predictor — MSB count — while SAR activity is influenced by a wide range of additional factors. Variables such as state population, economic activity, banking sector size, law-enforcement resources, and regulatory environments likely contribute substantially to SAR filing volumes. Excluding these introduces omitted-variable bias.</a:t>
            </a:r>
            <a:endParaRPr lang="en-US" sz="1200" dirty="0"/>
          </a:p>
        </p:txBody>
      </p:sp>
      <p:sp>
        <p:nvSpPr>
          <p:cNvPr id="12" name="Text 8"/>
          <p:cNvSpPr/>
          <p:nvPr/>
        </p:nvSpPr>
        <p:spPr>
          <a:xfrm>
            <a:off x="533400" y="1676400"/>
            <a:ext cx="8229600" cy="657820"/>
          </a:xfrm>
          <a:prstGeom prst="roundRect">
            <a:avLst>
              <a:gd name="adj" fmla="val 6564"/>
            </a:avLst>
          </a:prstGeom>
          <a:solidFill>
            <a:srgbClr val="FFFFFF"/>
          </a:solidFill>
          <a:ln/>
          <a:effectLst>
            <a:outerShdw blurRad="29210" dist="50800" dir="16200000" algn="bl" rotWithShape="0">
              <a:srgbClr val="000000">
                <a:alpha val="7000"/>
              </a:srgbClr>
            </a:outerShdw>
          </a:effectLst>
        </p:spPr>
        <p:txBody>
          <a:bodyPr wrap="square" rtlCol="0" anchor="t"/>
          <a:lstStyle/>
          <a:p>
            <a:pPr marL="0" indent="0">
              <a:buNone/>
            </a:pPr>
            <a:endParaRPr lang="en-US" dirty="0"/>
          </a:p>
        </p:txBody>
      </p:sp>
      <p:sp>
        <p:nvSpPr>
          <p:cNvPr id="13" name="Text 9"/>
          <p:cNvSpPr/>
          <p:nvPr/>
        </p:nvSpPr>
        <p:spPr>
          <a:xfrm>
            <a:off x="533400" y="1676400"/>
            <a:ext cx="29170" cy="657820"/>
          </a:xfrm>
          <a:prstGeom prst="rect">
            <a:avLst/>
          </a:prstGeom>
          <a:solidFill>
            <a:srgbClr val="C5A55A"/>
          </a:solidFill>
          <a:ln/>
        </p:spPr>
        <p:txBody>
          <a:bodyPr wrap="square" rtlCol="0" anchor="t"/>
          <a:lstStyle/>
          <a:p>
            <a:pPr marL="0" indent="0">
              <a:buNone/>
            </a:pPr>
            <a:endParaRPr lang="en-US" dirty="0"/>
          </a:p>
        </p:txBody>
      </p:sp>
      <p:sp>
        <p:nvSpPr>
          <p:cNvPr id="14" name="Text 10"/>
          <p:cNvSpPr/>
          <p:nvPr/>
        </p:nvSpPr>
        <p:spPr>
          <a:xfrm>
            <a:off x="676870" y="1776710"/>
            <a:ext cx="214610" cy="214610"/>
          </a:xfrm>
          <a:prstGeom prst="ellipse">
            <a:avLst/>
          </a:prstGeom>
          <a:solidFill>
            <a:srgbClr val="C5A55A">
              <a:alpha val="12000"/>
            </a:srgbClr>
          </a:solidFill>
          <a:ln/>
        </p:spPr>
        <p:txBody>
          <a:bodyPr wrap="none" rtlCol="0" anchor="t"/>
          <a:lstStyle/>
          <a:p>
            <a:pPr marL="0" indent="0">
              <a:buNone/>
            </a:pPr>
            <a:endParaRPr lang="en-US"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8691" y="1819870"/>
            <a:ext cx="135880" cy="135880"/>
          </a:xfrm>
          <a:prstGeom prst="rect">
            <a:avLst/>
          </a:prstGeom>
        </p:spPr>
      </p:pic>
      <p:sp>
        <p:nvSpPr>
          <p:cNvPr id="16" name="Text 11"/>
          <p:cNvSpPr/>
          <p:nvPr/>
        </p:nvSpPr>
        <p:spPr>
          <a:xfrm>
            <a:off x="990600" y="1762720"/>
            <a:ext cx="9249504" cy="171450"/>
          </a:xfrm>
          <a:prstGeom prst="rect">
            <a:avLst/>
          </a:prstGeom>
          <a:noFill/>
          <a:ln/>
        </p:spPr>
        <p:txBody>
          <a:bodyPr wrap="none" lIns="0" tIns="0" rIns="0" bIns="0" rtlCol="0" anchor="t"/>
          <a:lstStyle/>
          <a:p>
            <a:pPr marL="0" indent="0" algn="l">
              <a:lnSpc>
                <a:spcPts val="1350"/>
              </a:lnSpc>
              <a:spcAft>
                <a:spcPts val="170"/>
              </a:spcAft>
              <a:buNone/>
            </a:pPr>
            <a:r>
              <a:rPr lang="en-US" sz="900" b="1" dirty="0">
                <a:solidFill>
                  <a:srgbClr val="C5A55A"/>
                </a:solidFill>
                <a:latin typeface="Calibri Light" pitchFamily="34" charset="0"/>
                <a:ea typeface="Calibri Light" pitchFamily="34" charset="-122"/>
                <a:cs typeface="Calibri Light" pitchFamily="34" charset="-120"/>
              </a:rPr>
              <a:t>2 Cross-Sectional Design</a:t>
            </a:r>
            <a:endParaRPr lang="en-US" sz="1200" dirty="0"/>
          </a:p>
        </p:txBody>
      </p:sp>
      <p:sp>
        <p:nvSpPr>
          <p:cNvPr id="17" name="Text 12"/>
          <p:cNvSpPr/>
          <p:nvPr/>
        </p:nvSpPr>
        <p:spPr>
          <a:xfrm>
            <a:off x="990600" y="1954411"/>
            <a:ext cx="7949860" cy="304101"/>
          </a:xfrm>
          <a:prstGeom prst="rect">
            <a:avLst/>
          </a:prstGeom>
          <a:noFill/>
          <a:ln/>
        </p:spPr>
        <p:txBody>
          <a:bodyPr wrap="square" lIns="0" tIns="0" rIns="0" bIns="0" rtlCol="0" anchor="t"/>
          <a:lstStyle/>
          <a:p>
            <a:pPr marL="0" indent="0" algn="l">
              <a:lnSpc>
                <a:spcPts val="1140"/>
              </a:lnSpc>
              <a:buNone/>
            </a:pPr>
            <a:r>
              <a:rPr lang="en-US" sz="790" dirty="0">
                <a:solidFill>
                  <a:srgbClr val="1B2A4A"/>
                </a:solidFill>
                <a:latin typeface="Calibri" pitchFamily="34" charset="0"/>
                <a:ea typeface="Calibri" pitchFamily="34" charset="-122"/>
                <a:cs typeface="Calibri" pitchFamily="34" charset="-120"/>
              </a:rPr>
              <a:t>The analysis is cross-sectional and does not incorporate changes over time. SAR filings and MSB registrations can fluctuate due to policy shifts, enforcement actions, or evolving financial crime patterns. Without longitudinal data, the model cannot assess causality.</a:t>
            </a:r>
            <a:endParaRPr lang="en-US" sz="1200" dirty="0"/>
          </a:p>
        </p:txBody>
      </p:sp>
      <p:sp>
        <p:nvSpPr>
          <p:cNvPr id="18" name="Text 13"/>
          <p:cNvSpPr/>
          <p:nvPr/>
        </p:nvSpPr>
        <p:spPr>
          <a:xfrm>
            <a:off x="533400" y="2433191"/>
            <a:ext cx="8229600" cy="657820"/>
          </a:xfrm>
          <a:prstGeom prst="roundRect">
            <a:avLst>
              <a:gd name="adj" fmla="val 6564"/>
            </a:avLst>
          </a:prstGeom>
          <a:solidFill>
            <a:srgbClr val="FFFFFF"/>
          </a:solidFill>
          <a:ln/>
          <a:effectLst>
            <a:outerShdw blurRad="29210" dist="50800" dir="16200000" algn="bl" rotWithShape="0">
              <a:srgbClr val="000000">
                <a:alpha val="7000"/>
              </a:srgbClr>
            </a:outerShdw>
          </a:effectLst>
        </p:spPr>
        <p:txBody>
          <a:bodyPr wrap="square" rtlCol="0" anchor="t"/>
          <a:lstStyle/>
          <a:p>
            <a:pPr marL="0" indent="0">
              <a:buNone/>
            </a:pPr>
            <a:endParaRPr lang="en-US" dirty="0"/>
          </a:p>
        </p:txBody>
      </p:sp>
      <p:sp>
        <p:nvSpPr>
          <p:cNvPr id="19" name="Text 14"/>
          <p:cNvSpPr/>
          <p:nvPr/>
        </p:nvSpPr>
        <p:spPr>
          <a:xfrm>
            <a:off x="533400" y="2433191"/>
            <a:ext cx="29170" cy="657820"/>
          </a:xfrm>
          <a:prstGeom prst="rect">
            <a:avLst/>
          </a:prstGeom>
          <a:solidFill>
            <a:srgbClr val="C5A55A"/>
          </a:solidFill>
          <a:ln/>
        </p:spPr>
        <p:txBody>
          <a:bodyPr wrap="square" rtlCol="0" anchor="t"/>
          <a:lstStyle/>
          <a:p>
            <a:pPr marL="0" indent="0">
              <a:buNone/>
            </a:pPr>
            <a:endParaRPr lang="en-US" dirty="0"/>
          </a:p>
        </p:txBody>
      </p:sp>
      <p:sp>
        <p:nvSpPr>
          <p:cNvPr id="20" name="Text 15"/>
          <p:cNvSpPr/>
          <p:nvPr/>
        </p:nvSpPr>
        <p:spPr>
          <a:xfrm>
            <a:off x="676870" y="2533650"/>
            <a:ext cx="214610" cy="214610"/>
          </a:xfrm>
          <a:prstGeom prst="ellipse">
            <a:avLst/>
          </a:prstGeom>
          <a:solidFill>
            <a:srgbClr val="C5A55A">
              <a:alpha val="12000"/>
            </a:srgbClr>
          </a:solidFill>
          <a:ln/>
        </p:spPr>
        <p:txBody>
          <a:bodyPr wrap="non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8691" y="2576810"/>
            <a:ext cx="135880" cy="135880"/>
          </a:xfrm>
          <a:prstGeom prst="rect">
            <a:avLst/>
          </a:prstGeom>
        </p:spPr>
      </p:pic>
      <p:sp>
        <p:nvSpPr>
          <p:cNvPr id="22" name="Text 16"/>
          <p:cNvSpPr/>
          <p:nvPr/>
        </p:nvSpPr>
        <p:spPr>
          <a:xfrm>
            <a:off x="990600" y="2519660"/>
            <a:ext cx="9249504" cy="171450"/>
          </a:xfrm>
          <a:prstGeom prst="rect">
            <a:avLst/>
          </a:prstGeom>
          <a:noFill/>
          <a:ln/>
        </p:spPr>
        <p:txBody>
          <a:bodyPr wrap="none" lIns="0" tIns="0" rIns="0" bIns="0" rtlCol="0" anchor="t"/>
          <a:lstStyle/>
          <a:p>
            <a:pPr marL="0" indent="0" algn="l">
              <a:lnSpc>
                <a:spcPts val="1350"/>
              </a:lnSpc>
              <a:spcAft>
                <a:spcPts val="170"/>
              </a:spcAft>
              <a:buNone/>
            </a:pPr>
            <a:r>
              <a:rPr lang="en-US" sz="900" b="1" dirty="0">
                <a:solidFill>
                  <a:srgbClr val="C5A55A"/>
                </a:solidFill>
                <a:latin typeface="Calibri Light" pitchFamily="34" charset="0"/>
                <a:ea typeface="Calibri Light" pitchFamily="34" charset="-122"/>
                <a:cs typeface="Calibri Light" pitchFamily="34" charset="-120"/>
              </a:rPr>
              <a:t>3 Reporting Inconsistencies</a:t>
            </a:r>
            <a:endParaRPr lang="en-US" sz="1200" dirty="0"/>
          </a:p>
        </p:txBody>
      </p:sp>
      <p:sp>
        <p:nvSpPr>
          <p:cNvPr id="23" name="Text 17"/>
          <p:cNvSpPr/>
          <p:nvPr/>
        </p:nvSpPr>
        <p:spPr>
          <a:xfrm>
            <a:off x="990600" y="2712690"/>
            <a:ext cx="7949860" cy="304101"/>
          </a:xfrm>
          <a:prstGeom prst="rect">
            <a:avLst/>
          </a:prstGeom>
          <a:noFill/>
          <a:ln/>
        </p:spPr>
        <p:txBody>
          <a:bodyPr wrap="square" lIns="0" tIns="0" rIns="0" bIns="0" rtlCol="0" anchor="t"/>
          <a:lstStyle/>
          <a:p>
            <a:pPr marL="0" indent="0" algn="l">
              <a:lnSpc>
                <a:spcPts val="1140"/>
              </a:lnSpc>
              <a:buNone/>
            </a:pPr>
            <a:r>
              <a:rPr lang="en-US" sz="790" dirty="0">
                <a:solidFill>
                  <a:srgbClr val="1B2A4A"/>
                </a:solidFill>
                <a:latin typeface="Calibri" pitchFamily="34" charset="0"/>
                <a:ea typeface="Calibri" pitchFamily="34" charset="-122"/>
                <a:cs typeface="Calibri" pitchFamily="34" charset="-120"/>
              </a:rPr>
              <a:t>Differences in reporting practices across states may introduce measurement inconsistencies. MSB registration processes vary by jurisdiction, and SAR filing behavior can differ based on compliance culture, examiner expectations, or state-level enforcement priorities.</a:t>
            </a:r>
            <a:endParaRPr lang="en-US" sz="1200" dirty="0"/>
          </a:p>
        </p:txBody>
      </p:sp>
      <p:sp>
        <p:nvSpPr>
          <p:cNvPr id="24" name="Text 18"/>
          <p:cNvSpPr/>
          <p:nvPr/>
        </p:nvSpPr>
        <p:spPr>
          <a:xfrm>
            <a:off x="533400" y="3191470"/>
            <a:ext cx="8229600" cy="657820"/>
          </a:xfrm>
          <a:prstGeom prst="roundRect">
            <a:avLst>
              <a:gd name="adj" fmla="val 6564"/>
            </a:avLst>
          </a:prstGeom>
          <a:solidFill>
            <a:srgbClr val="FFFFFF"/>
          </a:solidFill>
          <a:ln/>
          <a:effectLst>
            <a:outerShdw blurRad="29210" dist="50800" dir="16200000" algn="bl" rotWithShape="0">
              <a:srgbClr val="000000">
                <a:alpha val="7000"/>
              </a:srgbClr>
            </a:outerShdw>
          </a:effectLst>
        </p:spPr>
        <p:txBody>
          <a:bodyPr wrap="square" rtlCol="0" anchor="t"/>
          <a:lstStyle/>
          <a:p>
            <a:pPr marL="0" indent="0">
              <a:buNone/>
            </a:pPr>
            <a:endParaRPr lang="en-US" dirty="0"/>
          </a:p>
        </p:txBody>
      </p:sp>
      <p:sp>
        <p:nvSpPr>
          <p:cNvPr id="25" name="Text 19"/>
          <p:cNvSpPr/>
          <p:nvPr/>
        </p:nvSpPr>
        <p:spPr>
          <a:xfrm>
            <a:off x="533400" y="3191470"/>
            <a:ext cx="29170" cy="657820"/>
          </a:xfrm>
          <a:prstGeom prst="rect">
            <a:avLst/>
          </a:prstGeom>
          <a:solidFill>
            <a:srgbClr val="C5A55A"/>
          </a:solidFill>
          <a:ln/>
        </p:spPr>
        <p:txBody>
          <a:bodyPr wrap="square" rtlCol="0" anchor="t"/>
          <a:lstStyle/>
          <a:p>
            <a:pPr marL="0" indent="0">
              <a:buNone/>
            </a:pPr>
            <a:endParaRPr lang="en-US" dirty="0"/>
          </a:p>
        </p:txBody>
      </p:sp>
      <p:sp>
        <p:nvSpPr>
          <p:cNvPr id="26" name="Text 20"/>
          <p:cNvSpPr/>
          <p:nvPr/>
        </p:nvSpPr>
        <p:spPr>
          <a:xfrm>
            <a:off x="676870" y="3290441"/>
            <a:ext cx="214610" cy="214610"/>
          </a:xfrm>
          <a:prstGeom prst="ellipse">
            <a:avLst/>
          </a:prstGeom>
          <a:solidFill>
            <a:srgbClr val="C5A55A">
              <a:alpha val="12000"/>
            </a:srgbClr>
          </a:solidFill>
          <a:ln/>
        </p:spPr>
        <p:txBody>
          <a:bodyPr wrap="non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8691" y="3326011"/>
            <a:ext cx="135880" cy="135880"/>
          </a:xfrm>
          <a:prstGeom prst="rect">
            <a:avLst/>
          </a:prstGeom>
        </p:spPr>
      </p:pic>
      <p:sp>
        <p:nvSpPr>
          <p:cNvPr id="28" name="Text 21"/>
          <p:cNvSpPr/>
          <p:nvPr/>
        </p:nvSpPr>
        <p:spPr>
          <a:xfrm>
            <a:off x="990600" y="3276600"/>
            <a:ext cx="9249504" cy="171450"/>
          </a:xfrm>
          <a:prstGeom prst="rect">
            <a:avLst/>
          </a:prstGeom>
          <a:noFill/>
          <a:ln/>
        </p:spPr>
        <p:txBody>
          <a:bodyPr wrap="none" lIns="0" tIns="0" rIns="0" bIns="0" rtlCol="0" anchor="t"/>
          <a:lstStyle/>
          <a:p>
            <a:pPr marL="0" indent="0" algn="l">
              <a:lnSpc>
                <a:spcPts val="1350"/>
              </a:lnSpc>
              <a:spcAft>
                <a:spcPts val="170"/>
              </a:spcAft>
              <a:buNone/>
            </a:pPr>
            <a:r>
              <a:rPr lang="en-US" sz="900" b="1" dirty="0">
                <a:solidFill>
                  <a:srgbClr val="C5A55A"/>
                </a:solidFill>
                <a:latin typeface="Calibri Light" pitchFamily="34" charset="0"/>
                <a:ea typeface="Calibri Light" pitchFamily="34" charset="-122"/>
                <a:cs typeface="Calibri Light" pitchFamily="34" charset="-120"/>
              </a:rPr>
              <a:t>4 Unexplained Variation</a:t>
            </a:r>
            <a:endParaRPr lang="en-US" sz="1200" dirty="0"/>
          </a:p>
        </p:txBody>
      </p:sp>
      <p:sp>
        <p:nvSpPr>
          <p:cNvPr id="29" name="Text 22"/>
          <p:cNvSpPr/>
          <p:nvPr/>
        </p:nvSpPr>
        <p:spPr>
          <a:xfrm>
            <a:off x="990600" y="3469630"/>
            <a:ext cx="7949860" cy="304101"/>
          </a:xfrm>
          <a:prstGeom prst="rect">
            <a:avLst/>
          </a:prstGeom>
          <a:noFill/>
          <a:ln/>
        </p:spPr>
        <p:txBody>
          <a:bodyPr wrap="square" lIns="0" tIns="0" rIns="0" bIns="0" rtlCol="0" anchor="t"/>
          <a:lstStyle/>
          <a:p>
            <a:pPr marL="0" indent="0" algn="l">
              <a:lnSpc>
                <a:spcPts val="1140"/>
              </a:lnSpc>
              <a:buNone/>
            </a:pPr>
            <a:r>
              <a:rPr lang="en-US" sz="790" dirty="0">
                <a:solidFill>
                  <a:srgbClr val="1B2A4A"/>
                </a:solidFill>
                <a:latin typeface="Calibri" pitchFamily="34" charset="0"/>
                <a:ea typeface="Calibri" pitchFamily="34" charset="-122"/>
                <a:cs typeface="Calibri" pitchFamily="34" charset="-120"/>
              </a:rPr>
              <a:t>Although the R-squared of 0.44 indicates MSB density explains a meaningful portion of SAR variation, more than half remains unexplained. MSB presence is only one component of a complex system influencing suspicious activity reporting.</a:t>
            </a:r>
            <a:endParaRPr lang="en-US" sz="1200" dirty="0"/>
          </a:p>
        </p:txBody>
      </p:sp>
      <p:sp>
        <p:nvSpPr>
          <p:cNvPr id="30" name="Text 23"/>
          <p:cNvSpPr/>
          <p:nvPr/>
        </p:nvSpPr>
        <p:spPr>
          <a:xfrm>
            <a:off x="533400" y="4669780"/>
            <a:ext cx="8229600" cy="7590"/>
          </a:xfrm>
          <a:prstGeom prst="rect">
            <a:avLst/>
          </a:prstGeom>
          <a:gradFill rotWithShape="1">
            <a:gsLst>
              <a:gs pos="0">
                <a:srgbClr val="C5A55A"/>
              </a:gs>
              <a:gs pos="100000">
                <a:srgbClr val="C5A55A">
                  <a:alpha val="20000"/>
                </a:srgbClr>
              </a:gs>
            </a:gsLst>
            <a:lin ang="0" scaled="1"/>
          </a:gradFill>
          <a:ln/>
        </p:spPr>
        <p:txBody>
          <a:bodyPr wrap="none" rtlCol="0" anchor="t"/>
          <a:lstStyle/>
          <a:p>
            <a:pPr marL="0" indent="0">
              <a:buNone/>
            </a:pPr>
            <a:endParaRPr lang="en-US" dirty="0"/>
          </a:p>
        </p:txBody>
      </p:sp>
      <p:sp>
        <p:nvSpPr>
          <p:cNvPr id="31" name="Text 24"/>
          <p:cNvSpPr/>
          <p:nvPr/>
        </p:nvSpPr>
        <p:spPr>
          <a:xfrm>
            <a:off x="533400" y="4784080"/>
            <a:ext cx="8229600" cy="314920"/>
          </a:xfrm>
          <a:prstGeom prst="roundRect">
            <a:avLst>
              <a:gd name="adj" fmla="val 9275"/>
            </a:avLst>
          </a:prstGeom>
          <a:gradFill rotWithShape="1">
            <a:gsLst>
              <a:gs pos="0">
                <a:srgbClr val="C5A55A">
                  <a:alpha val="10000"/>
                </a:srgbClr>
              </a:gs>
              <a:gs pos="100000">
                <a:srgbClr val="C5A55A">
                  <a:alpha val="4000"/>
                </a:srgbClr>
              </a:gs>
            </a:gsLst>
            <a:lin ang="0" scaled="1"/>
          </a:gradFill>
          <a:ln/>
        </p:spPr>
        <p:txBody>
          <a:bodyPr wrap="square" rtlCol="0" anchor="t"/>
          <a:lstStyle/>
          <a:p>
            <a:pPr marL="0" indent="0">
              <a:buNone/>
            </a:pPr>
            <a:endParaRPr lang="en-US" dirty="0"/>
          </a:p>
        </p:txBody>
      </p:sp>
      <p:sp>
        <p:nvSpPr>
          <p:cNvPr id="32" name="Text 25"/>
          <p:cNvSpPr/>
          <p:nvPr/>
        </p:nvSpPr>
        <p:spPr>
          <a:xfrm>
            <a:off x="533400" y="4784080"/>
            <a:ext cx="29170" cy="314920"/>
          </a:xfrm>
          <a:prstGeom prst="rect">
            <a:avLst/>
          </a:prstGeom>
          <a:solidFill>
            <a:srgbClr val="C5A55A"/>
          </a:solidFill>
          <a:ln/>
        </p:spPr>
        <p:txBody>
          <a:bodyPr wrap="square" rtlCol="0" anchor="t"/>
          <a:lstStyle/>
          <a:p>
            <a:pPr marL="0" indent="0">
              <a:buNone/>
            </a:pPr>
            <a:endParaRPr lang="en-US" dirty="0"/>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7111" y="4869061"/>
            <a:ext cx="135880" cy="135880"/>
          </a:xfrm>
          <a:prstGeom prst="rect">
            <a:avLst/>
          </a:prstGeom>
        </p:spPr>
      </p:pic>
      <p:sp>
        <p:nvSpPr>
          <p:cNvPr id="34" name="Text 26"/>
          <p:cNvSpPr/>
          <p:nvPr/>
        </p:nvSpPr>
        <p:spPr>
          <a:xfrm>
            <a:off x="911721" y="4864150"/>
            <a:ext cx="6639788" cy="154632"/>
          </a:xfrm>
          <a:prstGeom prst="rect">
            <a:avLst/>
          </a:prstGeom>
          <a:noFill/>
          <a:ln/>
        </p:spPr>
        <p:txBody>
          <a:bodyPr wrap="none" lIns="0" tIns="0" rIns="0" bIns="0" rtlCol="0" anchor="t"/>
          <a:lstStyle/>
          <a:p>
            <a:pPr marL="0" indent="0" algn="l">
              <a:lnSpc>
                <a:spcPts val="1218"/>
              </a:lnSpc>
              <a:buNone/>
            </a:pPr>
            <a:r>
              <a:rPr lang="en-US" sz="840" b="1" i="1" dirty="0">
                <a:solidFill>
                  <a:srgbClr val="1B2A4A"/>
                </a:solidFill>
                <a:latin typeface="Calibri" pitchFamily="34" charset="0"/>
                <a:ea typeface="Calibri" pitchFamily="34" charset="-122"/>
                <a:cs typeface="Calibri" pitchFamily="34" charset="-120"/>
              </a:rPr>
              <a:t>The model should be interpreted as identifying an association rather than establishing a causal relationship.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76200" y="76200"/>
            <a:ext cx="9067800" cy="571500"/>
          </a:xfrm>
          <a:prstGeom prst="rect">
            <a:avLst/>
          </a:prstGeom>
          <a:gradFill rotWithShape="1">
            <a:gsLst>
              <a:gs pos="0">
                <a:srgbClr val="C5A55A"/>
              </a:gs>
              <a:gs pos="50000">
                <a:srgbClr val="D4B96A"/>
              </a:gs>
              <a:gs pos="100000">
                <a:srgbClr val="C5A55A"/>
              </a:gs>
            </a:gsLst>
            <a:lin ang="2700000" scaled="1"/>
          </a:gradFill>
          <a:ln/>
          <a:effectLst>
            <a:outerShdw blurRad="86360" dist="50800" dir="16200000" algn="bl" rotWithShape="0">
              <a:srgbClr val="000000">
                <a:alpha val="30000"/>
              </a:srgbClr>
            </a:outerShdw>
          </a:effectLst>
        </p:spPr>
        <p:txBody>
          <a:bodyPr wrap="squar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400" y="283071"/>
            <a:ext cx="163711" cy="163711"/>
          </a:xfrm>
          <a:prstGeom prst="rect">
            <a:avLst/>
          </a:prstGeom>
        </p:spPr>
      </p:pic>
      <p:sp>
        <p:nvSpPr>
          <p:cNvPr id="5" name="Text 2"/>
          <p:cNvSpPr/>
          <p:nvPr/>
        </p:nvSpPr>
        <p:spPr>
          <a:xfrm>
            <a:off x="811411" y="168473"/>
            <a:ext cx="1877437" cy="386655"/>
          </a:xfrm>
          <a:prstGeom prst="rect">
            <a:avLst/>
          </a:prstGeom>
          <a:noFill/>
          <a:ln/>
        </p:spPr>
        <p:txBody>
          <a:bodyPr wrap="none" lIns="0" tIns="0" rIns="0" bIns="0" rtlCol="0" anchor="t"/>
          <a:lstStyle/>
          <a:p>
            <a:pPr marL="0" indent="0" algn="l">
              <a:lnSpc>
                <a:spcPts val="3045"/>
              </a:lnSpc>
              <a:buNone/>
            </a:pPr>
            <a:r>
              <a:rPr lang="en-US" sz="2030" b="1" dirty="0">
                <a:solidFill>
                  <a:srgbClr val="FFFFFF"/>
                </a:solidFill>
                <a:latin typeface="Calibri Light" pitchFamily="34" charset="0"/>
                <a:ea typeface="Calibri Light" pitchFamily="34" charset="-122"/>
                <a:cs typeface="Calibri Light" pitchFamily="34" charset="-120"/>
              </a:rPr>
              <a:t>Future Work</a:t>
            </a:r>
            <a:endParaRPr lang="en-US" sz="1200" dirty="0"/>
          </a:p>
        </p:txBody>
      </p:sp>
      <p:sp>
        <p:nvSpPr>
          <p:cNvPr id="6" name="Text 3"/>
          <p:cNvSpPr/>
          <p:nvPr/>
        </p:nvSpPr>
        <p:spPr>
          <a:xfrm>
            <a:off x="76200" y="647700"/>
            <a:ext cx="9067800" cy="7590"/>
          </a:xfrm>
          <a:prstGeom prst="rect">
            <a:avLst/>
          </a:prstGeom>
          <a:gradFill rotWithShape="1">
            <a:gsLst>
              <a:gs pos="0">
                <a:srgbClr val="000000">
                  <a:alpha val="0"/>
                </a:srgbClr>
              </a:gs>
              <a:gs pos="50000">
                <a:srgbClr val="C5A55A"/>
              </a:gs>
              <a:gs pos="100000">
                <a:srgbClr val="000000">
                  <a:alpha val="0"/>
                </a:srgbClr>
              </a:gs>
            </a:gsLst>
            <a:lin ang="0" scaled="1"/>
          </a:gradFill>
          <a:ln/>
        </p:spPr>
        <p:txBody>
          <a:bodyPr wrap="none" rtlCol="0" anchor="t"/>
          <a:lstStyle/>
          <a:p>
            <a:pPr marL="0" indent="0">
              <a:buNone/>
            </a:pPr>
            <a:endParaRPr lang="en-US" dirty="0"/>
          </a:p>
        </p:txBody>
      </p:sp>
      <p:sp>
        <p:nvSpPr>
          <p:cNvPr id="7" name="Text 4"/>
          <p:cNvSpPr/>
          <p:nvPr/>
        </p:nvSpPr>
        <p:spPr>
          <a:xfrm>
            <a:off x="533400" y="854720"/>
            <a:ext cx="8230790" cy="1857970"/>
          </a:xfrm>
          <a:prstGeom prst="roundRect">
            <a:avLst>
              <a:gd name="adj" fmla="val 3076"/>
            </a:avLst>
          </a:prstGeom>
          <a:solidFill>
            <a:srgbClr val="FFFFFF"/>
          </a:solidFill>
          <a:ln/>
          <a:effectLst>
            <a:outerShdw blurRad="86360" dist="50800" dir="16200000" algn="bl" rotWithShape="0">
              <a:srgbClr val="000000">
                <a:alpha val="6000"/>
              </a:srgbClr>
            </a:outerShdw>
          </a:effectLst>
        </p:spPr>
        <p:txBody>
          <a:bodyPr wrap="square" rtlCol="0" anchor="t"/>
          <a:lstStyle/>
          <a:p>
            <a:pPr marL="0" indent="0">
              <a:buNone/>
            </a:pPr>
            <a:endParaRPr lang="en-US" dirty="0"/>
          </a:p>
        </p:txBody>
      </p:sp>
      <p:sp>
        <p:nvSpPr>
          <p:cNvPr id="8" name="Text 5"/>
          <p:cNvSpPr/>
          <p:nvPr/>
        </p:nvSpPr>
        <p:spPr>
          <a:xfrm>
            <a:off x="533400" y="883890"/>
            <a:ext cx="4029670" cy="29170"/>
          </a:xfrm>
          <a:prstGeom prst="rect">
            <a:avLst/>
          </a:prstGeom>
          <a:solidFill>
            <a:srgbClr val="C5A55A"/>
          </a:solidFill>
          <a:ln/>
        </p:spPr>
        <p:txBody>
          <a:bodyPr wrap="none" rtlCol="0" anchor="t"/>
          <a:lstStyle/>
          <a:p>
            <a:pPr marL="0" indent="0">
              <a:buNone/>
            </a:pPr>
            <a:endParaRPr lang="en-US" dirty="0"/>
          </a:p>
        </p:txBody>
      </p:sp>
      <p:sp>
        <p:nvSpPr>
          <p:cNvPr id="9" name="Text 6"/>
          <p:cNvSpPr/>
          <p:nvPr/>
        </p:nvSpPr>
        <p:spPr>
          <a:xfrm>
            <a:off x="734020" y="1118741"/>
            <a:ext cx="314920" cy="314920"/>
          </a:xfrm>
          <a:prstGeom prst="roundRect">
            <a:avLst>
              <a:gd name="adj" fmla="val 22584"/>
            </a:avLst>
          </a:prstGeom>
          <a:solidFill>
            <a:srgbClr val="C5A55A">
              <a:alpha val="12000"/>
            </a:srgbClr>
          </a:solidFill>
          <a:ln/>
        </p:spPr>
        <p:txBody>
          <a:bodyPr wrap="square" rtlCol="0" anchor="t"/>
          <a:lstStyle/>
          <a:p>
            <a:pPr marL="0" indent="0">
              <a:buNone/>
            </a:pPr>
            <a:endParaRPr lang="en-US"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6740" y="1205210"/>
            <a:ext cx="135880" cy="135880"/>
          </a:xfrm>
          <a:prstGeom prst="rect">
            <a:avLst/>
          </a:prstGeom>
        </p:spPr>
      </p:pic>
      <p:sp>
        <p:nvSpPr>
          <p:cNvPr id="12" name="Text 8"/>
          <p:cNvSpPr/>
          <p:nvPr/>
        </p:nvSpPr>
        <p:spPr>
          <a:xfrm>
            <a:off x="1148060" y="1248073"/>
            <a:ext cx="1957164" cy="215205"/>
          </a:xfrm>
          <a:prstGeom prst="rect">
            <a:avLst/>
          </a:prstGeom>
          <a:noFill/>
          <a:ln/>
        </p:spPr>
        <p:txBody>
          <a:bodyPr wrap="none" lIns="0" tIns="0" rIns="0" bIns="0" rtlCol="0" anchor="t"/>
          <a:lstStyle/>
          <a:p>
            <a:pPr marL="0" indent="0" algn="l">
              <a:lnSpc>
                <a:spcPts val="1695"/>
              </a:lnSpc>
              <a:buNone/>
            </a:pPr>
            <a:r>
              <a:rPr lang="en-US" sz="1130" b="1" dirty="0">
                <a:solidFill>
                  <a:srgbClr val="1B2A4A"/>
                </a:solidFill>
                <a:latin typeface="Calibri Light" pitchFamily="34" charset="0"/>
                <a:ea typeface="Calibri Light" pitchFamily="34" charset="-122"/>
                <a:cs typeface="Calibri Light" pitchFamily="34" charset="-120"/>
              </a:rPr>
              <a:t>Multivariate Regression</a:t>
            </a:r>
            <a:endParaRPr lang="en-US" sz="1200" dirty="0"/>
          </a:p>
        </p:txBody>
      </p:sp>
      <p:sp>
        <p:nvSpPr>
          <p:cNvPr id="13" name="Text 9"/>
          <p:cNvSpPr/>
          <p:nvPr/>
        </p:nvSpPr>
        <p:spPr>
          <a:xfrm>
            <a:off x="734020" y="1534120"/>
            <a:ext cx="3774775" cy="520846"/>
          </a:xfrm>
          <a:prstGeom prst="rect">
            <a:avLst/>
          </a:prstGeom>
          <a:noFill/>
          <a:ln/>
        </p:spPr>
        <p:txBody>
          <a:bodyPr wrap="square" lIns="0" tIns="0" rIns="0" bIns="0" rtlCol="0" anchor="t"/>
          <a:lstStyle/>
          <a:p>
            <a:pPr marL="0" indent="0" algn="l">
              <a:lnSpc>
                <a:spcPts val="1302"/>
              </a:lnSpc>
              <a:buNone/>
            </a:pPr>
            <a:r>
              <a:rPr lang="en-US" sz="840" dirty="0">
                <a:solidFill>
                  <a:srgbClr val="5A6A8A"/>
                </a:solidFill>
                <a:latin typeface="Calibri" pitchFamily="34" charset="0"/>
                <a:ea typeface="Calibri" pitchFamily="34" charset="-122"/>
                <a:cs typeface="Calibri" pitchFamily="34" charset="-120"/>
              </a:rPr>
              <a:t>Incorporate additional predictors — such as state population, economic activity, banking sector size, or law-enforcement resources — to capture more variation in SAR filings and reduce omitted-variable bias.</a:t>
            </a:r>
            <a:endParaRPr lang="en-US" sz="1200" dirty="0"/>
          </a:p>
        </p:txBody>
      </p:sp>
      <p:sp>
        <p:nvSpPr>
          <p:cNvPr id="15" name="Text 11"/>
          <p:cNvSpPr/>
          <p:nvPr/>
        </p:nvSpPr>
        <p:spPr>
          <a:xfrm>
            <a:off x="4734520" y="883890"/>
            <a:ext cx="4029670" cy="29170"/>
          </a:xfrm>
          <a:prstGeom prst="rect">
            <a:avLst/>
          </a:prstGeom>
          <a:solidFill>
            <a:srgbClr val="C5A55A"/>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6521" y="1205210"/>
            <a:ext cx="135880" cy="135880"/>
          </a:xfrm>
          <a:prstGeom prst="rect">
            <a:avLst/>
          </a:prstGeom>
        </p:spPr>
      </p:pic>
      <p:sp>
        <p:nvSpPr>
          <p:cNvPr id="21" name="Text 16"/>
          <p:cNvSpPr/>
          <p:nvPr/>
        </p:nvSpPr>
        <p:spPr>
          <a:xfrm>
            <a:off x="533400" y="2911971"/>
            <a:ext cx="8230790" cy="1857970"/>
          </a:xfrm>
          <a:prstGeom prst="roundRect">
            <a:avLst>
              <a:gd name="adj" fmla="val 3076"/>
            </a:avLst>
          </a:prstGeom>
          <a:solidFill>
            <a:srgbClr val="FFFFFF"/>
          </a:solidFill>
          <a:ln/>
          <a:effectLst>
            <a:outerShdw blurRad="86360" dist="50800" dir="16200000" algn="bl" rotWithShape="0">
              <a:srgbClr val="000000">
                <a:alpha val="6000"/>
              </a:srgbClr>
            </a:outerShdw>
          </a:effectLst>
        </p:spPr>
        <p:txBody>
          <a:bodyPr wrap="square" rtlCol="0" anchor="t"/>
          <a:lstStyle/>
          <a:p>
            <a:pPr marL="0" indent="0">
              <a:buNone/>
            </a:pPr>
            <a:endParaRPr lang="en-US" dirty="0"/>
          </a:p>
        </p:txBody>
      </p:sp>
      <p:sp>
        <p:nvSpPr>
          <p:cNvPr id="22" name="Text 17"/>
          <p:cNvSpPr/>
          <p:nvPr/>
        </p:nvSpPr>
        <p:spPr>
          <a:xfrm>
            <a:off x="533400" y="2911971"/>
            <a:ext cx="4029670" cy="29170"/>
          </a:xfrm>
          <a:prstGeom prst="rect">
            <a:avLst/>
          </a:prstGeom>
          <a:solidFill>
            <a:srgbClr val="C5A55A"/>
          </a:solidFill>
          <a:ln/>
        </p:spPr>
        <p:txBody>
          <a:bodyPr wrap="none" rtlCol="0" anchor="t"/>
          <a:lstStyle/>
          <a:p>
            <a:pPr marL="0" indent="0">
              <a:buNone/>
            </a:pPr>
            <a:endParaRPr lang="en-US" dirty="0"/>
          </a:p>
        </p:txBody>
      </p:sp>
      <p:sp>
        <p:nvSpPr>
          <p:cNvPr id="23" name="Text 18"/>
          <p:cNvSpPr/>
          <p:nvPr/>
        </p:nvSpPr>
        <p:spPr>
          <a:xfrm>
            <a:off x="734020" y="3148310"/>
            <a:ext cx="314920" cy="314920"/>
          </a:xfrm>
          <a:prstGeom prst="roundRect">
            <a:avLst>
              <a:gd name="adj" fmla="val 22584"/>
            </a:avLst>
          </a:prstGeom>
          <a:solidFill>
            <a:srgbClr val="C5A55A">
              <a:alpha val="12000"/>
            </a:srgbClr>
          </a:solidFill>
          <a:ln/>
        </p:spPr>
        <p:txBody>
          <a:bodyPr wrap="squar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6740" y="3233291"/>
            <a:ext cx="135880" cy="135880"/>
          </a:xfrm>
          <a:prstGeom prst="rect">
            <a:avLst/>
          </a:prstGeom>
        </p:spPr>
      </p:pic>
      <p:sp>
        <p:nvSpPr>
          <p:cNvPr id="26" name="Text 20"/>
          <p:cNvSpPr/>
          <p:nvPr/>
        </p:nvSpPr>
        <p:spPr>
          <a:xfrm>
            <a:off x="1148060" y="3276302"/>
            <a:ext cx="1901175" cy="215205"/>
          </a:xfrm>
          <a:prstGeom prst="rect">
            <a:avLst/>
          </a:prstGeom>
          <a:noFill/>
          <a:ln/>
        </p:spPr>
        <p:txBody>
          <a:bodyPr wrap="none" lIns="0" tIns="0" rIns="0" bIns="0" rtlCol="0" anchor="t"/>
          <a:lstStyle/>
          <a:p>
            <a:pPr marL="0" indent="0" algn="l">
              <a:lnSpc>
                <a:spcPts val="1695"/>
              </a:lnSpc>
              <a:buNone/>
            </a:pPr>
            <a:r>
              <a:rPr lang="en-US" sz="1130" b="1" dirty="0">
                <a:solidFill>
                  <a:srgbClr val="1B2A4A"/>
                </a:solidFill>
                <a:latin typeface="Calibri Light" pitchFamily="34" charset="0"/>
                <a:ea typeface="Calibri Light" pitchFamily="34" charset="-122"/>
                <a:cs typeface="Calibri Light" pitchFamily="34" charset="-120"/>
              </a:rPr>
              <a:t>Granular Data Analysis</a:t>
            </a:r>
            <a:endParaRPr lang="en-US" sz="1200" dirty="0"/>
          </a:p>
        </p:txBody>
      </p:sp>
      <p:sp>
        <p:nvSpPr>
          <p:cNvPr id="27" name="Text 21"/>
          <p:cNvSpPr/>
          <p:nvPr/>
        </p:nvSpPr>
        <p:spPr>
          <a:xfrm>
            <a:off x="734020" y="3562350"/>
            <a:ext cx="3774775" cy="694462"/>
          </a:xfrm>
          <a:prstGeom prst="rect">
            <a:avLst/>
          </a:prstGeom>
          <a:noFill/>
          <a:ln/>
        </p:spPr>
        <p:txBody>
          <a:bodyPr wrap="square" lIns="0" tIns="0" rIns="0" bIns="0" rtlCol="0" anchor="t"/>
          <a:lstStyle/>
          <a:p>
            <a:pPr marL="0" indent="0" algn="l">
              <a:lnSpc>
                <a:spcPts val="1302"/>
              </a:lnSpc>
              <a:buNone/>
            </a:pPr>
            <a:r>
              <a:rPr lang="en-US" sz="840" dirty="0">
                <a:solidFill>
                  <a:srgbClr val="5A6A8A"/>
                </a:solidFill>
                <a:latin typeface="Calibri" pitchFamily="34" charset="0"/>
                <a:ea typeface="Calibri" pitchFamily="34" charset="-122"/>
                <a:cs typeface="Calibri" pitchFamily="34" charset="-120"/>
              </a:rPr>
              <a:t>More granular data — such as SAR filings by category, MSB type, or geographic sub-regions — could reveal whether certain types of MSBs or specific financial crime patterns are more strongly associated with reporting activity.</a:t>
            </a:r>
            <a:endParaRPr lang="en-US" sz="1200" dirty="0"/>
          </a:p>
        </p:txBody>
      </p:sp>
      <p:sp>
        <p:nvSpPr>
          <p:cNvPr id="29" name="Text 23"/>
          <p:cNvSpPr/>
          <p:nvPr/>
        </p:nvSpPr>
        <p:spPr>
          <a:xfrm>
            <a:off x="4734520" y="2911971"/>
            <a:ext cx="4029670" cy="29170"/>
          </a:xfrm>
          <a:prstGeom prst="rect">
            <a:avLst/>
          </a:prstGeom>
          <a:solidFill>
            <a:srgbClr val="C5A55A"/>
          </a:solidFill>
          <a:ln/>
        </p:spPr>
        <p:txBody>
          <a:bodyPr wrap="none" rtlCol="0" anchor="t"/>
          <a:lstStyle/>
          <a:p>
            <a:pPr marL="0" indent="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 y="76200"/>
            <a:ext cx="9067800" cy="5067300"/>
          </a:xfrm>
          <a:prstGeom prst="rect">
            <a:avLst/>
          </a:prstGeom>
          <a:solidFill>
            <a:srgbClr val="FDF9F0"/>
          </a:solidFill>
          <a:ln/>
        </p:spPr>
        <p:txBody>
          <a:bodyPr wrap="square" rtlCol="0" anchor="t"/>
          <a:lstStyle/>
          <a:p>
            <a:pPr marL="0" indent="0">
              <a:buNone/>
            </a:pPr>
            <a:endParaRPr lang="en-US" dirty="0"/>
          </a:p>
        </p:txBody>
      </p:sp>
      <p:sp>
        <p:nvSpPr>
          <p:cNvPr id="3" name="Text 1"/>
          <p:cNvSpPr/>
          <p:nvPr/>
        </p:nvSpPr>
        <p:spPr>
          <a:xfrm>
            <a:off x="76200" y="76200"/>
            <a:ext cx="9067800" cy="571500"/>
          </a:xfrm>
          <a:prstGeom prst="rect">
            <a:avLst/>
          </a:prstGeom>
          <a:gradFill rotWithShape="1">
            <a:gsLst>
              <a:gs pos="0">
                <a:srgbClr val="C5A55A"/>
              </a:gs>
              <a:gs pos="50000">
                <a:srgbClr val="D4B86A"/>
              </a:gs>
              <a:gs pos="100000">
                <a:srgbClr val="B8963E"/>
              </a:gs>
            </a:gsLst>
            <a:lin ang="2700000" scaled="1"/>
          </a:gradFill>
          <a:ln/>
          <a:effectLst>
            <a:outerShdw blurRad="86360" dist="50800" dir="16200000" algn="bl" rotWithShape="0">
              <a:srgbClr val="000000">
                <a:alpha val="35000"/>
              </a:srgbClr>
            </a:outerShdw>
          </a:effectLst>
        </p:spPr>
        <p:txBody>
          <a:bodyPr wrap="square" rtlCol="0" anchor="t"/>
          <a:lstStyle/>
          <a:p>
            <a:pPr marL="0" indent="0">
              <a:buNone/>
            </a:pPr>
            <a:endParaRPr lang="en-US"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420" y="283071"/>
            <a:ext cx="163711" cy="163711"/>
          </a:xfrm>
          <a:prstGeom prst="rect">
            <a:avLst/>
          </a:prstGeom>
        </p:spPr>
      </p:pic>
      <p:sp>
        <p:nvSpPr>
          <p:cNvPr id="5" name="Text 2"/>
          <p:cNvSpPr/>
          <p:nvPr/>
        </p:nvSpPr>
        <p:spPr>
          <a:xfrm>
            <a:off x="783580" y="190500"/>
            <a:ext cx="3984233" cy="342900"/>
          </a:xfrm>
          <a:prstGeom prst="rect">
            <a:avLst/>
          </a:prstGeom>
          <a:noFill/>
          <a:ln/>
        </p:spPr>
        <p:txBody>
          <a:bodyPr wrap="none" lIns="0" tIns="0" rIns="0" bIns="0" rtlCol="0" anchor="t"/>
          <a:lstStyle/>
          <a:p>
            <a:pPr marL="0" indent="0" algn="l">
              <a:lnSpc>
                <a:spcPts val="2700"/>
              </a:lnSpc>
              <a:buNone/>
            </a:pPr>
            <a:r>
              <a:rPr lang="en-US" sz="1800" b="1" dirty="0">
                <a:solidFill>
                  <a:srgbClr val="FFFFFF"/>
                </a:solidFill>
                <a:latin typeface="Calibri Light" pitchFamily="34" charset="0"/>
                <a:ea typeface="Calibri Light" pitchFamily="34" charset="-122"/>
                <a:cs typeface="Calibri Light" pitchFamily="34" charset="-120"/>
              </a:rPr>
              <a:t>CONCLUSION / NEXT STEPS</a:t>
            </a:r>
            <a:endParaRPr lang="en-US" sz="1200" dirty="0"/>
          </a:p>
        </p:txBody>
      </p:sp>
      <p:sp>
        <p:nvSpPr>
          <p:cNvPr id="6" name="Text 3"/>
          <p:cNvSpPr/>
          <p:nvPr/>
        </p:nvSpPr>
        <p:spPr>
          <a:xfrm>
            <a:off x="505420" y="819150"/>
            <a:ext cx="8175138" cy="334417"/>
          </a:xfrm>
          <a:prstGeom prst="rect">
            <a:avLst/>
          </a:prstGeom>
          <a:noFill/>
          <a:ln/>
        </p:spPr>
        <p:txBody>
          <a:bodyPr wrap="square" lIns="0" tIns="0" rIns="0" bIns="0" rtlCol="0" anchor="t"/>
          <a:lstStyle/>
          <a:p>
            <a:pPr marL="0" indent="0" algn="l">
              <a:lnSpc>
                <a:spcPts val="1254"/>
              </a:lnSpc>
              <a:spcAft>
                <a:spcPts val="1130"/>
              </a:spcAft>
              <a:buNone/>
            </a:pPr>
            <a:r>
              <a:rPr lang="en-US" sz="790" dirty="0">
                <a:solidFill>
                  <a:srgbClr val="1B2A4A"/>
                </a:solidFill>
                <a:latin typeface="Calibri" pitchFamily="34" charset="0"/>
                <a:ea typeface="Calibri" pitchFamily="34" charset="-122"/>
                <a:cs typeface="Calibri" pitchFamily="34" charset="-120"/>
              </a:rPr>
              <a:t>This project analyzed SAR filing patterns across U.S. states and examined how these patterns relate to the presence and distribution of Money Services Businesses (MSBs). Using Python for data cleaning, manipulation, visualization, and modeling, the analysis integrated three datasets to explore financial crime indicators from multiple perspectives.</a:t>
            </a:r>
            <a:endParaRPr lang="en-US" sz="1200" dirty="0"/>
          </a:p>
        </p:txBody>
      </p:sp>
      <p:sp>
        <p:nvSpPr>
          <p:cNvPr id="7" name="Text 4"/>
          <p:cNvSpPr/>
          <p:nvPr/>
        </p:nvSpPr>
        <p:spPr>
          <a:xfrm>
            <a:off x="505420" y="1283940"/>
            <a:ext cx="571500" cy="13841"/>
          </a:xfrm>
          <a:prstGeom prst="roundRect">
            <a:avLst>
              <a:gd name="adj" fmla="val 55054"/>
            </a:avLst>
          </a:prstGeom>
          <a:solidFill>
            <a:srgbClr val="C5A55A"/>
          </a:solidFill>
          <a:ln/>
        </p:spPr>
        <p:txBody>
          <a:bodyPr wrap="none" rtlCol="0" anchor="t"/>
          <a:lstStyle/>
          <a:p>
            <a:pPr marL="0" indent="0">
              <a:buNone/>
            </a:pPr>
            <a:endParaRPr lang="en-US" dirty="0"/>
          </a:p>
        </p:txBody>
      </p:sp>
      <p:sp>
        <p:nvSpPr>
          <p:cNvPr id="8" name="Text 5"/>
          <p:cNvSpPr/>
          <p:nvPr/>
        </p:nvSpPr>
        <p:spPr>
          <a:xfrm>
            <a:off x="505420" y="1426071"/>
            <a:ext cx="2664321" cy="2971800"/>
          </a:xfrm>
          <a:prstGeom prst="roundRect">
            <a:avLst>
              <a:gd name="adj" fmla="val 2145"/>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9" name="Text 6"/>
          <p:cNvSpPr/>
          <p:nvPr/>
        </p:nvSpPr>
        <p:spPr>
          <a:xfrm>
            <a:off x="505420" y="1426071"/>
            <a:ext cx="29170" cy="2971800"/>
          </a:xfrm>
          <a:prstGeom prst="rect">
            <a:avLst/>
          </a:prstGeom>
          <a:solidFill>
            <a:srgbClr val="C5A55A"/>
          </a:solidFill>
          <a:ln/>
        </p:spPr>
        <p:txBody>
          <a:bodyPr wrap="square" rtlCol="0" anchor="t"/>
          <a:lstStyle/>
          <a:p>
            <a:pPr marL="0" indent="0">
              <a:buNone/>
            </a:pPr>
            <a:endParaRPr lang="en-US" dirty="0"/>
          </a:p>
        </p:txBody>
      </p:sp>
      <p:sp>
        <p:nvSpPr>
          <p:cNvPr id="10" name="Text 7"/>
          <p:cNvSpPr/>
          <p:nvPr/>
        </p:nvSpPr>
        <p:spPr>
          <a:xfrm>
            <a:off x="2838974" y="1526530"/>
            <a:ext cx="204633" cy="220861"/>
          </a:xfrm>
          <a:prstGeom prst="ellipse">
            <a:avLst/>
          </a:prstGeom>
          <a:solidFill>
            <a:srgbClr val="C5A55A">
              <a:alpha val="12000"/>
            </a:srgbClr>
          </a:solidFill>
          <a:ln/>
        </p:spPr>
        <p:txBody>
          <a:bodyPr wrap="none" lIns="0" tIns="0" rIns="0" bIns="0" rtlCol="0" anchor="ctr"/>
          <a:lstStyle/>
          <a:p>
            <a:pPr marL="0" indent="0" algn="ctr">
              <a:buNone/>
            </a:pPr>
            <a:r>
              <a:rPr lang="en-US" sz="730" b="1" dirty="0">
                <a:solidFill>
                  <a:srgbClr val="C5A55A"/>
                </a:solidFill>
                <a:latin typeface="Calibri Light" pitchFamily="34" charset="0"/>
                <a:ea typeface="Calibri Light" pitchFamily="34" charset="-122"/>
                <a:cs typeface="Calibri Light" pitchFamily="34" charset="-120"/>
              </a:rPr>
              <a:t>1</a:t>
            </a:r>
            <a:endParaRPr lang="en-US" sz="1200" dirty="0"/>
          </a:p>
        </p:txBody>
      </p:sp>
      <p:sp>
        <p:nvSpPr>
          <p:cNvPr id="11" name="Text 8"/>
          <p:cNvSpPr/>
          <p:nvPr/>
        </p:nvSpPr>
        <p:spPr>
          <a:xfrm>
            <a:off x="690860" y="1569690"/>
            <a:ext cx="2813536" cy="159990"/>
          </a:xfrm>
          <a:prstGeom prst="rect">
            <a:avLst/>
          </a:prstGeom>
          <a:noFill/>
          <a:ln/>
        </p:spPr>
        <p:txBody>
          <a:bodyPr wrap="none" lIns="0" tIns="0" rIns="0" bIns="0" rtlCol="0" anchor="t"/>
          <a:lstStyle/>
          <a:p>
            <a:pPr marL="0" indent="0" algn="l">
              <a:lnSpc>
                <a:spcPts val="1260"/>
              </a:lnSpc>
              <a:spcAft>
                <a:spcPts val="560"/>
              </a:spcAft>
              <a:buNone/>
            </a:pPr>
            <a:r>
              <a:rPr lang="en-US" sz="840" b="1" dirty="0">
                <a:solidFill>
                  <a:srgbClr val="C5A55A"/>
                </a:solidFill>
                <a:latin typeface="Calibri Light" pitchFamily="34" charset="0"/>
                <a:ea typeface="Calibri Light" pitchFamily="34" charset="-122"/>
                <a:cs typeface="Calibri Light" pitchFamily="34" charset="-120"/>
              </a:rPr>
              <a:t>EDA FINDINGS</a:t>
            </a:r>
            <a:endParaRPr lang="en-US" sz="1200" dirty="0"/>
          </a:p>
        </p:txBody>
      </p:sp>
      <p:sp>
        <p:nvSpPr>
          <p:cNvPr id="12" name="Text 9"/>
          <p:cNvSpPr/>
          <p:nvPr/>
        </p:nvSpPr>
        <p:spPr>
          <a:xfrm>
            <a:off x="690860" y="1798290"/>
            <a:ext cx="2419767" cy="746968"/>
          </a:xfrm>
          <a:prstGeom prst="rect">
            <a:avLst/>
          </a:prstGeom>
          <a:noFill/>
          <a:ln/>
        </p:spPr>
        <p:txBody>
          <a:bodyPr wrap="square" lIns="0" tIns="0" rIns="0" bIns="0" rtlCol="0" anchor="t"/>
          <a:lstStyle/>
          <a:p>
            <a:pPr marL="0" indent="0" algn="l">
              <a:lnSpc>
                <a:spcPts val="1120"/>
              </a:lnSpc>
              <a:buNone/>
            </a:pPr>
            <a:r>
              <a:rPr lang="en-US" sz="680" dirty="0">
                <a:solidFill>
                  <a:srgbClr val="1B2A4A"/>
                </a:solidFill>
                <a:latin typeface="Calibri" pitchFamily="34" charset="0"/>
                <a:ea typeface="Calibri" pitchFamily="34" charset="-122"/>
                <a:cs typeface="Calibri" pitchFamily="34" charset="-120"/>
              </a:rPr>
              <a:t>SAR filings have increased steadily over time, with notable variation across states, industries, and product categories. States such as California, New York, Texas, and Florida consistently reported the highest SAR volumes. Depository institutions and MSBs dominate SAR reporting.</a:t>
            </a:r>
            <a:endParaRPr lang="en-US" sz="1200" dirty="0"/>
          </a:p>
        </p:txBody>
      </p:sp>
      <p:sp>
        <p:nvSpPr>
          <p:cNvPr id="13" name="Text 10"/>
          <p:cNvSpPr/>
          <p:nvPr/>
        </p:nvSpPr>
        <p:spPr>
          <a:xfrm>
            <a:off x="3312021" y="1426071"/>
            <a:ext cx="2664321" cy="2971800"/>
          </a:xfrm>
          <a:prstGeom prst="roundRect">
            <a:avLst>
              <a:gd name="adj" fmla="val 2145"/>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14" name="Text 11"/>
          <p:cNvSpPr/>
          <p:nvPr/>
        </p:nvSpPr>
        <p:spPr>
          <a:xfrm>
            <a:off x="3312021" y="1426071"/>
            <a:ext cx="29170" cy="2971800"/>
          </a:xfrm>
          <a:prstGeom prst="rect">
            <a:avLst/>
          </a:prstGeom>
          <a:solidFill>
            <a:srgbClr val="C5A55A"/>
          </a:solidFill>
          <a:ln/>
        </p:spPr>
        <p:txBody>
          <a:bodyPr wrap="square" rtlCol="0" anchor="t"/>
          <a:lstStyle/>
          <a:p>
            <a:pPr marL="0" indent="0">
              <a:buNone/>
            </a:pPr>
            <a:endParaRPr lang="en-US" dirty="0"/>
          </a:p>
        </p:txBody>
      </p:sp>
      <p:sp>
        <p:nvSpPr>
          <p:cNvPr id="15" name="Text 12"/>
          <p:cNvSpPr/>
          <p:nvPr/>
        </p:nvSpPr>
        <p:spPr>
          <a:xfrm>
            <a:off x="5653165" y="1526530"/>
            <a:ext cx="204633" cy="220861"/>
          </a:xfrm>
          <a:prstGeom prst="ellipse">
            <a:avLst/>
          </a:prstGeom>
          <a:solidFill>
            <a:srgbClr val="C5A55A">
              <a:alpha val="12000"/>
            </a:srgbClr>
          </a:solidFill>
          <a:ln/>
        </p:spPr>
        <p:txBody>
          <a:bodyPr wrap="none" lIns="0" tIns="0" rIns="0" bIns="0" rtlCol="0" anchor="ctr"/>
          <a:lstStyle/>
          <a:p>
            <a:pPr marL="0" indent="0" algn="ctr">
              <a:buNone/>
            </a:pPr>
            <a:r>
              <a:rPr lang="en-US" sz="730" b="1" dirty="0">
                <a:solidFill>
                  <a:srgbClr val="C5A55A"/>
                </a:solidFill>
                <a:latin typeface="Calibri Light" pitchFamily="34" charset="0"/>
                <a:ea typeface="Calibri Light" pitchFamily="34" charset="-122"/>
                <a:cs typeface="Calibri Light" pitchFamily="34" charset="-120"/>
              </a:rPr>
              <a:t>2</a:t>
            </a:r>
            <a:endParaRPr lang="en-US" sz="1200" dirty="0"/>
          </a:p>
        </p:txBody>
      </p:sp>
      <p:sp>
        <p:nvSpPr>
          <p:cNvPr id="16" name="Text 13"/>
          <p:cNvSpPr/>
          <p:nvPr/>
        </p:nvSpPr>
        <p:spPr>
          <a:xfrm>
            <a:off x="3497461" y="1569690"/>
            <a:ext cx="2813536" cy="159990"/>
          </a:xfrm>
          <a:prstGeom prst="rect">
            <a:avLst/>
          </a:prstGeom>
          <a:noFill/>
          <a:ln/>
        </p:spPr>
        <p:txBody>
          <a:bodyPr wrap="none" lIns="0" tIns="0" rIns="0" bIns="0" rtlCol="0" anchor="t"/>
          <a:lstStyle/>
          <a:p>
            <a:pPr marL="0" indent="0" algn="l">
              <a:lnSpc>
                <a:spcPts val="1260"/>
              </a:lnSpc>
              <a:spcAft>
                <a:spcPts val="560"/>
              </a:spcAft>
              <a:buNone/>
            </a:pPr>
            <a:r>
              <a:rPr lang="en-US" sz="840" b="1" dirty="0">
                <a:solidFill>
                  <a:srgbClr val="C5A55A"/>
                </a:solidFill>
                <a:latin typeface="Calibri Light" pitchFamily="34" charset="0"/>
                <a:ea typeface="Calibri Light" pitchFamily="34" charset="-122"/>
                <a:cs typeface="Calibri Light" pitchFamily="34" charset="-120"/>
              </a:rPr>
              <a:t>REGRESSION FINDINGS</a:t>
            </a:r>
            <a:endParaRPr lang="en-US" sz="1200" dirty="0"/>
          </a:p>
        </p:txBody>
      </p:sp>
      <p:sp>
        <p:nvSpPr>
          <p:cNvPr id="17" name="Text 14"/>
          <p:cNvSpPr/>
          <p:nvPr/>
        </p:nvSpPr>
        <p:spPr>
          <a:xfrm>
            <a:off x="3497461" y="1798290"/>
            <a:ext cx="2419767" cy="746968"/>
          </a:xfrm>
          <a:prstGeom prst="rect">
            <a:avLst/>
          </a:prstGeom>
          <a:noFill/>
          <a:ln/>
        </p:spPr>
        <p:txBody>
          <a:bodyPr wrap="square" lIns="0" tIns="0" rIns="0" bIns="0" rtlCol="0" anchor="t"/>
          <a:lstStyle/>
          <a:p>
            <a:pPr marL="0" indent="0" algn="l">
              <a:lnSpc>
                <a:spcPts val="1120"/>
              </a:lnSpc>
              <a:buNone/>
            </a:pPr>
            <a:r>
              <a:rPr lang="en-US" sz="680" dirty="0">
                <a:solidFill>
                  <a:srgbClr val="1B2A4A"/>
                </a:solidFill>
                <a:latin typeface="Calibri" pitchFamily="34" charset="0"/>
                <a:ea typeface="Calibri" pitchFamily="34" charset="-122"/>
                <a:cs typeface="Calibri" pitchFamily="34" charset="-120"/>
              </a:rPr>
              <a:t>The simple linear regression demonstrated a positive and statistically significant association: states with more MSBs tend to file more SARs. MSB count explains a meaningful portion of SAR variation, though substantial variation remains attributable to other factors.</a:t>
            </a:r>
            <a:endParaRPr lang="en-US" sz="1200" dirty="0"/>
          </a:p>
        </p:txBody>
      </p:sp>
      <p:sp>
        <p:nvSpPr>
          <p:cNvPr id="18" name="Text 15"/>
          <p:cNvSpPr/>
          <p:nvPr/>
        </p:nvSpPr>
        <p:spPr>
          <a:xfrm>
            <a:off x="6126361" y="1426071"/>
            <a:ext cx="2664321" cy="2971800"/>
          </a:xfrm>
          <a:prstGeom prst="roundRect">
            <a:avLst>
              <a:gd name="adj" fmla="val 2145"/>
            </a:avLst>
          </a:prstGeom>
          <a:solidFill>
            <a:srgbClr val="FFFFFF"/>
          </a:solidFill>
          <a:ln/>
          <a:effectLst>
            <a:outerShdw blurRad="71120" dist="50800" dir="16200000" algn="bl" rotWithShape="0">
              <a:srgbClr val="000000">
                <a:alpha val="7000"/>
              </a:srgbClr>
            </a:outerShdw>
          </a:effectLst>
        </p:spPr>
        <p:txBody>
          <a:bodyPr wrap="square" rtlCol="0" anchor="t"/>
          <a:lstStyle/>
          <a:p>
            <a:pPr marL="0" indent="0">
              <a:buNone/>
            </a:pPr>
            <a:endParaRPr lang="en-US" dirty="0"/>
          </a:p>
        </p:txBody>
      </p:sp>
      <p:sp>
        <p:nvSpPr>
          <p:cNvPr id="19" name="Text 16"/>
          <p:cNvSpPr/>
          <p:nvPr/>
        </p:nvSpPr>
        <p:spPr>
          <a:xfrm>
            <a:off x="6126361" y="1426071"/>
            <a:ext cx="29170" cy="2971800"/>
          </a:xfrm>
          <a:prstGeom prst="rect">
            <a:avLst/>
          </a:prstGeom>
          <a:solidFill>
            <a:srgbClr val="C5A55A"/>
          </a:solidFill>
          <a:ln/>
        </p:spPr>
        <p:txBody>
          <a:bodyPr wrap="square" rtlCol="0" anchor="t"/>
          <a:lstStyle/>
          <a:p>
            <a:pPr marL="0" indent="0">
              <a:buNone/>
            </a:pPr>
            <a:endParaRPr lang="en-US" dirty="0"/>
          </a:p>
        </p:txBody>
      </p:sp>
      <p:sp>
        <p:nvSpPr>
          <p:cNvPr id="20" name="Text 17"/>
          <p:cNvSpPr/>
          <p:nvPr/>
        </p:nvSpPr>
        <p:spPr>
          <a:xfrm>
            <a:off x="8461254" y="1526530"/>
            <a:ext cx="204633" cy="220861"/>
          </a:xfrm>
          <a:prstGeom prst="ellipse">
            <a:avLst/>
          </a:prstGeom>
          <a:solidFill>
            <a:srgbClr val="C5A55A">
              <a:alpha val="12000"/>
            </a:srgbClr>
          </a:solidFill>
          <a:ln/>
        </p:spPr>
        <p:txBody>
          <a:bodyPr wrap="none" lIns="0" tIns="0" rIns="0" bIns="0" rtlCol="0" anchor="ctr"/>
          <a:lstStyle/>
          <a:p>
            <a:pPr marL="0" indent="0" algn="ctr">
              <a:buNone/>
            </a:pPr>
            <a:r>
              <a:rPr lang="en-US" sz="730" b="1" dirty="0">
                <a:solidFill>
                  <a:srgbClr val="C5A55A"/>
                </a:solidFill>
                <a:latin typeface="Calibri Light" pitchFamily="34" charset="0"/>
                <a:ea typeface="Calibri Light" pitchFamily="34" charset="-122"/>
                <a:cs typeface="Calibri Light" pitchFamily="34" charset="-120"/>
              </a:rPr>
              <a:t>3</a:t>
            </a:r>
            <a:endParaRPr lang="en-US" sz="1200" dirty="0"/>
          </a:p>
        </p:txBody>
      </p:sp>
      <p:sp>
        <p:nvSpPr>
          <p:cNvPr id="21" name="Text 18"/>
          <p:cNvSpPr/>
          <p:nvPr/>
        </p:nvSpPr>
        <p:spPr>
          <a:xfrm>
            <a:off x="6313140" y="1569690"/>
            <a:ext cx="2813536" cy="159990"/>
          </a:xfrm>
          <a:prstGeom prst="rect">
            <a:avLst/>
          </a:prstGeom>
          <a:noFill/>
          <a:ln/>
        </p:spPr>
        <p:txBody>
          <a:bodyPr wrap="none" lIns="0" tIns="0" rIns="0" bIns="0" rtlCol="0" anchor="t"/>
          <a:lstStyle/>
          <a:p>
            <a:pPr marL="0" indent="0" algn="l">
              <a:lnSpc>
                <a:spcPts val="1260"/>
              </a:lnSpc>
              <a:spcAft>
                <a:spcPts val="560"/>
              </a:spcAft>
              <a:buNone/>
            </a:pPr>
            <a:r>
              <a:rPr lang="en-US" sz="840" b="1" dirty="0">
                <a:solidFill>
                  <a:srgbClr val="C5A55A"/>
                </a:solidFill>
                <a:latin typeface="Calibri Light" pitchFamily="34" charset="0"/>
                <a:ea typeface="Calibri Light" pitchFamily="34" charset="-122"/>
                <a:cs typeface="Calibri Light" pitchFamily="34" charset="-120"/>
              </a:rPr>
              <a:t>LIMITATIONS &amp; FUTURE WORK</a:t>
            </a:r>
            <a:endParaRPr lang="en-US" sz="1200" dirty="0"/>
          </a:p>
        </p:txBody>
      </p:sp>
      <p:sp>
        <p:nvSpPr>
          <p:cNvPr id="22" name="Text 19"/>
          <p:cNvSpPr/>
          <p:nvPr/>
        </p:nvSpPr>
        <p:spPr>
          <a:xfrm>
            <a:off x="6313140" y="1798290"/>
            <a:ext cx="2419767" cy="746968"/>
          </a:xfrm>
          <a:prstGeom prst="rect">
            <a:avLst/>
          </a:prstGeom>
          <a:noFill/>
          <a:ln/>
        </p:spPr>
        <p:txBody>
          <a:bodyPr wrap="square" lIns="0" tIns="0" rIns="0" bIns="0" rtlCol="0" anchor="t"/>
          <a:lstStyle/>
          <a:p>
            <a:pPr marL="0" indent="0" algn="l">
              <a:lnSpc>
                <a:spcPts val="1120"/>
              </a:lnSpc>
              <a:buNone/>
            </a:pPr>
            <a:r>
              <a:rPr lang="en-US" sz="680" dirty="0">
                <a:solidFill>
                  <a:srgbClr val="1B2A4A"/>
                </a:solidFill>
                <a:latin typeface="Calibri" pitchFamily="34" charset="0"/>
                <a:ea typeface="Calibri" pitchFamily="34" charset="-122"/>
                <a:cs typeface="Calibri" pitchFamily="34" charset="-120"/>
              </a:rPr>
              <a:t>The analysis relies on aggregated state-level data with a single predictor. Future work could incorporate additional predictors, time-series data, more granular breakdowns, and advanced modeling approaches such as clustering or forecasting.</a:t>
            </a:r>
            <a:endParaRPr lang="en-US" sz="1200" dirty="0"/>
          </a:p>
        </p:txBody>
      </p:sp>
      <p:sp>
        <p:nvSpPr>
          <p:cNvPr id="23" name="Text 20"/>
          <p:cNvSpPr/>
          <p:nvPr/>
        </p:nvSpPr>
        <p:spPr>
          <a:xfrm>
            <a:off x="505420" y="4519910"/>
            <a:ext cx="8286750" cy="549771"/>
          </a:xfrm>
          <a:prstGeom prst="roundRect">
            <a:avLst>
              <a:gd name="adj" fmla="val 10395"/>
            </a:avLst>
          </a:prstGeom>
          <a:gradFill rotWithShape="1">
            <a:gsLst>
              <a:gs pos="0">
                <a:srgbClr val="C5A55A">
                  <a:alpha val="8000"/>
                </a:srgbClr>
              </a:gs>
              <a:gs pos="100000">
                <a:srgbClr val="C5A55A">
                  <a:alpha val="4000"/>
                </a:srgbClr>
              </a:gs>
            </a:gsLst>
            <a:lin ang="2700000" scaled="1"/>
          </a:gradFill>
          <a:ln w="9525">
            <a:solidFill>
              <a:srgbClr val="C5A55A">
                <a:alpha val="30000"/>
              </a:srgbClr>
            </a:solidFill>
          </a:ln>
        </p:spPr>
        <p:txBody>
          <a:bodyPr wrap="square" rtlCol="0" anchor="t"/>
          <a:lstStyle/>
          <a:p>
            <a:pPr marL="0" indent="0">
              <a:buNone/>
            </a:pPr>
            <a:endParaRPr lang="en-US" dirty="0"/>
          </a:p>
        </p:txBody>
      </p:sp>
      <p:pic>
        <p:nvPicPr>
          <p:cNvPr id="2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8691" y="4662041"/>
            <a:ext cx="135880" cy="135880"/>
          </a:xfrm>
          <a:prstGeom prst="rect">
            <a:avLst/>
          </a:prstGeom>
        </p:spPr>
      </p:pic>
      <p:sp>
        <p:nvSpPr>
          <p:cNvPr id="25" name="Text 21"/>
          <p:cNvSpPr/>
          <p:nvPr/>
        </p:nvSpPr>
        <p:spPr>
          <a:xfrm>
            <a:off x="968871" y="4648200"/>
            <a:ext cx="7919954" cy="320978"/>
          </a:xfrm>
          <a:prstGeom prst="rect">
            <a:avLst/>
          </a:prstGeom>
          <a:noFill/>
          <a:ln/>
        </p:spPr>
        <p:txBody>
          <a:bodyPr wrap="square" lIns="0" tIns="0" rIns="0" bIns="0" rtlCol="0" anchor="t"/>
          <a:lstStyle/>
          <a:p>
            <a:pPr marL="0" indent="0" algn="l">
              <a:lnSpc>
                <a:spcPts val="1204"/>
              </a:lnSpc>
              <a:buNone/>
            </a:pPr>
            <a:r>
              <a:rPr lang="en-US" sz="730" i="1" dirty="0">
                <a:solidFill>
                  <a:srgbClr val="1B2A4A"/>
                </a:solidFill>
                <a:latin typeface="Calibri" pitchFamily="34" charset="0"/>
                <a:ea typeface="Calibri" pitchFamily="34" charset="-122"/>
                <a:cs typeface="Calibri" pitchFamily="34" charset="-120"/>
              </a:rPr>
              <a:t>Overall, this project provides a clear and data-driven understanding of how MSB presence relates to SAR activity and establishes a strong foundation for more advanced financial crime analytics in future coursework or professional applications.</a:t>
            </a:r>
            <a:endParaRPr lang="en-US" sz="1200" dirty="0"/>
          </a:p>
        </p:txBody>
      </p:sp>
      <p:sp>
        <p:nvSpPr>
          <p:cNvPr id="26" name="Text 22"/>
          <p:cNvSpPr/>
          <p:nvPr/>
        </p:nvSpPr>
        <p:spPr>
          <a:xfrm>
            <a:off x="76200" y="633710"/>
            <a:ext cx="9067800" cy="13841"/>
          </a:xfrm>
          <a:prstGeom prst="rect">
            <a:avLst/>
          </a:prstGeom>
          <a:gradFill rotWithShape="1">
            <a:gsLst>
              <a:gs pos="0">
                <a:srgbClr val="000000">
                  <a:alpha val="0"/>
                </a:srgbClr>
              </a:gs>
              <a:gs pos="50000">
                <a:srgbClr val="FFFFFF">
                  <a:alpha val="40000"/>
                </a:srgbClr>
              </a:gs>
              <a:gs pos="100000">
                <a:srgbClr val="000000">
                  <a:alpha val="0"/>
                </a:srgbClr>
              </a:gs>
            </a:gsLst>
            <a:lin ang="0" scaled="1"/>
          </a:gradFill>
          <a:ln/>
        </p:spPr>
        <p:txBody>
          <a:bodyPr wrap="none" rtlCol="0" anchor="t"/>
          <a:lstStyle/>
          <a:p>
            <a:pPr marL="0" indent="0">
              <a:buNone/>
            </a:pPr>
            <a:endParaRPr lang="en-US" dirty="0"/>
          </a:p>
        </p:txBody>
      </p:sp>
      <p:sp>
        <p:nvSpPr>
          <p:cNvPr id="27" name="Text 23"/>
          <p:cNvSpPr/>
          <p:nvPr/>
        </p:nvSpPr>
        <p:spPr>
          <a:xfrm>
            <a:off x="511671" y="4620220"/>
            <a:ext cx="29170" cy="364480"/>
          </a:xfrm>
          <a:prstGeom prst="rect">
            <a:avLst/>
          </a:prstGeom>
          <a:solidFill>
            <a:srgbClr val="C5A55A"/>
          </a:solidFill>
          <a:ln/>
        </p:spPr>
        <p:txBody>
          <a:bodyPr wrap="square" rtlCol="0" anchor="t"/>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4273</Words>
  <Application>Microsoft Office PowerPoint</Application>
  <PresentationFormat>On-screen Show (16:9)</PresentationFormat>
  <Paragraphs>304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djgibbens@outlook.com</dc:creator>
  <cp:lastModifiedBy>David Gibbens</cp:lastModifiedBy>
  <cp:revision>5</cp:revision>
  <dcterms:created xsi:type="dcterms:W3CDTF">2026-04-30T03:17:17Z</dcterms:created>
  <dcterms:modified xsi:type="dcterms:W3CDTF">2026-05-03T18:07:37Z</dcterms:modified>
</cp:coreProperties>
</file>